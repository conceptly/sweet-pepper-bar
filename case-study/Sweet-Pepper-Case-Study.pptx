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5-1.jpg" ContentType="image/jpg"/>
  <Override PartName="/ppt/media/image-15-2.jpg" ContentType="image/jpg"/>
  <Override PartName="/ppt/media/image-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3" r:id="rId34"/>
    <p:sldId id="269" r:id="rId15"/>
    <p:sldId id="270" r:id="rId16"/>
    <p:sldId id="278" r:id="rId29"/>
    <p:sldId id="279" r:id="rId30"/>
    <p:sldId id="280" r:id="rId31"/>
    <p:sldId id="281" r:id="rId32"/>
    <p:sldId id="282" r:id="rId33"/>
    <p:sldId id="271" r:id="rId17"/>
    <p:sldId id="272" r:id="rId18"/>
    <p:sldId id="273" r:id="rId19"/>
    <p:sldId id="274" r:id="rId20"/>
    <p:sldId id="284" r:id="rId35"/>
    <p:sldId id="285" r:id="rId36"/>
    <p:sldId id="286" r:id="rId37"/>
    <p:sldId id="287" r:id="rId38"/>
    <p:sldId id="288" r:id="rId39"/>
    <p:sldId id="289" r:id="rId40"/>
    <p:sldId id="290" r:id="rId41"/>
    <p:sldId id="291" r:id="rId42"/>
    <p:sldId id="292" r:id="rId43"/>
    <p:sldId id="293" r:id="rId44"/>
    <p:sldId id="294" r:id="rId45"/>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4.xml"/><Relationship Id="rId20" Type="http://schemas.openxmlformats.org/officeDocument/2006/relationships/slide" Target="slides/slide25.xml"/><Relationship Id="rId21" Type="http://schemas.openxmlformats.org/officeDocument/2006/relationships/slide" Target="slides/slide33.xml"/><Relationship Id="rId22" Type="http://schemas.openxmlformats.org/officeDocument/2006/relationships/slide" Target="slides/slide34.xml"/><Relationship Id="rId23" Type="http://schemas.openxmlformats.org/officeDocument/2006/relationships/slide" Target="slides/slide3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14.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image" Target="../media/image1.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317"/>
        </a:solidFill>
      </p:bgPr>
    </p:bg>
    <p:spTree>
      <p:nvGrpSpPr>
        <p:cNvPr id="1" name=""/>
        <p:cNvGrpSpPr/>
        <p:nvPr/>
      </p:nvGrpSpPr>
      <p:grpSpPr>
        <a:xfrm>
          <a:off x="0" y="0"/>
          <a:ext cx="0" cy="0"/>
          <a:chOff x="0" y="0"/>
          <a:chExt cx="0" cy="0"/>
        </a:xfrm>
      </p:grpSpPr>
      <p:pic>
        <p:nvPicPr>
          <p:cNvPr id="2" name="Image 0" descr="/sessions/bold-gracious-fermi/mnt/outputs/sweet-case-study/assets/cocktail-1.jpg">    </p:cNvPr>
          <p:cNvPicPr>
            <a:picLocks noChangeAspect="1"/>
          </p:cNvPicPr>
          <p:nvPr/>
        </p:nvPicPr>
        <p:blipFill>
          <a:blip r:embed="rId1"/>
          <a:srcRect l="25926" r="25926"/>
          <a:stretch/>
        </p:blipFill>
        <p:spPr>
          <a:xfrm>
            <a:off x="7223760" y="0"/>
            <a:ext cx="4965192" cy="6858000"/>
          </a:xfrm>
          <a:prstGeom prst="rect">
            <a:avLst/>
          </a:prstGeom>
        </p:spPr>
      </p:pic>
      <p:sp>
        <p:nvSpPr>
          <p:cNvPr id="3" name="Shape 0"/>
          <p:cNvSpPr/>
          <p:nvPr/>
        </p:nvSpPr>
        <p:spPr>
          <a:xfrm>
            <a:off x="7223760" y="0"/>
            <a:ext cx="4965192" cy="6858000"/>
          </a:xfrm>
          <a:prstGeom prst="rect">
            <a:avLst/>
          </a:prstGeom>
          <a:solidFill>
            <a:srgbClr val="151317">
              <a:alpha val="65000"/>
            </a:srgbClr>
          </a:solidFill>
          <a:ln/>
        </p:spPr>
        <p:txBody>
          <a:bodyPr/>
          <a:p/>
        </p:txBody>
      </p:sp>
      <p:sp>
        <p:nvSpPr>
          <p:cNvPr id="4" name="Text 1"/>
          <p:cNvSpPr/>
          <p:nvPr/>
        </p:nvSpPr>
        <p:spPr>
          <a:xfrm>
            <a:off x="640080" y="1371600"/>
            <a:ext cx="6400800" cy="365760"/>
          </a:xfrm>
          <a:prstGeom prst="rect">
            <a:avLst/>
          </a:prstGeom>
          <a:noFill/>
          <a:ln/>
        </p:spPr>
        <p:txBody>
          <a:bodyPr wrap="square" rtlCol="0" anchor="ctr"/>
          <a:lstStyle/>
          <a:p>
            <a:pPr indent="0" marL="0">
              <a:buNone/>
            </a:pPr>
            <a:r>
              <a:rPr lang="en-US" sz="1300" b="1" spc="300" kern="0" dirty="0">
                <a:solidFill>
                  <a:srgbClr val="C1DB34"/>
                </a:solidFill>
                <a:latin typeface="Arial" pitchFamily="34" charset="0"/>
                <a:ea typeface="Arial" pitchFamily="34" charset="-122"/>
                <a:cs typeface="Arial" pitchFamily="34" charset="-120"/>
              </a:rPr>
              <a:t>GASTROBAR · KIROVA 10 · YAROSLAVL</a:t>
            </a:r>
            <a:endParaRPr lang="en-US" sz="1300" dirty="0"/>
          </a:p>
        </p:txBody>
      </p:sp>
      <p:sp>
        <p:nvSpPr>
          <p:cNvPr id="5" name="Text 2"/>
          <p:cNvSpPr/>
          <p:nvPr/>
        </p:nvSpPr>
        <p:spPr>
          <a:xfrm>
            <a:off x="594360" y="1737360"/>
            <a:ext cx="6766560" cy="1645920"/>
          </a:xfrm>
          <a:prstGeom prst="rect">
            <a:avLst/>
          </a:prstGeom>
          <a:noFill/>
          <a:ln/>
        </p:spPr>
        <p:txBody>
          <a:bodyPr wrap="square" rtlCol="0" anchor="ctr"/>
          <a:lstStyle/>
          <a:p>
            <a:pPr indent="0" marL="0">
              <a:lnSpc>
                <a:spcPts val="6200"/>
              </a:lnSpc>
              <a:buNone/>
            </a:pPr>
            <a:r>
              <a:rPr lang="en-US" sz="6400" b="1" spc="100" kern="0" dirty="0">
                <a:solidFill>
                  <a:srgbClr val="E34314"/>
                </a:solidFill>
                <a:latin typeface="Arial" pitchFamily="34" charset="0"/>
                <a:ea typeface="Arial" pitchFamily="34" charset="-122"/>
                <a:cs typeface="Arial" pitchFamily="34" charset="-120"/>
              </a:rPr>
              <a:t>SWEET PEPPER</a:t>
            </a:r>
            <a:endParaRPr lang="en-US" sz="6400" dirty="0"/>
          </a:p>
        </p:txBody>
      </p:sp>
      <p:sp>
        <p:nvSpPr>
          <p:cNvPr id="6" name="Text 3"/>
          <p:cNvSpPr/>
          <p:nvPr/>
        </p:nvSpPr>
        <p:spPr>
          <a:xfrm>
            <a:off x="640080" y="3063240"/>
            <a:ext cx="6400800" cy="548640"/>
          </a:xfrm>
          <a:prstGeom prst="rect">
            <a:avLst/>
          </a:prstGeom>
          <a:noFill/>
          <a:ln/>
        </p:spPr>
        <p:txBody>
          <a:bodyPr wrap="square" rtlCol="0" anchor="ctr"/>
          <a:lstStyle/>
          <a:p>
            <a:pPr indent="0" marL="0">
              <a:buNone/>
            </a:pPr>
            <a:r>
              <a:rPr lang="en-US" sz="2400" b="1" dirty="0">
                <a:solidFill>
                  <a:srgbClr val="F3E9D2"/>
                </a:solidFill>
                <a:latin typeface="Arial" pitchFamily="34" charset="0"/>
                <a:ea typeface="Arial" pitchFamily="34" charset="-122"/>
                <a:cs typeface="Arial" pitchFamily="34" charset="-120"/>
              </a:rPr>
              <a:t>Brand &amp; UX Case Study</a:t>
            </a:r>
            <a:endParaRPr lang="en-US" sz="2400" dirty="0"/>
          </a:p>
        </p:txBody>
      </p:sp>
      <p:sp>
        <p:nvSpPr>
          <p:cNvPr id="7" name="Text 4"/>
          <p:cNvSpPr/>
          <p:nvPr/>
        </p:nvSpPr>
        <p:spPr>
          <a:xfrm>
            <a:off x="640080" y="3657600"/>
            <a:ext cx="6126480" cy="822960"/>
          </a:xfrm>
          <a:prstGeom prst="rect">
            <a:avLst/>
          </a:prstGeom>
          <a:noFill/>
          <a:ln/>
        </p:spPr>
        <p:txBody>
          <a:bodyPr wrap="square" rtlCol="0" anchor="ctr"/>
          <a:lstStyle/>
          <a:p>
            <a:pPr indent="0" marL="0">
              <a:lnSpc>
                <a:spcPct val="130000"/>
              </a:lnSpc>
              <a:buNone/>
            </a:pPr>
            <a:r>
              <a:rPr lang="en-US" sz="1400" dirty="0">
                <a:solidFill>
                  <a:srgbClr val="9E9789"/>
                </a:solidFill>
                <a:latin typeface="Calibri" pitchFamily="34" charset="0"/>
                <a:ea typeface="Calibri" pitchFamily="34" charset="-122"/>
                <a:cs typeface="Calibri" pitchFamily="34" charset="-120"/>
              </a:rPr>
              <a:t>Systemizing a beloved but chaotic gastrobar identity, then designing and building a full website that changes with the time of day.</a:t>
            </a:r>
            <a:endParaRPr lang="en-US" sz="1400" dirty="0"/>
          </a:p>
        </p:txBody>
      </p:sp>
      <p:sp>
        <p:nvSpPr>
          <p:cNvPr id="8" name="Shape 5"/>
          <p:cNvSpPr/>
          <p:nvPr/>
        </p:nvSpPr>
        <p:spPr>
          <a:xfrm>
            <a:off x="640080" y="4617720"/>
            <a:ext cx="3337560" cy="384048"/>
          </a:xfrm>
          <a:prstGeom prst="roundRect">
            <a:avLst>
              <a:gd name="adj" fmla="val 19048"/>
            </a:avLst>
          </a:prstGeom>
          <a:solidFill>
            <a:srgbClr val="201E22"/>
          </a:solidFill>
          <a:ln/>
        </p:spPr>
        <p:txBody>
          <a:bodyPr/>
          <a:p/>
        </p:txBody>
      </p:sp>
      <p:sp>
        <p:nvSpPr>
          <p:cNvPr id="9" name="Text 6"/>
          <p:cNvSpPr/>
          <p:nvPr/>
        </p:nvSpPr>
        <p:spPr>
          <a:xfrm>
            <a:off x="640080" y="4617720"/>
            <a:ext cx="3337560" cy="384048"/>
          </a:xfrm>
          <a:prstGeom prst="rect">
            <a:avLst/>
          </a:prstGeom>
          <a:noFill/>
          <a:ln/>
        </p:spPr>
        <p:txBody>
          <a:bodyPr wrap="square" rtlCol="0" anchor="ctr"/>
          <a:lstStyle/>
          <a:p>
            <a:pPr algn="ctr" indent="0" marL="0">
              <a:buNone/>
            </a:pPr>
            <a:r>
              <a:rPr lang="en-US" sz="1100" b="1" spc="100" kern="0" dirty="0">
                <a:solidFill>
                  <a:srgbClr val="D4E671"/>
                </a:solidFill>
                <a:latin typeface="Arial" pitchFamily="34" charset="0"/>
                <a:ea typeface="Arial" pitchFamily="34" charset="-122"/>
                <a:cs typeface="Arial" pitchFamily="34" charset="-120"/>
              </a:rPr>
              <a:t>ON THE BAR’S DOMAIN · RU + EN</a:t>
            </a:r>
            <a:endParaRPr lang="en-US" sz="1100" dirty="0"/>
          </a:p>
        </p:txBody>
      </p:sp>
      <p:sp>
        <p:nvSpPr>
          <p:cNvPr id="10" name="Text 7"/>
          <p:cNvSpPr/>
          <p:nvPr/>
        </p:nvSpPr>
        <p:spPr>
          <a:xfrm>
            <a:off x="640080" y="6126480"/>
            <a:ext cx="6400800" cy="320040"/>
          </a:xfrm>
          <a:prstGeom prst="rect">
            <a:avLst/>
          </a:prstGeom>
          <a:noFill/>
          <a:ln/>
        </p:spPr>
        <p:txBody>
          <a:bodyPr wrap="square" rtlCol="0" anchor="ctr"/>
          <a:lstStyle/>
          <a:p>
            <a:pPr indent="0" marL="0">
              <a:buNone/>
            </a:pPr>
            <a:r>
              <a:rPr lang="en-US" sz="1200" dirty="0">
                <a:solidFill>
                  <a:srgbClr val="9E9789"/>
                </a:solidFill>
                <a:latin typeface="Calibri" pitchFamily="34" charset="0"/>
                <a:ea typeface="Calibri" pitchFamily="34" charset="-122"/>
                <a:cs typeface="Calibri" pitchFamily="34" charset="-120"/>
              </a:rPr>
              <a:t>Role: Brand &amp; Web Designer   ·   Timeline: Jun–Oct 2026   ·   Updated Oct 20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OVERVIEW</a:t>
            </a:r>
            <a:endParaRPr lang="en-US" sz="1300" dirty="0"/>
          </a:p>
        </p:txBody>
      </p:sp>
      <p:sp>
        <p:nvSpPr>
          <p:cNvPr id="3" name="Text 1"/>
          <p:cNvSpPr/>
          <p:nvPr/>
        </p:nvSpPr>
        <p:spPr>
          <a:xfrm>
            <a:off x="548640" y="731520"/>
            <a:ext cx="10058400" cy="731520"/>
          </a:xfrm>
          <a:prstGeom prst="rect">
            <a:avLst/>
          </a:prstGeom>
          <a:noFill/>
          <a:ln/>
        </p:spPr>
        <p:txBody>
          <a:bodyPr wrap="square" rtlCol="0" anchor="ctr"/>
          <a:lstStyle/>
          <a:p>
            <a:pPr indent="0" marL="0">
              <a:buNone/>
            </a:pPr>
            <a:r>
              <a:rPr lang="en-US" sz="3400" b="1" dirty="0">
                <a:solidFill>
                  <a:srgbClr val="151317"/>
                </a:solidFill>
                <a:latin typeface="Arial" pitchFamily="34" charset="0"/>
                <a:ea typeface="Arial" pitchFamily="34" charset="-122"/>
                <a:cs typeface="Arial" pitchFamily="34" charset="-120"/>
              </a:rPr>
              <a:t>WHAT THIS PROJECT WAS</a:t>
            </a:r>
            <a:endParaRPr lang="en-US" sz="3400" dirty="0"/>
          </a:p>
        </p:txBody>
      </p:sp>
      <p:sp>
        <p:nvSpPr>
          <p:cNvPr id="4" name="Shape 2"/>
          <p:cNvSpPr/>
          <p:nvPr/>
        </p:nvSpPr>
        <p:spPr>
          <a:xfrm>
            <a:off x="548640" y="1828800"/>
            <a:ext cx="2606040" cy="4023360"/>
          </a:xfrm>
          <a:prstGeom prst="rect">
            <a:avLst/>
          </a:prstGeom>
          <a:solidFill>
            <a:srgbClr val="F3E9D2"/>
          </a:solidFill>
          <a:ln/>
          <a:effectLst>
            <a:outerShdw sx="100000" sy="100000" kx="0" ky="0" algn="bl" rotWithShape="0" blurRad="101600" dist="38100" dir="5400000">
              <a:srgbClr val="000000">
                <a:alpha val="8000"/>
              </a:srgbClr>
            </a:outerShdw>
          </a:effectLst>
        </p:spPr>
        <p:txBody>
          <a:bodyPr/>
          <a:p/>
        </p:txBody>
      </p:sp>
      <p:sp>
        <p:nvSpPr>
          <p:cNvPr id="5" name="Text 3"/>
          <p:cNvSpPr/>
          <p:nvPr/>
        </p:nvSpPr>
        <p:spPr>
          <a:xfrm>
            <a:off x="777240" y="2103120"/>
            <a:ext cx="2148840" cy="457200"/>
          </a:xfrm>
          <a:prstGeom prst="rect">
            <a:avLst/>
          </a:prstGeom>
          <a:noFill/>
          <a:ln/>
        </p:spPr>
        <p:txBody>
          <a:bodyPr wrap="square" rtlCol="0" anchor="ctr"/>
          <a:lstStyle/>
          <a:p>
            <a:pPr indent="0" marL="0">
              <a:buNone/>
            </a:pPr>
            <a:r>
              <a:rPr lang="en-US" sz="1500" b="1" spc="100" kern="0" dirty="0">
                <a:solidFill>
                  <a:srgbClr val="E34314"/>
                </a:solidFill>
                <a:latin typeface="Arial" pitchFamily="34" charset="0"/>
                <a:ea typeface="Arial" pitchFamily="34" charset="-122"/>
                <a:cs typeface="Arial" pitchFamily="34" charset="-120"/>
              </a:rPr>
              <a:t>THE CLIENT</a:t>
            </a:r>
            <a:endParaRPr lang="en-US" sz="1500" dirty="0"/>
          </a:p>
        </p:txBody>
      </p:sp>
      <p:sp>
        <p:nvSpPr>
          <p:cNvPr id="6" name="Text 4"/>
          <p:cNvSpPr/>
          <p:nvPr/>
        </p:nvSpPr>
        <p:spPr>
          <a:xfrm>
            <a:off x="777240" y="2606040"/>
            <a:ext cx="2148840" cy="3017520"/>
          </a:xfrm>
          <a:prstGeom prst="rect">
            <a:avLst/>
          </a:prstGeom>
          <a:noFill/>
          <a:ln/>
        </p:spPr>
        <p:txBody>
          <a:bodyPr wrap="square" rtlCol="0" anchor="ctr"/>
          <a:lstStyle/>
          <a:p>
            <a:pPr indent="0" marL="0">
              <a:lnSpc>
                <a:spcPct val="130000"/>
              </a:lnSpc>
              <a:buNone/>
            </a:pPr>
            <a:r>
              <a:rPr lang="en-US" sz="1250" dirty="0">
                <a:solidFill>
                  <a:srgbClr val="151317"/>
                </a:solidFill>
                <a:latin typeface="Calibri" pitchFamily="34" charset="0"/>
                <a:ea typeface="Calibri" pitchFamily="34" charset="-122"/>
                <a:cs typeface="Calibri" pitchFamily="34" charset="-120"/>
              </a:rPr>
              <a:t>Sweet Pepper, a hybrid gastrobar in Yaroslavl, Russia — a serious all-day kitchen fused with a craft cocktail bar. Open 8:30am to late, every day.</a:t>
            </a:r>
            <a:endParaRPr lang="en-US" sz="1250" dirty="0"/>
          </a:p>
        </p:txBody>
      </p:sp>
      <p:sp>
        <p:nvSpPr>
          <p:cNvPr id="7" name="Shape 5"/>
          <p:cNvSpPr/>
          <p:nvPr/>
        </p:nvSpPr>
        <p:spPr>
          <a:xfrm>
            <a:off x="3383280" y="1828800"/>
            <a:ext cx="2606040" cy="4023360"/>
          </a:xfrm>
          <a:prstGeom prst="rect">
            <a:avLst/>
          </a:prstGeom>
          <a:solidFill>
            <a:srgbClr val="F3E9D2"/>
          </a:solidFill>
          <a:ln/>
          <a:effectLst>
            <a:outerShdw sx="100000" sy="100000" kx="0" ky="0" algn="bl" rotWithShape="0" blurRad="101600" dist="38100" dir="5400000">
              <a:srgbClr val="000000">
                <a:alpha val="8000"/>
              </a:srgbClr>
            </a:outerShdw>
          </a:effectLst>
        </p:spPr>
        <p:txBody>
          <a:bodyPr/>
          <a:p/>
        </p:txBody>
      </p:sp>
      <p:sp>
        <p:nvSpPr>
          <p:cNvPr id="8" name="Text 6"/>
          <p:cNvSpPr/>
          <p:nvPr/>
        </p:nvSpPr>
        <p:spPr>
          <a:xfrm>
            <a:off x="3611880" y="2103120"/>
            <a:ext cx="2148840" cy="457200"/>
          </a:xfrm>
          <a:prstGeom prst="rect">
            <a:avLst/>
          </a:prstGeom>
          <a:noFill/>
          <a:ln/>
        </p:spPr>
        <p:txBody>
          <a:bodyPr wrap="square" rtlCol="0" anchor="ctr"/>
          <a:lstStyle/>
          <a:p>
            <a:pPr indent="0" marL="0">
              <a:buNone/>
            </a:pPr>
            <a:r>
              <a:rPr lang="en-US" sz="1500" b="1" spc="100" kern="0" dirty="0">
                <a:solidFill>
                  <a:srgbClr val="E34314"/>
                </a:solidFill>
                <a:latin typeface="Arial" pitchFamily="34" charset="0"/>
                <a:ea typeface="Arial" pitchFamily="34" charset="-122"/>
                <a:cs typeface="Arial" pitchFamily="34" charset="-120"/>
              </a:rPr>
              <a:t>THE ASK</a:t>
            </a:r>
            <a:endParaRPr lang="en-US" sz="1500" dirty="0"/>
          </a:p>
        </p:txBody>
      </p:sp>
      <p:sp>
        <p:nvSpPr>
          <p:cNvPr id="9" name="Text 7"/>
          <p:cNvSpPr/>
          <p:nvPr/>
        </p:nvSpPr>
        <p:spPr>
          <a:xfrm>
            <a:off x="3611880" y="2606040"/>
            <a:ext cx="2148840" cy="3017520"/>
          </a:xfrm>
          <a:prstGeom prst="rect">
            <a:avLst/>
          </a:prstGeom>
          <a:noFill/>
          <a:ln/>
        </p:spPr>
        <p:txBody>
          <a:bodyPr wrap="square" rtlCol="0" anchor="ctr"/>
          <a:lstStyle/>
          <a:p>
            <a:pPr indent="0" marL="0">
              <a:lnSpc>
                <a:spcPct val="130000"/>
              </a:lnSpc>
              <a:buNone/>
            </a:pPr>
            <a:r>
              <a:rPr lang="en-US" sz="1250" dirty="0">
                <a:solidFill>
                  <a:srgbClr val="151317"/>
                </a:solidFill>
                <a:latin typeface="Calibri" pitchFamily="34" charset="0"/>
                <a:ea typeface="Calibri" pitchFamily="34" charset="-122"/>
                <a:cs typeface="Calibri" pitchFamily="34" charset="-120"/>
              </a:rPr>
              <a:t>The brand had 12 years of visual equity but no system — logos, colors, and posters existed in isolation. The new website needed a coherent identity and a real content plan to launch from.</a:t>
            </a:r>
            <a:endParaRPr lang="en-US" sz="1250" dirty="0"/>
          </a:p>
        </p:txBody>
      </p:sp>
      <p:sp>
        <p:nvSpPr>
          <p:cNvPr id="10" name="Shape 8"/>
          <p:cNvSpPr/>
          <p:nvPr/>
        </p:nvSpPr>
        <p:spPr>
          <a:xfrm>
            <a:off x="6217920" y="1828800"/>
            <a:ext cx="2606040" cy="4023360"/>
          </a:xfrm>
          <a:prstGeom prst="rect">
            <a:avLst/>
          </a:prstGeom>
          <a:solidFill>
            <a:srgbClr val="F3E9D2"/>
          </a:solidFill>
          <a:ln/>
          <a:effectLst>
            <a:outerShdw sx="100000" sy="100000" kx="0" ky="0" algn="bl" rotWithShape="0" blurRad="101600" dist="38100" dir="5400000">
              <a:srgbClr val="000000">
                <a:alpha val="8000"/>
              </a:srgbClr>
            </a:outerShdw>
          </a:effectLst>
        </p:spPr>
        <p:txBody>
          <a:bodyPr/>
          <a:p/>
        </p:txBody>
      </p:sp>
      <p:sp>
        <p:nvSpPr>
          <p:cNvPr id="11" name="Text 9"/>
          <p:cNvSpPr/>
          <p:nvPr/>
        </p:nvSpPr>
        <p:spPr>
          <a:xfrm>
            <a:off x="6446520" y="2103120"/>
            <a:ext cx="2148840" cy="457200"/>
          </a:xfrm>
          <a:prstGeom prst="rect">
            <a:avLst/>
          </a:prstGeom>
          <a:noFill/>
          <a:ln/>
        </p:spPr>
        <p:txBody>
          <a:bodyPr wrap="square" rtlCol="0" anchor="ctr"/>
          <a:lstStyle/>
          <a:p>
            <a:pPr indent="0" marL="0">
              <a:buNone/>
            </a:pPr>
            <a:r>
              <a:rPr lang="en-US" sz="1500" b="1" spc="100" kern="0" dirty="0">
                <a:solidFill>
                  <a:srgbClr val="E34314"/>
                </a:solidFill>
                <a:latin typeface="Arial" pitchFamily="34" charset="0"/>
                <a:ea typeface="Arial" pitchFamily="34" charset="-122"/>
                <a:cs typeface="Arial" pitchFamily="34" charset="-120"/>
              </a:rPr>
              <a:t>MY ROLE</a:t>
            </a:r>
            <a:endParaRPr lang="en-US" sz="1500" dirty="0"/>
          </a:p>
        </p:txBody>
      </p:sp>
      <p:sp>
        <p:nvSpPr>
          <p:cNvPr id="12" name="Text 10"/>
          <p:cNvSpPr/>
          <p:nvPr/>
        </p:nvSpPr>
        <p:spPr>
          <a:xfrm>
            <a:off x="6446520" y="2606040"/>
            <a:ext cx="2148840" cy="3017520"/>
          </a:xfrm>
          <a:prstGeom prst="rect">
            <a:avLst/>
          </a:prstGeom>
          <a:noFill/>
          <a:ln/>
        </p:spPr>
        <p:txBody>
          <a:bodyPr wrap="square" rtlCol="0" anchor="ctr"/>
          <a:lstStyle/>
          <a:p>
            <a:pPr indent="0" marL="0">
              <a:lnSpc>
                <a:spcPct val="130000"/>
              </a:lnSpc>
              <a:buNone/>
            </a:pPr>
            <a:r>
              <a:rPr lang="en-US" sz="1250" dirty="0">
                <a:solidFill>
                  <a:srgbClr val="151317"/>
                </a:solidFill>
                <a:latin typeface="Calibri" pitchFamily="34" charset="0"/>
                <a:ea typeface="Calibri" pitchFamily="34" charset="-122"/>
                <a:cs typeface="Calibri" pitchFamily="34" charset="-120"/>
              </a:rPr>
              <a:t>Solo designer: brand system, logo consolidation, IA, homepage / menu / About / Visit UX in both day and night states, full site copy (EN/RU as register twins), the platform/CMS call, AI-assisted prototyping — and the custom WordPress build itself.</a:t>
            </a:r>
            <a:endParaRPr lang="en-US" sz="1250" dirty="0"/>
          </a:p>
        </p:txBody>
      </p:sp>
      <p:sp>
        <p:nvSpPr>
          <p:cNvPr id="13" name="Shape 11"/>
          <p:cNvSpPr/>
          <p:nvPr/>
        </p:nvSpPr>
        <p:spPr>
          <a:xfrm>
            <a:off x="9052560" y="1828800"/>
            <a:ext cx="2606040" cy="4023360"/>
          </a:xfrm>
          <a:prstGeom prst="rect">
            <a:avLst/>
          </a:prstGeom>
          <a:solidFill>
            <a:srgbClr val="F3E9D2"/>
          </a:solidFill>
          <a:ln/>
          <a:effectLst>
            <a:outerShdw sx="100000" sy="100000" kx="0" ky="0" algn="bl" rotWithShape="0" blurRad="101600" dist="38100" dir="5400000">
              <a:srgbClr val="000000">
                <a:alpha val="8000"/>
              </a:srgbClr>
            </a:outerShdw>
          </a:effectLst>
        </p:spPr>
        <p:txBody>
          <a:bodyPr/>
          <a:p/>
        </p:txBody>
      </p:sp>
      <p:sp>
        <p:nvSpPr>
          <p:cNvPr id="14" name="Text 12"/>
          <p:cNvSpPr/>
          <p:nvPr/>
        </p:nvSpPr>
        <p:spPr>
          <a:xfrm>
            <a:off x="9281160" y="2103120"/>
            <a:ext cx="2148840" cy="457200"/>
          </a:xfrm>
          <a:prstGeom prst="rect">
            <a:avLst/>
          </a:prstGeom>
          <a:noFill/>
          <a:ln/>
        </p:spPr>
        <p:txBody>
          <a:bodyPr wrap="square" rtlCol="0" anchor="ctr"/>
          <a:lstStyle/>
          <a:p>
            <a:pPr indent="0" marL="0">
              <a:buNone/>
            </a:pPr>
            <a:r>
              <a:rPr lang="en-US" sz="1500" b="1" spc="100" kern="0" dirty="0">
                <a:solidFill>
                  <a:srgbClr val="E34314"/>
                </a:solidFill>
                <a:latin typeface="Arial" pitchFamily="34" charset="0"/>
                <a:ea typeface="Arial" pitchFamily="34" charset="-122"/>
                <a:cs typeface="Arial" pitchFamily="34" charset="-120"/>
              </a:rPr>
              <a:t>DELIVERABLES</a:t>
            </a:r>
            <a:endParaRPr lang="en-US" sz="1500" dirty="0"/>
          </a:p>
        </p:txBody>
      </p:sp>
      <p:sp>
        <p:nvSpPr>
          <p:cNvPr id="15" name="Text 13"/>
          <p:cNvSpPr/>
          <p:nvPr/>
        </p:nvSpPr>
        <p:spPr>
          <a:xfrm>
            <a:off x="9281160" y="2606040"/>
            <a:ext cx="2148840" cy="3017520"/>
          </a:xfrm>
          <a:prstGeom prst="rect">
            <a:avLst/>
          </a:prstGeom>
          <a:noFill/>
          <a:ln/>
        </p:spPr>
        <p:txBody>
          <a:bodyPr wrap="square" rtlCol="0" anchor="ctr"/>
          <a:lstStyle/>
          <a:p>
            <a:pPr indent="0" marL="0">
              <a:lnSpc>
                <a:spcPct val="130000"/>
              </a:lnSpc>
              <a:buNone/>
            </a:pPr>
            <a:r>
              <a:rPr lang="en-US" sz="1250" dirty="0">
                <a:solidFill>
                  <a:srgbClr val="151317"/>
                </a:solidFill>
                <a:latin typeface="Calibri" pitchFamily="34" charset="0"/>
                <a:ea typeface="Calibri" pitchFamily="34" charset="-122"/>
                <a:cs typeface="Calibri" pitchFamily="34" charset="-120"/>
              </a:rPr>
              <a:t>A written design system (color, type, grid, ratios, motion), a consolidated logo set, four page templates in both states validated by testing, a live bilingual style guide with PDFs, and a custom WordPress theme running on the bar’s domain in two languages.</a:t>
            </a:r>
            <a:endParaRPr lang="en-US" sz="1250" dirty="0"/>
          </a:p>
        </p:txBody>
      </p:sp>
      <p:sp>
        <p:nvSpPr>
          <p:cNvPr id="16" name="Text 14"/>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17" name="Text 15"/>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02 / 39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CONTEXT</a:t>
            </a:r>
            <a:endParaRPr lang="en-US" sz="1300" dirty="0"/>
          </a:p>
        </p:txBody>
      </p:sp>
      <p:sp>
        <p:nvSpPr>
          <p:cNvPr id="3" name="Text 1"/>
          <p:cNvSpPr/>
          <p:nvPr/>
        </p:nvSpPr>
        <p:spPr>
          <a:xfrm>
            <a:off x="548640" y="731520"/>
            <a:ext cx="7315200" cy="914400"/>
          </a:xfrm>
          <a:prstGeom prst="rect">
            <a:avLst/>
          </a:prstGeom>
          <a:noFill/>
          <a:ln/>
        </p:spPr>
        <p:txBody>
          <a:bodyPr wrap="square" rtlCol="0" anchor="ctr"/>
          <a:lstStyle/>
          <a:p>
            <a:pPr indent="0" marL="0">
              <a:buNone/>
            </a:pPr>
            <a:r>
              <a:rPr lang="en-US" sz="3000" b="1" dirty="0">
                <a:solidFill>
                  <a:srgbClr val="F3E9D2"/>
                </a:solidFill>
                <a:latin typeface="Arial" pitchFamily="34" charset="0"/>
                <a:ea typeface="Arial" pitchFamily="34" charset="-122"/>
                <a:cs typeface="Arial" pitchFamily="34" charset="-120"/>
              </a:rPr>
              <a:t>A HYBRID THAT DIDN'T FIT A TEMPLATE</a:t>
            </a:r>
            <a:endParaRPr lang="en-US" sz="3000" dirty="0"/>
          </a:p>
        </p:txBody>
      </p:sp>
      <p:sp>
        <p:nvSpPr>
          <p:cNvPr id="4" name="Text 2"/>
          <p:cNvSpPr/>
          <p:nvPr/>
        </p:nvSpPr>
        <p:spPr>
          <a:xfrm>
            <a:off x="548640" y="1737360"/>
            <a:ext cx="6126480" cy="1463040"/>
          </a:xfrm>
          <a:prstGeom prst="rect">
            <a:avLst/>
          </a:prstGeom>
          <a:noFill/>
          <a:ln/>
        </p:spPr>
        <p:txBody>
          <a:bodyPr wrap="square" rtlCol="0" anchor="ctr"/>
          <a:lstStyle/>
          <a:p>
            <a:pPr indent="0" marL="0">
              <a:lnSpc>
                <a:spcPct val="135000"/>
              </a:lnSpc>
              <a:buNone/>
            </a:pPr>
            <a:r>
              <a:rPr lang="en-US" sz="1400" dirty="0">
                <a:solidFill>
                  <a:srgbClr val="9E9789"/>
                </a:solidFill>
                <a:latin typeface="Calibri" pitchFamily="34" charset="0"/>
                <a:ea typeface="Calibri" pitchFamily="34" charset="-122"/>
                <a:cs typeface="Calibri" pitchFamily="34" charset="-120"/>
              </a:rPr>
              <a:t>Sweet Pepper isn't a café that also serves drinks, or a bar that does brunch on weekends. It was built from day one to run breakfast, business lunch, after-work drinks, and late-night cocktails with equal intentionality — a 50/50 kitchen-to-bar revenue split, maintained deliberately for years.</a:t>
            </a:r>
            <a:endParaRPr lang="en-US" sz="1400" dirty="0"/>
          </a:p>
        </p:txBody>
      </p:sp>
      <p:sp>
        <p:nvSpPr>
          <p:cNvPr id="5" name="Text 3"/>
          <p:cNvSpPr/>
          <p:nvPr/>
        </p:nvSpPr>
        <p:spPr>
          <a:xfrm>
            <a:off x="548640" y="3291840"/>
            <a:ext cx="6126480" cy="1463040"/>
          </a:xfrm>
          <a:prstGeom prst="rect">
            <a:avLst/>
          </a:prstGeom>
          <a:noFill/>
          <a:ln/>
        </p:spPr>
        <p:txBody>
          <a:bodyPr wrap="square" rtlCol="0" anchor="ctr"/>
          <a:lstStyle/>
          <a:p>
            <a:pPr indent="0" marL="0">
              <a:lnSpc>
                <a:spcPct val="135000"/>
              </a:lnSpc>
              <a:buNone/>
            </a:pPr>
            <a:r>
              <a:rPr lang="en-US" sz="1400" i="1" dirty="0">
                <a:solidFill>
                  <a:srgbClr val="F3E9D2"/>
                </a:solidFill>
                <a:latin typeface="Calibri" pitchFamily="34" charset="0"/>
                <a:ea typeface="Calibri" pitchFamily="34" charset="-122"/>
                <a:cs typeface="Calibri" pitchFamily="34" charset="-120"/>
              </a:rPr>
              <a:t>That structural duality — one venue, four distinct daily identities — became the central design problem: how does a single homepage represent a breakfast spot, a lunch destination, an evening bar, and a late-night hang without picking one and alienating the rest?</a:t>
            </a:r>
            <a:endParaRPr lang="en-US" sz="1400" dirty="0"/>
          </a:p>
        </p:txBody>
      </p:sp>
      <p:sp>
        <p:nvSpPr>
          <p:cNvPr id="6" name="Text 4"/>
          <p:cNvSpPr/>
          <p:nvPr/>
        </p:nvSpPr>
        <p:spPr>
          <a:xfrm>
            <a:off x="548640" y="5029200"/>
            <a:ext cx="1920240" cy="640080"/>
          </a:xfrm>
          <a:prstGeom prst="rect">
            <a:avLst/>
          </a:prstGeom>
          <a:noFill/>
          <a:ln/>
        </p:spPr>
        <p:txBody>
          <a:bodyPr wrap="square" rtlCol="0" anchor="ctr"/>
          <a:lstStyle/>
          <a:p>
            <a:pPr indent="0" marL="0">
              <a:buNone/>
            </a:pPr>
            <a:r>
              <a:rPr lang="en-US" sz="3000" b="1" dirty="0">
                <a:solidFill>
                  <a:srgbClr val="E34314"/>
                </a:solidFill>
                <a:latin typeface="Arial" pitchFamily="34" charset="0"/>
                <a:ea typeface="Arial" pitchFamily="34" charset="-122"/>
                <a:cs typeface="Arial" pitchFamily="34" charset="-120"/>
              </a:rPr>
              <a:t>4.6/5</a:t>
            </a:r>
            <a:endParaRPr lang="en-US" sz="3000" dirty="0"/>
          </a:p>
        </p:txBody>
      </p:sp>
      <p:sp>
        <p:nvSpPr>
          <p:cNvPr id="7" name="Text 5"/>
          <p:cNvSpPr/>
          <p:nvPr/>
        </p:nvSpPr>
        <p:spPr>
          <a:xfrm>
            <a:off x="548640" y="5669280"/>
            <a:ext cx="1920240" cy="548640"/>
          </a:xfrm>
          <a:prstGeom prst="rect">
            <a:avLst/>
          </a:prstGeom>
          <a:noFill/>
          <a:ln/>
        </p:spPr>
        <p:txBody>
          <a:bodyPr wrap="square" rtlCol="0" anchor="ctr"/>
          <a:lstStyle/>
          <a:p>
            <a:pPr indent="0" marL="0">
              <a:lnSpc>
                <a:spcPct val="115000"/>
              </a:lnSpc>
              <a:buNone/>
            </a:pPr>
            <a:r>
              <a:rPr lang="en-US" sz="1050" dirty="0">
                <a:solidFill>
                  <a:srgbClr val="9E9789"/>
                </a:solidFill>
                <a:latin typeface="Calibri" pitchFamily="34" charset="0"/>
                <a:ea typeface="Calibri" pitchFamily="34" charset="-122"/>
                <a:cs typeface="Calibri" pitchFamily="34" charset="-120"/>
              </a:rPr>
              <a:t>Google rating</a:t>
            </a:r>
            <a:endParaRPr lang="en-US" sz="1050" dirty="0"/>
          </a:p>
          <a:p>
            <a:pPr indent="0" marL="0">
              <a:lnSpc>
                <a:spcPct val="115000"/>
              </a:lnSpc>
              <a:buNone/>
            </a:pPr>
            <a:r>
              <a:rPr lang="en-US" sz="1050" dirty="0">
                <a:solidFill>
                  <a:srgbClr val="9E9789"/>
                </a:solidFill>
                <a:latin typeface="Calibri" pitchFamily="34" charset="0"/>
                <a:ea typeface="Calibri" pitchFamily="34" charset="-122"/>
                <a:cs typeface="Calibri" pitchFamily="34" charset="-120"/>
              </a:rPr>
              <a:t>1,300+ reviews</a:t>
            </a:r>
            <a:endParaRPr lang="en-US" sz="1050" dirty="0"/>
          </a:p>
        </p:txBody>
      </p:sp>
      <p:sp>
        <p:nvSpPr>
          <p:cNvPr id="8" name="Text 6"/>
          <p:cNvSpPr/>
          <p:nvPr/>
        </p:nvSpPr>
        <p:spPr>
          <a:xfrm>
            <a:off x="2651760" y="5029200"/>
            <a:ext cx="1920240" cy="640080"/>
          </a:xfrm>
          <a:prstGeom prst="rect">
            <a:avLst/>
          </a:prstGeom>
          <a:noFill/>
          <a:ln/>
        </p:spPr>
        <p:txBody>
          <a:bodyPr wrap="square" rtlCol="0" anchor="ctr"/>
          <a:lstStyle/>
          <a:p>
            <a:pPr indent="0" marL="0">
              <a:buNone/>
            </a:pPr>
            <a:r>
              <a:rPr lang="en-US" sz="3000" b="1" dirty="0">
                <a:solidFill>
                  <a:srgbClr val="E34314"/>
                </a:solidFill>
                <a:latin typeface="Arial" pitchFamily="34" charset="0"/>
                <a:ea typeface="Arial" pitchFamily="34" charset="-122"/>
                <a:cs typeface="Arial" pitchFamily="34" charset="-120"/>
              </a:rPr>
              <a:t>50/50</a:t>
            </a:r>
            <a:endParaRPr lang="en-US" sz="3000" dirty="0"/>
          </a:p>
        </p:txBody>
      </p:sp>
      <p:sp>
        <p:nvSpPr>
          <p:cNvPr id="9" name="Text 7"/>
          <p:cNvSpPr/>
          <p:nvPr/>
        </p:nvSpPr>
        <p:spPr>
          <a:xfrm>
            <a:off x="2651760" y="5669280"/>
            <a:ext cx="1920240" cy="548640"/>
          </a:xfrm>
          <a:prstGeom prst="rect">
            <a:avLst/>
          </a:prstGeom>
          <a:noFill/>
          <a:ln/>
        </p:spPr>
        <p:txBody>
          <a:bodyPr wrap="square" rtlCol="0" anchor="ctr"/>
          <a:lstStyle/>
          <a:p>
            <a:pPr indent="0" marL="0">
              <a:lnSpc>
                <a:spcPct val="115000"/>
              </a:lnSpc>
              <a:buNone/>
            </a:pPr>
            <a:r>
              <a:rPr lang="en-US" sz="1050" dirty="0">
                <a:solidFill>
                  <a:srgbClr val="9E9789"/>
                </a:solidFill>
                <a:latin typeface="Calibri" pitchFamily="34" charset="0"/>
                <a:ea typeface="Calibri" pitchFamily="34" charset="-122"/>
                <a:cs typeface="Calibri" pitchFamily="34" charset="-120"/>
              </a:rPr>
              <a:t>Kitchen-to-bar</a:t>
            </a:r>
            <a:endParaRPr lang="en-US" sz="1050" dirty="0"/>
          </a:p>
          <a:p>
            <a:pPr indent="0" marL="0">
              <a:lnSpc>
                <a:spcPct val="115000"/>
              </a:lnSpc>
              <a:buNone/>
            </a:pPr>
            <a:r>
              <a:rPr lang="en-US" sz="1050" dirty="0">
                <a:solidFill>
                  <a:srgbClr val="9E9789"/>
                </a:solidFill>
                <a:latin typeface="Calibri" pitchFamily="34" charset="0"/>
                <a:ea typeface="Calibri" pitchFamily="34" charset="-122"/>
                <a:cs typeface="Calibri" pitchFamily="34" charset="-120"/>
              </a:rPr>
              <a:t>revenue split</a:t>
            </a:r>
            <a:endParaRPr lang="en-US" sz="1050" dirty="0"/>
          </a:p>
        </p:txBody>
      </p:sp>
      <p:sp>
        <p:nvSpPr>
          <p:cNvPr id="10" name="Text 8"/>
          <p:cNvSpPr/>
          <p:nvPr/>
        </p:nvSpPr>
        <p:spPr>
          <a:xfrm>
            <a:off x="4754880" y="5029200"/>
            <a:ext cx="1920240" cy="640080"/>
          </a:xfrm>
          <a:prstGeom prst="rect">
            <a:avLst/>
          </a:prstGeom>
          <a:noFill/>
          <a:ln/>
        </p:spPr>
        <p:txBody>
          <a:bodyPr wrap="square" rtlCol="0" anchor="ctr"/>
          <a:lstStyle/>
          <a:p>
            <a:pPr indent="0" marL="0">
              <a:buNone/>
            </a:pPr>
            <a:r>
              <a:rPr lang="en-US" sz="3000" b="1" dirty="0">
                <a:solidFill>
                  <a:srgbClr val="E34314"/>
                </a:solidFill>
                <a:latin typeface="Arial" pitchFamily="34" charset="0"/>
                <a:ea typeface="Arial" pitchFamily="34" charset="-122"/>
                <a:cs typeface="Arial" pitchFamily="34" charset="-120"/>
              </a:rPr>
              <a:t>8:30–late</a:t>
            </a:r>
            <a:endParaRPr lang="en-US" sz="3000" dirty="0"/>
          </a:p>
        </p:txBody>
      </p:sp>
      <p:sp>
        <p:nvSpPr>
          <p:cNvPr id="11" name="Text 9"/>
          <p:cNvSpPr/>
          <p:nvPr/>
        </p:nvSpPr>
        <p:spPr>
          <a:xfrm>
            <a:off x="4754880" y="5669280"/>
            <a:ext cx="1920240" cy="548640"/>
          </a:xfrm>
          <a:prstGeom prst="rect">
            <a:avLst/>
          </a:prstGeom>
          <a:noFill/>
          <a:ln/>
        </p:spPr>
        <p:txBody>
          <a:bodyPr wrap="square" rtlCol="0" anchor="ctr"/>
          <a:lstStyle/>
          <a:p>
            <a:pPr indent="0" marL="0">
              <a:lnSpc>
                <a:spcPct val="115000"/>
              </a:lnSpc>
              <a:buNone/>
            </a:pPr>
            <a:r>
              <a:rPr lang="en-US" sz="1050" dirty="0">
                <a:solidFill>
                  <a:srgbClr val="9E9789"/>
                </a:solidFill>
                <a:latin typeface="Calibri" pitchFamily="34" charset="0"/>
                <a:ea typeface="Calibri" pitchFamily="34" charset="-122"/>
                <a:cs typeface="Calibri" pitchFamily="34" charset="-120"/>
              </a:rPr>
              <a:t>Daily operating</a:t>
            </a:r>
            <a:endParaRPr lang="en-US" sz="1050" dirty="0"/>
          </a:p>
          <a:p>
            <a:pPr indent="0" marL="0">
              <a:lnSpc>
                <a:spcPct val="115000"/>
              </a:lnSpc>
              <a:buNone/>
            </a:pPr>
            <a:r>
              <a:rPr lang="en-US" sz="1050" dirty="0">
                <a:solidFill>
                  <a:srgbClr val="9E9789"/>
                </a:solidFill>
                <a:latin typeface="Calibri" pitchFamily="34" charset="0"/>
                <a:ea typeface="Calibri" pitchFamily="34" charset="-122"/>
                <a:cs typeface="Calibri" pitchFamily="34" charset="-120"/>
              </a:rPr>
              <a:t>window</a:t>
            </a:r>
            <a:endParaRPr lang="en-US" sz="1050" dirty="0"/>
          </a:p>
        </p:txBody>
      </p:sp>
      <p:pic>
        <p:nvPicPr>
          <p:cNvPr id="12" name="Image 0" descr="/sessions/bold-gracious-fermi/mnt/outputs/sweet-case-study/assets/cocktail-2.jpg">    </p:cNvPr>
          <p:cNvPicPr>
            <a:picLocks noChangeAspect="1"/>
          </p:cNvPicPr>
          <p:nvPr/>
        </p:nvPicPr>
        <p:blipFill>
          <a:blip r:embed="rId1"/>
          <a:srcRect l="26369" r="26369"/>
          <a:stretch/>
        </p:blipFill>
        <p:spPr>
          <a:xfrm>
            <a:off x="7315200" y="0"/>
            <a:ext cx="4873752" cy="6858000"/>
          </a:xfrm>
          <a:prstGeom prst="rect">
            <a:avLst/>
          </a:prstGeom>
        </p:spPr>
      </p:pic>
      <p:sp>
        <p:nvSpPr>
          <p:cNvPr id="13" name="Shape 10"/>
          <p:cNvSpPr/>
          <p:nvPr/>
        </p:nvSpPr>
        <p:spPr>
          <a:xfrm>
            <a:off x="7315200" y="0"/>
            <a:ext cx="4873752" cy="6858000"/>
          </a:xfrm>
          <a:prstGeom prst="rect">
            <a:avLst/>
          </a:prstGeom>
          <a:solidFill>
            <a:srgbClr val="151317">
              <a:alpha val="45000"/>
            </a:srgbClr>
          </a:solidFill>
          <a:ln/>
        </p:spPr>
        <p:txBody>
          <a:bodyPr/>
          <a:p/>
        </p:txBody>
      </p:sp>
      <p:sp>
        <p:nvSpPr>
          <p:cNvPr id="14"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5"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03 / 39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RESEARCH</a:t>
            </a:r>
            <a:endParaRPr lang="en-US" sz="1300" dirty="0"/>
          </a:p>
        </p:txBody>
      </p:sp>
      <p:sp>
        <p:nvSpPr>
          <p:cNvPr id="3" name="Text 1"/>
          <p:cNvSpPr/>
          <p:nvPr/>
        </p:nvSpPr>
        <p:spPr>
          <a:xfrm>
            <a:off x="548640" y="731520"/>
            <a:ext cx="9144000" cy="731520"/>
          </a:xfrm>
          <a:prstGeom prst="rect">
            <a:avLst/>
          </a:prstGeom>
          <a:noFill/>
          <a:ln/>
        </p:spPr>
        <p:txBody>
          <a:bodyPr wrap="square" rtlCol="0" anchor="ctr"/>
          <a:lstStyle/>
          <a:p>
            <a:pPr indent="0" marL="0">
              <a:buNone/>
            </a:pPr>
            <a:r>
              <a:rPr lang="en-US" sz="3200" b="1" dirty="0">
                <a:solidFill>
                  <a:srgbClr val="151317"/>
                </a:solidFill>
                <a:latin typeface="Arial" pitchFamily="34" charset="0"/>
                <a:ea typeface="Arial" pitchFamily="34" charset="-122"/>
                <a:cs typeface="Arial" pitchFamily="34" charset="-120"/>
              </a:rPr>
              <a:t>WHO ACTUALLY SHOWS UP</a:t>
            </a:r>
            <a:endParaRPr lang="en-US" sz="3200" dirty="0"/>
          </a:p>
        </p:txBody>
      </p:sp>
      <p:sp>
        <p:nvSpPr>
          <p:cNvPr id="4" name="Text 2"/>
          <p:cNvSpPr/>
          <p:nvPr/>
        </p:nvSpPr>
        <p:spPr>
          <a:xfrm>
            <a:off x="548640" y="1371600"/>
            <a:ext cx="9601200" cy="457200"/>
          </a:xfrm>
          <a:prstGeom prst="rect">
            <a:avLst/>
          </a:prstGeom>
          <a:noFill/>
          <a:ln/>
        </p:spPr>
        <p:txBody>
          <a:bodyPr wrap="square" rtlCol="0" anchor="ctr"/>
          <a:lstStyle/>
          <a:p>
            <a:pPr indent="0" marL="0">
              <a:buNone/>
            </a:pPr>
            <a:r>
              <a:rPr lang="en-US" sz="1300" dirty="0">
                <a:solidFill>
                  <a:srgbClr val="54513F"/>
                </a:solidFill>
                <a:latin typeface="Calibri" pitchFamily="34" charset="0"/>
                <a:ea typeface="Calibri" pitchFamily="34" charset="-122"/>
                <a:cs typeface="Calibri" pitchFamily="34" charset="-120"/>
              </a:rPr>
              <a:t>Combined public review-mining (Google, TripAdvisor, Yandex, 2GIS) with founder interviews to segment the audience before designing anything.</a:t>
            </a:r>
            <a:endParaRPr lang="en-US" sz="1300" dirty="0"/>
          </a:p>
        </p:txBody>
      </p:sp>
      <p:sp>
        <p:nvSpPr>
          <p:cNvPr id="5" name="Shape 3"/>
          <p:cNvSpPr/>
          <p:nvPr/>
        </p:nvSpPr>
        <p:spPr>
          <a:xfrm>
            <a:off x="548640" y="2148840"/>
            <a:ext cx="2606040" cy="2331720"/>
          </a:xfrm>
          <a:prstGeom prst="rect">
            <a:avLst/>
          </a:prstGeom>
          <a:solidFill>
            <a:srgbClr val="FFFFFF"/>
          </a:solidFill>
          <a:ln/>
          <a:effectLst>
            <a:outerShdw sx="100000" sy="100000" kx="0" ky="0" algn="bl" rotWithShape="0" blurRad="101600" dist="38100" dir="5400000">
              <a:srgbClr val="000000">
                <a:alpha val="7000"/>
              </a:srgbClr>
            </a:outerShdw>
          </a:effectLst>
        </p:spPr>
        <p:txBody>
          <a:bodyPr/>
          <a:p/>
        </p:txBody>
      </p:sp>
      <p:sp>
        <p:nvSpPr>
          <p:cNvPr id="6" name="Shape 4"/>
          <p:cNvSpPr/>
          <p:nvPr/>
        </p:nvSpPr>
        <p:spPr>
          <a:xfrm>
            <a:off x="548640" y="2148840"/>
            <a:ext cx="2606040" cy="82296"/>
          </a:xfrm>
          <a:prstGeom prst="rect">
            <a:avLst/>
          </a:prstGeom>
          <a:solidFill>
            <a:srgbClr val="E34314"/>
          </a:solidFill>
          <a:ln/>
        </p:spPr>
        <p:txBody>
          <a:bodyPr/>
          <a:p/>
        </p:txBody>
      </p:sp>
      <p:sp>
        <p:nvSpPr>
          <p:cNvPr id="7" name="Text 5"/>
          <p:cNvSpPr/>
          <p:nvPr/>
        </p:nvSpPr>
        <p:spPr>
          <a:xfrm>
            <a:off x="749808" y="2404872"/>
            <a:ext cx="2203704" cy="548640"/>
          </a:xfrm>
          <a:prstGeom prst="rect">
            <a:avLst/>
          </a:prstGeom>
          <a:noFill/>
          <a:ln/>
        </p:spPr>
        <p:txBody>
          <a:bodyPr wrap="square" rtlCol="0" anchor="ctr"/>
          <a:lstStyle/>
          <a:p>
            <a:pPr indent="0" marL="0">
              <a:buNone/>
            </a:pPr>
            <a:r>
              <a:rPr lang="en-US" sz="1250" b="1" spc="50" kern="0" dirty="0">
                <a:solidFill>
                  <a:srgbClr val="151317"/>
                </a:solidFill>
                <a:latin typeface="Arial" pitchFamily="34" charset="0"/>
                <a:ea typeface="Arial" pitchFamily="34" charset="-122"/>
                <a:cs typeface="Arial" pitchFamily="34" charset="-120"/>
              </a:rPr>
              <a:t>A · COMMUNITY REGULAR</a:t>
            </a:r>
            <a:endParaRPr lang="en-US" sz="1250" dirty="0"/>
          </a:p>
        </p:txBody>
      </p:sp>
      <p:sp>
        <p:nvSpPr>
          <p:cNvPr id="8" name="Text 6"/>
          <p:cNvSpPr/>
          <p:nvPr/>
        </p:nvSpPr>
        <p:spPr>
          <a:xfrm>
            <a:off x="749808" y="3017520"/>
            <a:ext cx="2203704" cy="1371600"/>
          </a:xfrm>
          <a:prstGeom prst="rect">
            <a:avLst/>
          </a:prstGeom>
          <a:noFill/>
          <a:ln/>
        </p:spPr>
        <p:txBody>
          <a:bodyPr wrap="square" rtlCol="0" anchor="ctr"/>
          <a:lstStyle/>
          <a:p>
            <a:pPr indent="0" marL="0">
              <a:lnSpc>
                <a:spcPct val="125000"/>
              </a:lnSpc>
              <a:buNone/>
            </a:pPr>
            <a:r>
              <a:rPr lang="en-US" sz="1150" dirty="0">
                <a:solidFill>
                  <a:srgbClr val="54513F"/>
                </a:solidFill>
                <a:latin typeface="Calibri" pitchFamily="34" charset="0"/>
                <a:ea typeface="Calibri" pitchFamily="34" charset="-122"/>
                <a:cs typeface="Calibri" pitchFamily="34" charset="-120"/>
              </a:rPr>
              <a:t>20–35, treats the bar as their neighbourhood spot. High loyalty, emotionally bonded, follows on social.</a:t>
            </a:r>
            <a:endParaRPr lang="en-US" sz="1150" dirty="0"/>
          </a:p>
        </p:txBody>
      </p:sp>
      <p:sp>
        <p:nvSpPr>
          <p:cNvPr id="9" name="Shape 7"/>
          <p:cNvSpPr/>
          <p:nvPr/>
        </p:nvSpPr>
        <p:spPr>
          <a:xfrm>
            <a:off x="3355848" y="2148840"/>
            <a:ext cx="2606040" cy="2331720"/>
          </a:xfrm>
          <a:prstGeom prst="rect">
            <a:avLst/>
          </a:prstGeom>
          <a:solidFill>
            <a:srgbClr val="FFFFFF"/>
          </a:solidFill>
          <a:ln/>
          <a:effectLst>
            <a:outerShdw sx="100000" sy="100000" kx="0" ky="0" algn="bl" rotWithShape="0" blurRad="101600" dist="38100" dir="5400000">
              <a:srgbClr val="000000">
                <a:alpha val="7000"/>
              </a:srgbClr>
            </a:outerShdw>
          </a:effectLst>
        </p:spPr>
        <p:txBody>
          <a:bodyPr/>
          <a:p/>
        </p:txBody>
      </p:sp>
      <p:sp>
        <p:nvSpPr>
          <p:cNvPr id="10" name="Shape 8"/>
          <p:cNvSpPr/>
          <p:nvPr/>
        </p:nvSpPr>
        <p:spPr>
          <a:xfrm>
            <a:off x="3355848" y="2148840"/>
            <a:ext cx="2606040" cy="82296"/>
          </a:xfrm>
          <a:prstGeom prst="rect">
            <a:avLst/>
          </a:prstGeom>
          <a:solidFill>
            <a:srgbClr val="737D3A"/>
          </a:solidFill>
          <a:ln/>
        </p:spPr>
        <p:txBody>
          <a:bodyPr/>
          <a:p/>
        </p:txBody>
      </p:sp>
      <p:sp>
        <p:nvSpPr>
          <p:cNvPr id="11" name="Text 9"/>
          <p:cNvSpPr/>
          <p:nvPr/>
        </p:nvSpPr>
        <p:spPr>
          <a:xfrm>
            <a:off x="3557016" y="2404872"/>
            <a:ext cx="2203704" cy="548640"/>
          </a:xfrm>
          <a:prstGeom prst="rect">
            <a:avLst/>
          </a:prstGeom>
          <a:noFill/>
          <a:ln/>
        </p:spPr>
        <p:txBody>
          <a:bodyPr wrap="square" rtlCol="0" anchor="ctr"/>
          <a:lstStyle/>
          <a:p>
            <a:pPr indent="0" marL="0">
              <a:buNone/>
            </a:pPr>
            <a:r>
              <a:rPr lang="en-US" sz="1250" b="1" spc="50" kern="0" dirty="0">
                <a:solidFill>
                  <a:srgbClr val="151317"/>
                </a:solidFill>
                <a:latin typeface="Arial" pitchFamily="34" charset="0"/>
                <a:ea typeface="Arial" pitchFamily="34" charset="-122"/>
                <a:cs typeface="Arial" pitchFamily="34" charset="-120"/>
              </a:rPr>
              <a:t>B · LUNCH &amp; BREAKFAST CROWD</a:t>
            </a:r>
            <a:endParaRPr lang="en-US" sz="1250" dirty="0"/>
          </a:p>
        </p:txBody>
      </p:sp>
      <p:sp>
        <p:nvSpPr>
          <p:cNvPr id="12" name="Text 10"/>
          <p:cNvSpPr/>
          <p:nvPr/>
        </p:nvSpPr>
        <p:spPr>
          <a:xfrm>
            <a:off x="3557016" y="3017520"/>
            <a:ext cx="2203704" cy="1371600"/>
          </a:xfrm>
          <a:prstGeom prst="rect">
            <a:avLst/>
          </a:prstGeom>
          <a:noFill/>
          <a:ln/>
        </p:spPr>
        <p:txBody>
          <a:bodyPr wrap="square" rtlCol="0" anchor="ctr"/>
          <a:lstStyle/>
          <a:p>
            <a:pPr indent="0" marL="0">
              <a:lnSpc>
                <a:spcPct val="125000"/>
              </a:lnSpc>
              <a:buNone/>
            </a:pPr>
            <a:r>
              <a:rPr lang="en-US" sz="1150" dirty="0">
                <a:solidFill>
                  <a:srgbClr val="54513F"/>
                </a:solidFill>
                <a:latin typeface="Calibri" pitchFamily="34" charset="0"/>
                <a:ea typeface="Calibri" pitchFamily="34" charset="-122"/>
                <a:cs typeface="Calibri" pitchFamily="34" charset="-120"/>
              </a:rPr>
              <a:t>Office workers &amp; students on Kirova St. Value-driven, transactional, price/speed sensitive.</a:t>
            </a:r>
            <a:endParaRPr lang="en-US" sz="1150" dirty="0"/>
          </a:p>
        </p:txBody>
      </p:sp>
      <p:sp>
        <p:nvSpPr>
          <p:cNvPr id="13" name="Shape 11"/>
          <p:cNvSpPr/>
          <p:nvPr/>
        </p:nvSpPr>
        <p:spPr>
          <a:xfrm>
            <a:off x="6163056" y="2148840"/>
            <a:ext cx="2606040" cy="2331720"/>
          </a:xfrm>
          <a:prstGeom prst="rect">
            <a:avLst/>
          </a:prstGeom>
          <a:solidFill>
            <a:srgbClr val="FFFFFF"/>
          </a:solidFill>
          <a:ln/>
          <a:effectLst>
            <a:outerShdw sx="100000" sy="100000" kx="0" ky="0" algn="bl" rotWithShape="0" blurRad="101600" dist="38100" dir="5400000">
              <a:srgbClr val="000000">
                <a:alpha val="7000"/>
              </a:srgbClr>
            </a:outerShdw>
          </a:effectLst>
        </p:spPr>
        <p:txBody>
          <a:bodyPr/>
          <a:p/>
        </p:txBody>
      </p:sp>
      <p:sp>
        <p:nvSpPr>
          <p:cNvPr id="14" name="Shape 12"/>
          <p:cNvSpPr/>
          <p:nvPr/>
        </p:nvSpPr>
        <p:spPr>
          <a:xfrm>
            <a:off x="6163056" y="2148840"/>
            <a:ext cx="2606040" cy="82296"/>
          </a:xfrm>
          <a:prstGeom prst="rect">
            <a:avLst/>
          </a:prstGeom>
          <a:solidFill>
            <a:srgbClr val="EF6D44"/>
          </a:solidFill>
          <a:ln/>
        </p:spPr>
        <p:txBody>
          <a:bodyPr/>
          <a:p/>
        </p:txBody>
      </p:sp>
      <p:sp>
        <p:nvSpPr>
          <p:cNvPr id="15" name="Text 13"/>
          <p:cNvSpPr/>
          <p:nvPr/>
        </p:nvSpPr>
        <p:spPr>
          <a:xfrm>
            <a:off x="6364224" y="2404872"/>
            <a:ext cx="2203704" cy="548640"/>
          </a:xfrm>
          <a:prstGeom prst="rect">
            <a:avLst/>
          </a:prstGeom>
          <a:noFill/>
          <a:ln/>
        </p:spPr>
        <p:txBody>
          <a:bodyPr wrap="square" rtlCol="0" anchor="ctr"/>
          <a:lstStyle/>
          <a:p>
            <a:pPr indent="0" marL="0">
              <a:buNone/>
            </a:pPr>
            <a:r>
              <a:rPr lang="en-US" sz="1250" b="1" spc="50" kern="0" dirty="0">
                <a:solidFill>
                  <a:srgbClr val="151317"/>
                </a:solidFill>
                <a:latin typeface="Arial" pitchFamily="34" charset="0"/>
                <a:ea typeface="Arial" pitchFamily="34" charset="-122"/>
                <a:cs typeface="Arial" pitchFamily="34" charset="-120"/>
              </a:rPr>
              <a:t>C · EVENT &amp; OCCASION VISITOR</a:t>
            </a:r>
            <a:endParaRPr lang="en-US" sz="1250" dirty="0"/>
          </a:p>
        </p:txBody>
      </p:sp>
      <p:sp>
        <p:nvSpPr>
          <p:cNvPr id="16" name="Text 14"/>
          <p:cNvSpPr/>
          <p:nvPr/>
        </p:nvSpPr>
        <p:spPr>
          <a:xfrm>
            <a:off x="6364224" y="3017520"/>
            <a:ext cx="2203704" cy="1371600"/>
          </a:xfrm>
          <a:prstGeom prst="rect">
            <a:avLst/>
          </a:prstGeom>
          <a:noFill/>
          <a:ln/>
        </p:spPr>
        <p:txBody>
          <a:bodyPr wrap="square" rtlCol="0" anchor="ctr"/>
          <a:lstStyle/>
          <a:p>
            <a:pPr indent="0" marL="0">
              <a:lnSpc>
                <a:spcPct val="125000"/>
              </a:lnSpc>
              <a:buNone/>
            </a:pPr>
            <a:r>
              <a:rPr lang="en-US" sz="1150" dirty="0">
                <a:solidFill>
                  <a:srgbClr val="54513F"/>
                </a:solidFill>
                <a:latin typeface="Calibri" pitchFamily="34" charset="0"/>
                <a:ea typeface="Calibri" pitchFamily="34" charset="-122"/>
                <a:cs typeface="Calibri" pitchFamily="34" charset="-120"/>
              </a:rPr>
              <a:t>Birthdays, after-work groups, company parties. Needs capacity and festive programming.</a:t>
            </a:r>
            <a:endParaRPr lang="en-US" sz="1150" dirty="0"/>
          </a:p>
        </p:txBody>
      </p:sp>
      <p:sp>
        <p:nvSpPr>
          <p:cNvPr id="17" name="Shape 15"/>
          <p:cNvSpPr/>
          <p:nvPr/>
        </p:nvSpPr>
        <p:spPr>
          <a:xfrm>
            <a:off x="8970264" y="2148840"/>
            <a:ext cx="2606040" cy="2331720"/>
          </a:xfrm>
          <a:prstGeom prst="rect">
            <a:avLst/>
          </a:prstGeom>
          <a:solidFill>
            <a:srgbClr val="FFFFFF"/>
          </a:solidFill>
          <a:ln/>
          <a:effectLst>
            <a:outerShdw sx="100000" sy="100000" kx="0" ky="0" algn="bl" rotWithShape="0" blurRad="101600" dist="38100" dir="5400000">
              <a:srgbClr val="000000">
                <a:alpha val="7000"/>
              </a:srgbClr>
            </a:outerShdw>
          </a:effectLst>
        </p:spPr>
        <p:txBody>
          <a:bodyPr/>
          <a:p/>
        </p:txBody>
      </p:sp>
      <p:sp>
        <p:nvSpPr>
          <p:cNvPr id="18" name="Shape 16"/>
          <p:cNvSpPr/>
          <p:nvPr/>
        </p:nvSpPr>
        <p:spPr>
          <a:xfrm>
            <a:off x="8970264" y="2148840"/>
            <a:ext cx="2606040" cy="82296"/>
          </a:xfrm>
          <a:prstGeom prst="rect">
            <a:avLst/>
          </a:prstGeom>
          <a:solidFill>
            <a:srgbClr val="869438"/>
          </a:solidFill>
          <a:ln/>
        </p:spPr>
        <p:txBody>
          <a:bodyPr/>
          <a:p/>
        </p:txBody>
      </p:sp>
      <p:sp>
        <p:nvSpPr>
          <p:cNvPr id="19" name="Text 17"/>
          <p:cNvSpPr/>
          <p:nvPr/>
        </p:nvSpPr>
        <p:spPr>
          <a:xfrm>
            <a:off x="9171432" y="2404872"/>
            <a:ext cx="2203704" cy="548640"/>
          </a:xfrm>
          <a:prstGeom prst="rect">
            <a:avLst/>
          </a:prstGeom>
          <a:noFill/>
          <a:ln/>
        </p:spPr>
        <p:txBody>
          <a:bodyPr wrap="square" rtlCol="0" anchor="ctr"/>
          <a:lstStyle/>
          <a:p>
            <a:pPr indent="0" marL="0">
              <a:buNone/>
            </a:pPr>
            <a:r>
              <a:rPr lang="en-US" sz="1250" b="1" spc="50" kern="0" dirty="0">
                <a:solidFill>
                  <a:srgbClr val="151317"/>
                </a:solidFill>
                <a:latin typeface="Arial" pitchFamily="34" charset="0"/>
                <a:ea typeface="Arial" pitchFamily="34" charset="-122"/>
                <a:cs typeface="Arial" pitchFamily="34" charset="-120"/>
              </a:rPr>
              <a:t>D · COLLABORATOR / ECOSYSTEM</a:t>
            </a:r>
            <a:endParaRPr lang="en-US" sz="1250" dirty="0"/>
          </a:p>
        </p:txBody>
      </p:sp>
      <p:sp>
        <p:nvSpPr>
          <p:cNvPr id="20" name="Text 18"/>
          <p:cNvSpPr/>
          <p:nvPr/>
        </p:nvSpPr>
        <p:spPr>
          <a:xfrm>
            <a:off x="9171432" y="3017520"/>
            <a:ext cx="2203704" cy="1371600"/>
          </a:xfrm>
          <a:prstGeom prst="rect">
            <a:avLst/>
          </a:prstGeom>
          <a:noFill/>
          <a:ln/>
        </p:spPr>
        <p:txBody>
          <a:bodyPr wrap="square" rtlCol="0" anchor="ctr"/>
          <a:lstStyle/>
          <a:p>
            <a:pPr indent="0" marL="0">
              <a:lnSpc>
                <a:spcPct val="125000"/>
              </a:lnSpc>
              <a:buNone/>
            </a:pPr>
            <a:r>
              <a:rPr lang="en-US" sz="1150" dirty="0">
                <a:solidFill>
                  <a:srgbClr val="54513F"/>
                </a:solidFill>
                <a:latin typeface="Calibri" pitchFamily="34" charset="0"/>
                <a:ea typeface="Calibri" pitchFamily="34" charset="-122"/>
                <a:cs typeface="Calibri" pitchFamily="34" charset="-120"/>
              </a:rPr>
              <a:t>Fellow venue owners, musicians, book-club organisers — treat it as a platform, not just a customer stop.</a:t>
            </a:r>
            <a:endParaRPr lang="en-US" sz="1150" dirty="0"/>
          </a:p>
        </p:txBody>
      </p:sp>
      <p:sp>
        <p:nvSpPr>
          <p:cNvPr id="21" name="Shape 19"/>
          <p:cNvSpPr/>
          <p:nvPr/>
        </p:nvSpPr>
        <p:spPr>
          <a:xfrm>
            <a:off x="548640" y="4754880"/>
            <a:ext cx="11064240" cy="1508760"/>
          </a:xfrm>
          <a:prstGeom prst="rect">
            <a:avLst/>
          </a:prstGeom>
          <a:solidFill>
            <a:srgbClr val="201E22"/>
          </a:solidFill>
          <a:ln/>
        </p:spPr>
        <p:txBody>
          <a:bodyPr/>
          <a:p/>
        </p:txBody>
      </p:sp>
      <p:sp>
        <p:nvSpPr>
          <p:cNvPr id="22" name="Text 20"/>
          <p:cNvSpPr/>
          <p:nvPr/>
        </p:nvSpPr>
        <p:spPr>
          <a:xfrm>
            <a:off x="822960" y="4892040"/>
            <a:ext cx="10515600" cy="548640"/>
          </a:xfrm>
          <a:prstGeom prst="rect">
            <a:avLst/>
          </a:prstGeom>
          <a:noFill/>
          <a:ln/>
        </p:spPr>
        <p:txBody>
          <a:bodyPr wrap="square" rtlCol="0" anchor="ctr"/>
          <a:lstStyle/>
          <a:p>
            <a:pPr indent="0" marL="0">
              <a:buNone/>
            </a:pPr>
            <a:r>
              <a:rPr lang="en-US" sz="1500" i="1" dirty="0">
                <a:solidFill>
                  <a:srgbClr val="D4E671"/>
                </a:solidFill>
                <a:latin typeface="Calibri" pitchFamily="34" charset="0"/>
                <a:ea typeface="Calibri" pitchFamily="34" charset="-122"/>
                <a:cs typeface="Calibri" pitchFamily="34" charset="-120"/>
              </a:rPr>
              <a:t>"One of my favourite places on Kirova. Unique design, good food, decent coffee. Genuinely cosy." — guest review</a:t>
            </a:r>
            <a:endParaRPr lang="en-US" sz="1500" dirty="0"/>
          </a:p>
        </p:txBody>
      </p:sp>
      <p:sp>
        <p:nvSpPr>
          <p:cNvPr id="23" name="Text 21"/>
          <p:cNvSpPr/>
          <p:nvPr/>
        </p:nvSpPr>
        <p:spPr>
          <a:xfrm>
            <a:off x="822960" y="5440680"/>
            <a:ext cx="10515600" cy="685800"/>
          </a:xfrm>
          <a:prstGeom prst="rect">
            <a:avLst/>
          </a:prstGeom>
          <a:noFill/>
          <a:ln/>
        </p:spPr>
        <p:txBody>
          <a:bodyPr wrap="square" rtlCol="0" anchor="ctr"/>
          <a:lstStyle/>
          <a:p>
            <a:pPr indent="0" marL="0">
              <a:lnSpc>
                <a:spcPct val="125000"/>
              </a:lnSpc>
              <a:buNone/>
            </a:pPr>
            <a:r>
              <a:rPr lang="en-US" sz="1150" dirty="0">
                <a:solidFill>
                  <a:srgbClr val="9E9789"/>
                </a:solidFill>
                <a:latin typeface="Calibri" pitchFamily="34" charset="0"/>
                <a:ea typeface="Calibri" pitchFamily="34" charset="-122"/>
                <a:cs typeface="Calibri" pitchFamily="34" charset="-120"/>
              </a:rPr>
              <a:t>Insight: the dominant word across every platform was "уютный" — cosy. The team's public perception wasn't manufactured by marketing; it grew from how the place actually runs. The website had to earn that word, not just claim it.</a:t>
            </a:r>
            <a:endParaRPr lang="en-US" sz="1150" dirty="0"/>
          </a:p>
        </p:txBody>
      </p:sp>
      <p:sp>
        <p:nvSpPr>
          <p:cNvPr id="24" name="Text 2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25" name="Text 23"/>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04 / 39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THE CHALLENGE</a:t>
            </a:r>
            <a:endParaRPr lang="en-US" sz="1300" dirty="0"/>
          </a:p>
        </p:txBody>
      </p:sp>
      <p:sp>
        <p:nvSpPr>
          <p:cNvPr id="3" name="Text 1"/>
          <p:cNvSpPr/>
          <p:nvPr/>
        </p:nvSpPr>
        <p:spPr>
          <a:xfrm>
            <a:off x="548640" y="731520"/>
            <a:ext cx="10058400" cy="731520"/>
          </a:xfrm>
          <a:prstGeom prst="rect">
            <a:avLst/>
          </a:prstGeom>
          <a:noFill/>
          <a:ln/>
        </p:spPr>
        <p:txBody>
          <a:bodyPr wrap="square" rtlCol="0" anchor="ctr"/>
          <a:lstStyle/>
          <a:p>
            <a:pPr indent="0" marL="0">
              <a:buNone/>
            </a:pPr>
            <a:r>
              <a:rPr lang="en-US" sz="3200" b="1" dirty="0">
                <a:solidFill>
                  <a:srgbClr val="F3E9D2"/>
                </a:solidFill>
                <a:latin typeface="Arial" pitchFamily="34" charset="0"/>
                <a:ea typeface="Arial" pitchFamily="34" charset="-122"/>
                <a:cs typeface="Arial" pitchFamily="34" charset="-120"/>
              </a:rPr>
              <a:t>FOUR PROBLEMS, ONE HOMEPAGE</a:t>
            </a:r>
            <a:endParaRPr lang="en-US" sz="3200" dirty="0"/>
          </a:p>
        </p:txBody>
      </p:sp>
      <p:sp>
        <p:nvSpPr>
          <p:cNvPr id="4" name="Text 2"/>
          <p:cNvSpPr/>
          <p:nvPr/>
        </p:nvSpPr>
        <p:spPr>
          <a:xfrm>
            <a:off x="548640" y="1783080"/>
            <a:ext cx="914400" cy="914400"/>
          </a:xfrm>
          <a:prstGeom prst="rect">
            <a:avLst/>
          </a:prstGeom>
          <a:noFill/>
          <a:ln/>
        </p:spPr>
        <p:txBody>
          <a:bodyPr wrap="square" rtlCol="0" anchor="ctr"/>
          <a:lstStyle/>
          <a:p>
            <a:pPr indent="0" marL="0">
              <a:buNone/>
            </a:pPr>
            <a:r>
              <a:rPr lang="en-US" sz="3400" b="1" dirty="0">
                <a:solidFill>
                  <a:srgbClr val="E34314"/>
                </a:solidFill>
                <a:latin typeface="Arial" pitchFamily="34" charset="0"/>
                <a:ea typeface="Arial" pitchFamily="34" charset="-122"/>
                <a:cs typeface="Arial" pitchFamily="34" charset="-120"/>
              </a:rPr>
              <a:t>01</a:t>
            </a:r>
            <a:endParaRPr lang="en-US" sz="3400" dirty="0"/>
          </a:p>
        </p:txBody>
      </p:sp>
      <p:sp>
        <p:nvSpPr>
          <p:cNvPr id="5" name="Text 3"/>
          <p:cNvSpPr/>
          <p:nvPr/>
        </p:nvSpPr>
        <p:spPr>
          <a:xfrm>
            <a:off x="1463040" y="1801368"/>
            <a:ext cx="4434840" cy="457200"/>
          </a:xfrm>
          <a:prstGeom prst="rect">
            <a:avLst/>
          </a:prstGeom>
          <a:noFill/>
          <a:ln/>
        </p:spPr>
        <p:txBody>
          <a:bodyPr wrap="square" rtlCol="0" anchor="ctr"/>
          <a:lstStyle/>
          <a:p>
            <a:pPr indent="0" marL="0">
              <a:buNone/>
            </a:pPr>
            <a:r>
              <a:rPr lang="en-US" sz="1500" b="1" spc="50" kern="0" dirty="0">
                <a:solidFill>
                  <a:srgbClr val="F3E9D2"/>
                </a:solidFill>
                <a:latin typeface="Arial" pitchFamily="34" charset="0"/>
                <a:ea typeface="Arial" pitchFamily="34" charset="-122"/>
                <a:cs typeface="Arial" pitchFamily="34" charset="-120"/>
              </a:rPr>
              <a:t>NO SYSTEM, JUST ARTIFACTS</a:t>
            </a:r>
            <a:endParaRPr lang="en-US" sz="1500" dirty="0"/>
          </a:p>
        </p:txBody>
      </p:sp>
      <p:sp>
        <p:nvSpPr>
          <p:cNvPr id="6" name="Text 4"/>
          <p:cNvSpPr/>
          <p:nvPr/>
        </p:nvSpPr>
        <p:spPr>
          <a:xfrm>
            <a:off x="1463040" y="2286000"/>
            <a:ext cx="4434840" cy="1371600"/>
          </a:xfrm>
          <a:prstGeom prst="rect">
            <a:avLst/>
          </a:prstGeom>
          <a:noFill/>
          <a:ln/>
        </p:spPr>
        <p:txBody>
          <a:bodyPr wrap="square" rtlCol="0" anchor="ctr"/>
          <a:lstStyle/>
          <a:p>
            <a:pPr indent="0" marL="0">
              <a:lnSpc>
                <a:spcPct val="130000"/>
              </a:lnSpc>
              <a:buNone/>
            </a:pPr>
            <a:r>
              <a:rPr lang="en-US" sz="1200" dirty="0">
                <a:solidFill>
                  <a:srgbClr val="9E9789"/>
                </a:solidFill>
                <a:latin typeface="Calibri" pitchFamily="34" charset="0"/>
                <a:ea typeface="Calibri" pitchFamily="34" charset="-122"/>
                <a:cs typeface="Calibri" pitchFamily="34" charset="-120"/>
              </a:rPr>
              <a:t>12 years of logos, posters, and menus existed — but no shared color logic, no type hierarchy, no rules for reuse.</a:t>
            </a:r>
            <a:endParaRPr lang="en-US" sz="1200" dirty="0"/>
          </a:p>
        </p:txBody>
      </p:sp>
      <p:sp>
        <p:nvSpPr>
          <p:cNvPr id="7" name="Text 5"/>
          <p:cNvSpPr/>
          <p:nvPr/>
        </p:nvSpPr>
        <p:spPr>
          <a:xfrm>
            <a:off x="6263640" y="1783080"/>
            <a:ext cx="914400" cy="914400"/>
          </a:xfrm>
          <a:prstGeom prst="rect">
            <a:avLst/>
          </a:prstGeom>
          <a:noFill/>
          <a:ln/>
        </p:spPr>
        <p:txBody>
          <a:bodyPr wrap="square" rtlCol="0" anchor="ctr"/>
          <a:lstStyle/>
          <a:p>
            <a:pPr indent="0" marL="0">
              <a:buNone/>
            </a:pPr>
            <a:r>
              <a:rPr lang="en-US" sz="3400" b="1" dirty="0">
                <a:solidFill>
                  <a:srgbClr val="E34314"/>
                </a:solidFill>
                <a:latin typeface="Arial" pitchFamily="34" charset="0"/>
                <a:ea typeface="Arial" pitchFamily="34" charset="-122"/>
                <a:cs typeface="Arial" pitchFamily="34" charset="-120"/>
              </a:rPr>
              <a:t>02</a:t>
            </a:r>
            <a:endParaRPr lang="en-US" sz="3400" dirty="0"/>
          </a:p>
        </p:txBody>
      </p:sp>
      <p:sp>
        <p:nvSpPr>
          <p:cNvPr id="8" name="Text 6"/>
          <p:cNvSpPr/>
          <p:nvPr/>
        </p:nvSpPr>
        <p:spPr>
          <a:xfrm>
            <a:off x="7178040" y="1801368"/>
            <a:ext cx="4434840" cy="457200"/>
          </a:xfrm>
          <a:prstGeom prst="rect">
            <a:avLst/>
          </a:prstGeom>
          <a:noFill/>
          <a:ln/>
        </p:spPr>
        <p:txBody>
          <a:bodyPr wrap="square" rtlCol="0" anchor="ctr"/>
          <a:lstStyle/>
          <a:p>
            <a:pPr indent="0" marL="0">
              <a:buNone/>
            </a:pPr>
            <a:r>
              <a:rPr lang="en-US" sz="1500" b="1" spc="50" kern="0" dirty="0">
                <a:solidFill>
                  <a:srgbClr val="F3E9D2"/>
                </a:solidFill>
                <a:latin typeface="Arial" pitchFamily="34" charset="0"/>
                <a:ea typeface="Arial" pitchFamily="34" charset="-122"/>
                <a:cs typeface="Arial" pitchFamily="34" charset="-120"/>
              </a:rPr>
              <a:t>A PALETTE THAT FIGHTS ITSELF</a:t>
            </a:r>
            <a:endParaRPr lang="en-US" sz="1500" dirty="0"/>
          </a:p>
        </p:txBody>
      </p:sp>
      <p:sp>
        <p:nvSpPr>
          <p:cNvPr id="9" name="Text 7"/>
          <p:cNvSpPr/>
          <p:nvPr/>
        </p:nvSpPr>
        <p:spPr>
          <a:xfrm>
            <a:off x="7178040" y="2286000"/>
            <a:ext cx="4434840" cy="1371600"/>
          </a:xfrm>
          <a:prstGeom prst="rect">
            <a:avLst/>
          </a:prstGeom>
          <a:noFill/>
          <a:ln/>
        </p:spPr>
        <p:txBody>
          <a:bodyPr wrap="square" rtlCol="0" anchor="ctr"/>
          <a:lstStyle/>
          <a:p>
            <a:pPr indent="0" marL="0">
              <a:lnSpc>
                <a:spcPct val="130000"/>
              </a:lnSpc>
              <a:buNone/>
            </a:pPr>
            <a:r>
              <a:rPr lang="en-US" sz="1200" dirty="0">
                <a:solidFill>
                  <a:srgbClr val="9E9789"/>
                </a:solidFill>
                <a:latin typeface="Calibri" pitchFamily="34" charset="0"/>
                <a:ea typeface="Calibri" pitchFamily="34" charset="-122"/>
                <a:cs typeface="Calibri" pitchFamily="34" charset="-120"/>
              </a:rPr>
              <a:t>Chili red, lime, and lemon are loud individually. Left unsystematized, saturated color-on-color fails contrast and fatigues the eye.</a:t>
            </a:r>
            <a:endParaRPr lang="en-US" sz="1200" dirty="0"/>
          </a:p>
        </p:txBody>
      </p:sp>
      <p:sp>
        <p:nvSpPr>
          <p:cNvPr id="10" name="Text 8"/>
          <p:cNvSpPr/>
          <p:nvPr/>
        </p:nvSpPr>
        <p:spPr>
          <a:xfrm>
            <a:off x="548640" y="3931920"/>
            <a:ext cx="914400" cy="914400"/>
          </a:xfrm>
          <a:prstGeom prst="rect">
            <a:avLst/>
          </a:prstGeom>
          <a:noFill/>
          <a:ln/>
        </p:spPr>
        <p:txBody>
          <a:bodyPr wrap="square" rtlCol="0" anchor="ctr"/>
          <a:lstStyle/>
          <a:p>
            <a:pPr indent="0" marL="0">
              <a:buNone/>
            </a:pPr>
            <a:r>
              <a:rPr lang="en-US" sz="3400" b="1" dirty="0">
                <a:solidFill>
                  <a:srgbClr val="E34314"/>
                </a:solidFill>
                <a:latin typeface="Arial" pitchFamily="34" charset="0"/>
                <a:ea typeface="Arial" pitchFamily="34" charset="-122"/>
                <a:cs typeface="Arial" pitchFamily="34" charset="-120"/>
              </a:rPr>
              <a:t>03</a:t>
            </a:r>
            <a:endParaRPr lang="en-US" sz="3400" dirty="0"/>
          </a:p>
        </p:txBody>
      </p:sp>
      <p:sp>
        <p:nvSpPr>
          <p:cNvPr id="11" name="Text 9"/>
          <p:cNvSpPr/>
          <p:nvPr/>
        </p:nvSpPr>
        <p:spPr>
          <a:xfrm>
            <a:off x="1463040" y="3950208"/>
            <a:ext cx="4434840" cy="457200"/>
          </a:xfrm>
          <a:prstGeom prst="rect">
            <a:avLst/>
          </a:prstGeom>
          <a:noFill/>
          <a:ln/>
        </p:spPr>
        <p:txBody>
          <a:bodyPr wrap="square" rtlCol="0" anchor="ctr"/>
          <a:lstStyle/>
          <a:p>
            <a:pPr indent="0" marL="0">
              <a:buNone/>
            </a:pPr>
            <a:r>
              <a:rPr lang="en-US" sz="1500" b="1" spc="50" kern="0" dirty="0">
                <a:solidFill>
                  <a:srgbClr val="F3E9D2"/>
                </a:solidFill>
                <a:latin typeface="Arial" pitchFamily="34" charset="0"/>
                <a:ea typeface="Arial" pitchFamily="34" charset="-122"/>
                <a:cs typeface="Arial" pitchFamily="34" charset="-120"/>
              </a:rPr>
              <a:t>ONE VENUE, FOUR IDENTITIES</a:t>
            </a:r>
            <a:endParaRPr lang="en-US" sz="1500" dirty="0"/>
          </a:p>
        </p:txBody>
      </p:sp>
      <p:sp>
        <p:nvSpPr>
          <p:cNvPr id="12" name="Text 10"/>
          <p:cNvSpPr/>
          <p:nvPr/>
        </p:nvSpPr>
        <p:spPr>
          <a:xfrm>
            <a:off x="1463040" y="4434840"/>
            <a:ext cx="4434840" cy="1371600"/>
          </a:xfrm>
          <a:prstGeom prst="rect">
            <a:avLst/>
          </a:prstGeom>
          <a:noFill/>
          <a:ln/>
        </p:spPr>
        <p:txBody>
          <a:bodyPr wrap="square" rtlCol="0" anchor="ctr"/>
          <a:lstStyle/>
          <a:p>
            <a:pPr indent="0" marL="0">
              <a:lnSpc>
                <a:spcPct val="130000"/>
              </a:lnSpc>
              <a:buNone/>
            </a:pPr>
            <a:r>
              <a:rPr lang="en-US" sz="1200" dirty="0">
                <a:solidFill>
                  <a:srgbClr val="9E9789"/>
                </a:solidFill>
                <a:latin typeface="Calibri" pitchFamily="34" charset="0"/>
                <a:ea typeface="Calibri" pitchFamily="34" charset="-122"/>
                <a:cs typeface="Calibri" pitchFamily="34" charset="-120"/>
              </a:rPr>
              <a:t>Breakfast, lunch, evening bar, and late-night party each need different tone, imagery, and CTA — inside a single hero.</a:t>
            </a:r>
            <a:endParaRPr lang="en-US" sz="1200" dirty="0"/>
          </a:p>
        </p:txBody>
      </p:sp>
      <p:sp>
        <p:nvSpPr>
          <p:cNvPr id="13" name="Text 11"/>
          <p:cNvSpPr/>
          <p:nvPr/>
        </p:nvSpPr>
        <p:spPr>
          <a:xfrm>
            <a:off x="6263640" y="3931920"/>
            <a:ext cx="914400" cy="914400"/>
          </a:xfrm>
          <a:prstGeom prst="rect">
            <a:avLst/>
          </a:prstGeom>
          <a:noFill/>
          <a:ln/>
        </p:spPr>
        <p:txBody>
          <a:bodyPr wrap="square" rtlCol="0" anchor="ctr"/>
          <a:lstStyle/>
          <a:p>
            <a:pPr indent="0" marL="0">
              <a:buNone/>
            </a:pPr>
            <a:r>
              <a:rPr lang="en-US" sz="3400" b="1" dirty="0">
                <a:solidFill>
                  <a:srgbClr val="E34314"/>
                </a:solidFill>
                <a:latin typeface="Arial" pitchFamily="34" charset="0"/>
                <a:ea typeface="Arial" pitchFamily="34" charset="-122"/>
                <a:cs typeface="Arial" pitchFamily="34" charset="-120"/>
              </a:rPr>
              <a:t>04</a:t>
            </a:r>
            <a:endParaRPr lang="en-US" sz="3400" dirty="0"/>
          </a:p>
        </p:txBody>
      </p:sp>
      <p:sp>
        <p:nvSpPr>
          <p:cNvPr id="14" name="Text 12"/>
          <p:cNvSpPr/>
          <p:nvPr/>
        </p:nvSpPr>
        <p:spPr>
          <a:xfrm>
            <a:off x="7178040" y="3950208"/>
            <a:ext cx="4434840" cy="457200"/>
          </a:xfrm>
          <a:prstGeom prst="rect">
            <a:avLst/>
          </a:prstGeom>
          <a:noFill/>
          <a:ln/>
        </p:spPr>
        <p:txBody>
          <a:bodyPr wrap="square" rtlCol="0" anchor="ctr"/>
          <a:lstStyle/>
          <a:p>
            <a:pPr indent="0" marL="0">
              <a:buNone/>
            </a:pPr>
            <a:r>
              <a:rPr lang="en-US" sz="1500" b="1" spc="50" kern="0" dirty="0">
                <a:solidFill>
                  <a:srgbClr val="F3E9D2"/>
                </a:solidFill>
                <a:latin typeface="Arial" pitchFamily="34" charset="0"/>
                <a:ea typeface="Arial" pitchFamily="34" charset="-122"/>
                <a:cs typeface="Arial" pitchFamily="34" charset="-120"/>
              </a:rPr>
              <a:t>GENERIC TEMPLATE GRAVITY</a:t>
            </a:r>
            <a:endParaRPr lang="en-US" sz="1500" dirty="0"/>
          </a:p>
        </p:txBody>
      </p:sp>
      <p:sp>
        <p:nvSpPr>
          <p:cNvPr id="15" name="Text 13"/>
          <p:cNvSpPr/>
          <p:nvPr/>
        </p:nvSpPr>
        <p:spPr>
          <a:xfrm>
            <a:off x="7178040" y="4434840"/>
            <a:ext cx="4434840" cy="1371600"/>
          </a:xfrm>
          <a:prstGeom prst="rect">
            <a:avLst/>
          </a:prstGeom>
          <a:noFill/>
          <a:ln/>
        </p:spPr>
        <p:txBody>
          <a:bodyPr wrap="square" rtlCol="0" anchor="ctr"/>
          <a:lstStyle/>
          <a:p>
            <a:pPr indent="0" marL="0">
              <a:lnSpc>
                <a:spcPct val="130000"/>
              </a:lnSpc>
              <a:buNone/>
            </a:pPr>
            <a:r>
              <a:rPr lang="en-US" sz="1200" dirty="0">
                <a:solidFill>
                  <a:srgbClr val="9E9789"/>
                </a:solidFill>
                <a:latin typeface="Calibri" pitchFamily="34" charset="0"/>
                <a:ea typeface="Calibri" pitchFamily="34" charset="-122"/>
                <a:cs typeface="Calibri" pitchFamily="34" charset="-120"/>
              </a:rPr>
              <a:t>Early drafts kept defaulting to stock restaurant-site patterns: hero photo + headline + card grid — nothing that felt like this specific bar.</a:t>
            </a:r>
            <a:endParaRPr lang="en-US" sz="1200" dirty="0"/>
          </a:p>
        </p:txBody>
      </p:sp>
      <p:sp>
        <p:nvSpPr>
          <p:cNvPr id="16" name="Text 14"/>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7" name="Text 15"/>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05 / 39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SOLUTION · BRAND SYSTEM</a:t>
            </a:r>
            <a:endParaRPr lang="en-US" sz="1300" dirty="0"/>
          </a:p>
        </p:txBody>
      </p:sp>
      <p:sp>
        <p:nvSpPr>
          <p:cNvPr id="3" name="Text 1"/>
          <p:cNvSpPr/>
          <p:nvPr/>
        </p:nvSpPr>
        <p:spPr>
          <a:xfrm>
            <a:off x="548640" y="731520"/>
            <a:ext cx="5669280" cy="822960"/>
          </a:xfrm>
          <a:prstGeom prst="rect">
            <a:avLst/>
          </a:prstGeom>
          <a:noFill/>
          <a:ln/>
        </p:spPr>
        <p:txBody>
          <a:bodyPr wrap="square" rtlCol="0" anchor="ctr"/>
          <a:lstStyle/>
          <a:p>
            <a:pPr indent="0" marL="0">
              <a:buNone/>
            </a:pPr>
            <a:r>
              <a:rPr lang="en-US" sz="2400" b="1" dirty="0">
                <a:solidFill>
                  <a:srgbClr val="151317"/>
                </a:solidFill>
                <a:latin typeface="Arial" pitchFamily="34" charset="0"/>
                <a:ea typeface="Arial" pitchFamily="34" charset="-122"/>
                <a:cs typeface="Arial" pitchFamily="34" charset="-120"/>
              </a:rPr>
              <a:t>THREE RAMPS, NOT SIX FIGHTING COLORS</a:t>
            </a:r>
            <a:endParaRPr lang="en-US" sz="2400" dirty="0"/>
          </a:p>
        </p:txBody>
      </p:sp>
      <p:sp>
        <p:nvSpPr>
          <p:cNvPr id="4" name="Text 2"/>
          <p:cNvSpPr/>
          <p:nvPr/>
        </p:nvSpPr>
        <p:spPr>
          <a:xfrm>
            <a:off x="548640" y="1600200"/>
            <a:ext cx="5212080" cy="1737360"/>
          </a:xfrm>
          <a:prstGeom prst="rect">
            <a:avLst/>
          </a:prstGeom>
          <a:noFill/>
          <a:ln/>
        </p:spPr>
        <p:txBody>
          <a:bodyPr wrap="square" rtlCol="0" anchor="ctr"/>
          <a:lstStyle/>
          <a:p>
            <a:pPr indent="0" marL="0">
              <a:lnSpc>
                <a:spcPct val="135000"/>
              </a:lnSpc>
              <a:buNone/>
            </a:pPr>
            <a:r>
              <a:rPr lang="en-US" sz="1300" dirty="0">
                <a:solidFill>
                  <a:srgbClr val="54513F"/>
                </a:solidFill>
                <a:latin typeface="Calibri" pitchFamily="34" charset="0"/>
                <a:ea typeface="Calibri" pitchFamily="34" charset="-122"/>
                <a:cs typeface="Calibri" pitchFamily="34" charset="-120"/>
              </a:rPr>
              <a:t>The generative rule: every brand color is a tint or shade of exactly three hues — red, green, yellow — plus neutrals. Need a new shade? Move along an existing hue line; never introduce a new one. That single rule turned a chaotic set of "loud" colors into something provably harmonious.</a:t>
            </a:r>
            <a:endParaRPr lang="en-US" sz="1300" dirty="0"/>
          </a:p>
        </p:txBody>
      </p:sp>
      <p:sp>
        <p:nvSpPr>
          <p:cNvPr id="5" name="Shape 3"/>
          <p:cNvSpPr/>
          <p:nvPr/>
        </p:nvSpPr>
        <p:spPr>
          <a:xfrm>
            <a:off x="548640" y="3575304"/>
            <a:ext cx="128016" cy="128016"/>
          </a:xfrm>
          <a:prstGeom prst="ellipse">
            <a:avLst/>
          </a:prstGeom>
          <a:solidFill>
            <a:srgbClr val="E34314"/>
          </a:solidFill>
          <a:ln/>
        </p:spPr>
        <p:txBody>
          <a:bodyPr/>
          <a:p/>
        </p:txBody>
      </p:sp>
      <p:sp>
        <p:nvSpPr>
          <p:cNvPr id="6" name="Text 4"/>
          <p:cNvSpPr/>
          <p:nvPr/>
        </p:nvSpPr>
        <p:spPr>
          <a:xfrm>
            <a:off x="822960" y="3447288"/>
            <a:ext cx="4937760" cy="41148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Colour-vision claim audited &amp; narrowed later: no colour carries meaning alone</a:t>
            </a:r>
            <a:endParaRPr lang="en-US" sz="1150" dirty="0"/>
          </a:p>
        </p:txBody>
      </p:sp>
      <p:sp>
        <p:nvSpPr>
          <p:cNvPr id="7" name="Shape 5"/>
          <p:cNvSpPr/>
          <p:nvPr/>
        </p:nvSpPr>
        <p:spPr>
          <a:xfrm>
            <a:off x="548640" y="4142232"/>
            <a:ext cx="128016" cy="128016"/>
          </a:xfrm>
          <a:prstGeom prst="ellipse">
            <a:avLst/>
          </a:prstGeom>
          <a:solidFill>
            <a:srgbClr val="E34314"/>
          </a:solidFill>
          <a:ln/>
        </p:spPr>
        <p:txBody>
          <a:bodyPr/>
          <a:p/>
        </p:txBody>
      </p:sp>
      <p:sp>
        <p:nvSpPr>
          <p:cNvPr id="8" name="Text 6"/>
          <p:cNvSpPr/>
          <p:nvPr/>
        </p:nvSpPr>
        <p:spPr>
          <a:xfrm>
            <a:off x="822960" y="4014216"/>
            <a:ext cx="4937760" cy="41148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Day (Parchment) / Night (Peppercorn) modes mapped from the same palette</a:t>
            </a:r>
            <a:endParaRPr lang="en-US" sz="1150" dirty="0"/>
          </a:p>
        </p:txBody>
      </p:sp>
      <p:sp>
        <p:nvSpPr>
          <p:cNvPr id="9" name="Shape 7"/>
          <p:cNvSpPr/>
          <p:nvPr/>
        </p:nvSpPr>
        <p:spPr>
          <a:xfrm>
            <a:off x="548640" y="4709160"/>
            <a:ext cx="128016" cy="128016"/>
          </a:xfrm>
          <a:prstGeom prst="ellipse">
            <a:avLst/>
          </a:prstGeom>
          <a:solidFill>
            <a:srgbClr val="E34314"/>
          </a:solidFill>
          <a:ln/>
        </p:spPr>
        <p:txBody>
          <a:bodyPr/>
          <a:p/>
        </p:txBody>
      </p:sp>
      <p:sp>
        <p:nvSpPr>
          <p:cNvPr id="10" name="Text 8"/>
          <p:cNvSpPr/>
          <p:nvPr/>
        </p:nvSpPr>
        <p:spPr>
          <a:xfrm>
            <a:off x="822960" y="4581144"/>
            <a:ext cx="4937760" cy="41148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Molot (display, heavy, all-caps) leads; Golos Text carries everything meant for reading</a:t>
            </a:r>
            <a:endParaRPr lang="en-US" sz="1150" dirty="0"/>
          </a:p>
        </p:txBody>
      </p:sp>
      <p:sp>
        <p:nvSpPr>
          <p:cNvPr id="11" name="Shape 9"/>
          <p:cNvSpPr/>
          <p:nvPr/>
        </p:nvSpPr>
        <p:spPr>
          <a:xfrm>
            <a:off x="548640" y="5276088"/>
            <a:ext cx="128016" cy="128016"/>
          </a:xfrm>
          <a:prstGeom prst="ellipse">
            <a:avLst/>
          </a:prstGeom>
          <a:solidFill>
            <a:srgbClr val="E34314"/>
          </a:solidFill>
          <a:ln/>
        </p:spPr>
        <p:txBody>
          <a:bodyPr/>
          <a:p/>
        </p:txBody>
      </p:sp>
      <p:sp>
        <p:nvSpPr>
          <p:cNvPr id="12" name="Text 10"/>
          <p:cNvSpPr/>
          <p:nvPr/>
        </p:nvSpPr>
        <p:spPr>
          <a:xfrm>
            <a:off x="822960" y="5148072"/>
            <a:ext cx="4937760" cy="41148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Deep Chili token added specifically so red text passes AA at small sizes</a:t>
            </a:r>
            <a:endParaRPr lang="en-US" sz="1150" dirty="0"/>
          </a:p>
        </p:txBody>
      </p:sp>
      <p:pic>
        <p:nvPicPr>
          <p:cNvPr id="13" name="Image 0" descr="/sessions/bold-gracious-fermi/mnt/outputs/sweet-case-study/assets/colors.jpeg">    </p:cNvPr>
          <p:cNvPicPr>
            <a:picLocks noChangeAspect="1"/>
          </p:cNvPicPr>
          <p:nvPr/>
        </p:nvPicPr>
        <p:blipFill>
          <a:blip r:embed="rId1"/>
          <a:srcRect/>
          <a:stretch/>
        </p:blipFill>
        <p:spPr>
          <a:xfrm>
            <a:off x="7056120" y="685800"/>
            <a:ext cx="3901440" cy="5852160"/>
          </a:xfrm>
          <a:prstGeom prst="rect">
            <a:avLst/>
          </a:prstGeom>
        </p:spPr>
      </p:pic>
      <p:sp>
        <p:nvSpPr>
          <p:cNvPr id="14"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15"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06 / 39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IDENTITY</a:t>
            </a:r>
            <a:endParaRPr lang="en-US" sz="1300" dirty="0"/>
          </a:p>
        </p:txBody>
      </p:sp>
      <p:sp>
        <p:nvSpPr>
          <p:cNvPr id="3" name="Text 1"/>
          <p:cNvSpPr/>
          <p:nvPr/>
        </p:nvSpPr>
        <p:spPr>
          <a:xfrm>
            <a:off x="548640" y="731520"/>
            <a:ext cx="96012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KEEP THE MARK, BUILD THE SYSTEM AROUND IT</a:t>
            </a:r>
            <a:endParaRPr lang="en-US" sz="2700" dirty="0"/>
          </a:p>
        </p:txBody>
      </p:sp>
      <p:sp>
        <p:nvSpPr>
          <p:cNvPr id="4" name="Text 2"/>
          <p:cNvSpPr/>
          <p:nvPr/>
        </p:nvSpPr>
        <p:spPr>
          <a:xfrm>
            <a:off x="548640" y="1691640"/>
            <a:ext cx="10058400" cy="1005840"/>
          </a:xfrm>
          <a:prstGeom prst="rect">
            <a:avLst/>
          </a:prstGeom>
          <a:noFill/>
          <a:ln/>
        </p:spPr>
        <p:txBody>
          <a:bodyPr wrap="square" rtlCol="0" anchor="ctr"/>
          <a:lstStyle/>
          <a:p>
            <a:pPr indent="0" marL="0">
              <a:lnSpc>
                <a:spcPct val="130000"/>
              </a:lnSpc>
              <a:buNone/>
            </a:pPr>
            <a:r>
              <a:rPr lang="en-US" sz="1300" dirty="0">
                <a:solidFill>
                  <a:srgbClr val="9E9789"/>
                </a:solidFill>
                <a:latin typeface="Calibri" pitchFamily="34" charset="0"/>
                <a:ea typeface="Calibri" pitchFamily="34" charset="-122"/>
                <a:cs typeface="Calibri" pitchFamily="34" charset="-120"/>
              </a:rPr>
              <a:t>The chili-and-shaker mark and the bottle-cap seal already had years of recognition and guest affection — the research showed no reason to replace them. The job was consolidation: one clear hierarchy of lockups, one clear-space rule, minimum sizes, and defined backgrounds, so the mark could scale from a favicon to a storefront sign without improvisation.</a:t>
            </a:r>
            <a:endParaRPr lang="en-US" sz="1300" dirty="0"/>
          </a:p>
        </p:txBody>
      </p:sp>
      <p:sp>
        <p:nvSpPr>
          <p:cNvPr id="5" name="Shape 3"/>
          <p:cNvSpPr/>
          <p:nvPr/>
        </p:nvSpPr>
        <p:spPr>
          <a:xfrm>
            <a:off x="548640" y="2926080"/>
            <a:ext cx="3108960" cy="3108960"/>
          </a:xfrm>
          <a:prstGeom prst="rect">
            <a:avLst/>
          </a:prstGeom>
          <a:solidFill>
            <a:srgbClr val="1F1B21"/>
          </a:solidFill>
          <a:ln/>
        </p:spPr>
        <p:txBody>
          <a:bodyPr/>
          <a:p/>
        </p:txBody>
      </p:sp>
      <p:pic>
        <p:nvPicPr>
          <p:cNvPr id="6" name="Image 0" descr="/sessions/bold-gracious-fermi/mnt/outputs/sweet-case-study/assets/old-seal.png">    </p:cNvPr>
          <p:cNvPicPr>
            <a:picLocks noChangeAspect="1"/>
          </p:cNvPicPr>
          <p:nvPr/>
        </p:nvPicPr>
        <p:blipFill>
          <a:blip r:embed="rId1"/>
          <a:stretch>
            <a:fillRect/>
          </a:stretch>
        </p:blipFill>
        <p:spPr>
          <a:xfrm>
            <a:off x="868680" y="3246120"/>
            <a:ext cx="2468880" cy="2468880"/>
          </a:xfrm>
          <a:prstGeom prst="rect">
            <a:avLst/>
          </a:prstGeom>
        </p:spPr>
      </p:pic>
      <p:sp>
        <p:nvSpPr>
          <p:cNvPr id="7" name="Text 4"/>
          <p:cNvSpPr/>
          <p:nvPr/>
        </p:nvSpPr>
        <p:spPr>
          <a:xfrm>
            <a:off x="548640" y="6108192"/>
            <a:ext cx="3108960" cy="320040"/>
          </a:xfrm>
          <a:prstGeom prst="rect">
            <a:avLst/>
          </a:prstGeom>
          <a:noFill/>
          <a:ln/>
        </p:spPr>
        <p:txBody>
          <a:bodyPr wrap="square" rtlCol="0" anchor="ctr"/>
          <a:lstStyle/>
          <a:p>
            <a:pPr algn="ctr" indent="0" marL="0">
              <a:buNone/>
            </a:pPr>
            <a:r>
              <a:rPr lang="en-US" sz="1200" b="1" spc="200" kern="0" dirty="0">
                <a:solidFill>
                  <a:srgbClr val="9E9789"/>
                </a:solidFill>
                <a:latin typeface="Arial" pitchFamily="34" charset="0"/>
                <a:ea typeface="Arial" pitchFamily="34" charset="-122"/>
                <a:cs typeface="Arial" pitchFamily="34" charset="-120"/>
              </a:rPr>
              <a:t>BEFORE</a:t>
            </a:r>
            <a:endParaRPr lang="en-US" sz="1200" dirty="0"/>
          </a:p>
        </p:txBody>
      </p:sp>
      <p:sp>
        <p:nvSpPr>
          <p:cNvPr id="8" name="Text 5"/>
          <p:cNvSpPr/>
          <p:nvPr/>
        </p:nvSpPr>
        <p:spPr>
          <a:xfrm>
            <a:off x="3886200" y="3840480"/>
            <a:ext cx="1828800" cy="1463040"/>
          </a:xfrm>
          <a:prstGeom prst="rect">
            <a:avLst/>
          </a:prstGeom>
          <a:noFill/>
          <a:ln/>
        </p:spPr>
        <p:txBody>
          <a:bodyPr wrap="square" rtlCol="0" anchor="ctr"/>
          <a:lstStyle/>
          <a:p>
            <a:pPr algn="ctr" indent="0" marL="0">
              <a:lnSpc>
                <a:spcPct val="120000"/>
              </a:lnSpc>
              <a:buNone/>
            </a:pPr>
            <a:r>
              <a:rPr lang="en-US" sz="1300" b="1" dirty="0">
                <a:solidFill>
                  <a:srgbClr val="E34314"/>
                </a:solidFill>
                <a:latin typeface="Arial" pitchFamily="34" charset="0"/>
                <a:ea typeface="Arial" pitchFamily="34" charset="-122"/>
                <a:cs typeface="Arial" pitchFamily="34" charset="-120"/>
              </a:rPr>
              <a:t>SYSTEMIZED</a:t>
            </a:r>
            <a:endParaRPr lang="en-US" sz="1300" dirty="0"/>
          </a:p>
          <a:p>
            <a:pPr algn="ctr" indent="0" marL="0">
              <a:lnSpc>
                <a:spcPct val="120000"/>
              </a:lnSpc>
              <a:buNone/>
            </a:pPr>
            <a:r>
              <a:rPr lang="en-US" sz="1300" b="1" dirty="0">
                <a:solidFill>
                  <a:srgbClr val="E34314"/>
                </a:solidFill>
                <a:latin typeface="Arial" pitchFamily="34" charset="0"/>
                <a:ea typeface="Arial" pitchFamily="34" charset="-122"/>
                <a:cs typeface="Arial" pitchFamily="34" charset="-120"/>
              </a:rPr>
              <a:t>INTO A FULL</a:t>
            </a:r>
            <a:endParaRPr lang="en-US" sz="1300" dirty="0"/>
          </a:p>
          <a:p>
            <a:pPr algn="ctr" indent="0" marL="0">
              <a:lnSpc>
                <a:spcPct val="120000"/>
              </a:lnSpc>
              <a:buNone/>
            </a:pPr>
            <a:r>
              <a:rPr lang="en-US" sz="1300" b="1" dirty="0">
                <a:solidFill>
                  <a:srgbClr val="E34314"/>
                </a:solidFill>
                <a:latin typeface="Arial" pitchFamily="34" charset="0"/>
                <a:ea typeface="Arial" pitchFamily="34" charset="-122"/>
                <a:cs typeface="Arial" pitchFamily="34" charset="-120"/>
              </a:rPr>
              <a:t>LOCKUP SET →</a:t>
            </a:r>
            <a:endParaRPr lang="en-US" sz="1300" dirty="0"/>
          </a:p>
        </p:txBody>
      </p:sp>
      <p:sp>
        <p:nvSpPr>
          <p:cNvPr id="9" name="Shape 6"/>
          <p:cNvSpPr/>
          <p:nvPr/>
        </p:nvSpPr>
        <p:spPr>
          <a:xfrm>
            <a:off x="5943600" y="2926080"/>
            <a:ext cx="5669280" cy="3108960"/>
          </a:xfrm>
          <a:prstGeom prst="rect">
            <a:avLst/>
          </a:prstGeom>
          <a:solidFill>
            <a:srgbClr val="F3E9D2"/>
          </a:solidFill>
          <a:ln/>
        </p:spPr>
        <p:txBody>
          <a:bodyPr/>
          <a:p/>
        </p:txBody>
      </p:sp>
      <p:pic>
        <p:nvPicPr>
          <p:cNvPr id="10" name="Image 1" descr="/sessions/bold-gracious-fermi/mnt/outputs/sweet-case-study/assets/logo-horizontal.png">    </p:cNvPr>
          <p:cNvPicPr>
            <a:picLocks noChangeAspect="1"/>
          </p:cNvPicPr>
          <p:nvPr/>
        </p:nvPicPr>
        <p:blipFill>
          <a:blip r:embed="rId2"/>
          <a:stretch>
            <a:fillRect/>
          </a:stretch>
        </p:blipFill>
        <p:spPr>
          <a:xfrm>
            <a:off x="6492240" y="3977640"/>
            <a:ext cx="4572000" cy="996696"/>
          </a:xfrm>
          <a:prstGeom prst="rect">
            <a:avLst/>
          </a:prstGeom>
        </p:spPr>
      </p:pic>
      <p:sp>
        <p:nvSpPr>
          <p:cNvPr id="11" name="Text 7"/>
          <p:cNvSpPr/>
          <p:nvPr/>
        </p:nvSpPr>
        <p:spPr>
          <a:xfrm>
            <a:off x="5943600" y="6108192"/>
            <a:ext cx="5669280" cy="320040"/>
          </a:xfrm>
          <a:prstGeom prst="rect">
            <a:avLst/>
          </a:prstGeom>
          <a:noFill/>
          <a:ln/>
        </p:spPr>
        <p:txBody>
          <a:bodyPr wrap="square" rtlCol="0" anchor="ctr"/>
          <a:lstStyle/>
          <a:p>
            <a:pPr algn="ctr" indent="0" marL="0">
              <a:buNone/>
            </a:pPr>
            <a:r>
              <a:rPr lang="en-US" sz="1200" b="1" spc="150" kern="0" dirty="0">
                <a:solidFill>
                  <a:srgbClr val="737D3A"/>
                </a:solidFill>
                <a:latin typeface="Arial" pitchFamily="34" charset="0"/>
                <a:ea typeface="Arial" pitchFamily="34" charset="-122"/>
                <a:cs typeface="Arial" pitchFamily="34" charset="-120"/>
              </a:rPr>
              <a:t>AFTER — ONE OF SIX DEFINED LOCKUPS</a:t>
            </a:r>
            <a:endParaRPr lang="en-US" sz="1200" dirty="0"/>
          </a:p>
        </p:txBody>
      </p:sp>
      <p:sp>
        <p:nvSpPr>
          <p:cNvPr id="12" name="Text 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3" name="Text 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07 / 39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PROCESS</a:t>
            </a:r>
            <a:endParaRPr lang="en-US" sz="1300" dirty="0"/>
          </a:p>
        </p:txBody>
      </p:sp>
      <p:sp>
        <p:nvSpPr>
          <p:cNvPr id="3" name="Text 1"/>
          <p:cNvSpPr/>
          <p:nvPr/>
        </p:nvSpPr>
        <p:spPr>
          <a:xfrm>
            <a:off x="548640" y="731520"/>
            <a:ext cx="9144000" cy="731520"/>
          </a:xfrm>
          <a:prstGeom prst="rect">
            <a:avLst/>
          </a:prstGeom>
          <a:noFill/>
          <a:ln/>
        </p:spPr>
        <p:txBody>
          <a:bodyPr wrap="square" rtlCol="0" anchor="ctr"/>
          <a:lstStyle/>
          <a:p>
            <a:pPr indent="0" marL="0">
              <a:buNone/>
            </a:pPr>
            <a:r>
              <a:rPr lang="en-US" sz="3000" b="1" dirty="0">
                <a:solidFill>
                  <a:srgbClr val="151317"/>
                </a:solidFill>
                <a:latin typeface="Arial" pitchFamily="34" charset="0"/>
                <a:ea typeface="Arial" pitchFamily="34" charset="-122"/>
                <a:cs typeface="Arial" pitchFamily="34" charset="-120"/>
              </a:rPr>
              <a:t>FINDING THE HERO, DRAFT BY DRAFT</a:t>
            </a:r>
            <a:endParaRPr lang="en-US" sz="3000" dirty="0"/>
          </a:p>
        </p:txBody>
      </p:sp>
      <p:sp>
        <p:nvSpPr>
          <p:cNvPr id="4" name="Text 2"/>
          <p:cNvSpPr/>
          <p:nvPr/>
        </p:nvSpPr>
        <p:spPr>
          <a:xfrm>
            <a:off x="548640" y="1371600"/>
            <a:ext cx="10515600" cy="502920"/>
          </a:xfrm>
          <a:prstGeom prst="rect">
            <a:avLst/>
          </a:prstGeom>
          <a:noFill/>
          <a:ln/>
        </p:spPr>
        <p:txBody>
          <a:bodyPr wrap="square" rtlCol="0" anchor="ctr"/>
          <a:lstStyle/>
          <a:p>
            <a:pPr indent="0" marL="0">
              <a:buNone/>
            </a:pPr>
            <a:r>
              <a:rPr lang="en-US" sz="1250" dirty="0">
                <a:solidFill>
                  <a:srgbClr val="54513F"/>
                </a:solidFill>
                <a:latin typeface="Calibri" pitchFamily="34" charset="0"/>
                <a:ea typeface="Calibri" pitchFamily="34" charset="-122"/>
                <a:cs typeface="Calibri" pitchFamily="34" charset="-120"/>
              </a:rPr>
              <a:t>Nine home-page explorations. The first drafts proved the brand assets worked together — but the layout logic was still generic restaurant-template thinking.</a:t>
            </a:r>
            <a:endParaRPr lang="en-US" sz="1250" dirty="0"/>
          </a:p>
        </p:txBody>
      </p:sp>
      <p:sp>
        <p:nvSpPr>
          <p:cNvPr id="5" name="Shape 3"/>
          <p:cNvSpPr/>
          <p:nvPr/>
        </p:nvSpPr>
        <p:spPr>
          <a:xfrm>
            <a:off x="548640" y="2057400"/>
            <a:ext cx="3520440" cy="2788920"/>
          </a:xfrm>
          <a:prstGeom prst="rect">
            <a:avLst/>
          </a:prstGeom>
          <a:solidFill>
            <a:srgbClr val="151317"/>
          </a:solidFill>
          <a:ln/>
          <a:effectLst>
            <a:outerShdw sx="100000" sy="100000" kx="0" ky="0" algn="bl" rotWithShape="0" blurRad="101600" dist="38100" dir="5400000">
              <a:srgbClr val="000000">
                <a:alpha val="12000"/>
              </a:srgbClr>
            </a:outerShdw>
          </a:effectLst>
        </p:spPr>
        <p:txBody>
          <a:bodyPr/>
          <a:p/>
        </p:txBody>
      </p:sp>
      <p:pic>
        <p:nvPicPr>
          <p:cNvPr id="6" name="Image 0" descr="/sessions/bold-gracious-fermi/mnt/outputs/sweet-case-study/assets/opt2-crop.png">    </p:cNvPr>
          <p:cNvPicPr>
            <a:picLocks noChangeAspect="1"/>
          </p:cNvPicPr>
          <p:nvPr/>
        </p:nvPicPr>
        <p:blipFill>
          <a:blip r:embed="rId1"/>
          <a:srcRect l="10099" r="10099"/>
          <a:stretch/>
        </p:blipFill>
        <p:spPr>
          <a:xfrm>
            <a:off x="621792" y="2130552"/>
            <a:ext cx="3374136" cy="2642616"/>
          </a:xfrm>
          <a:prstGeom prst="rect">
            <a:avLst/>
          </a:prstGeom>
        </p:spPr>
      </p:pic>
      <p:sp>
        <p:nvSpPr>
          <p:cNvPr id="7" name="Text 4"/>
          <p:cNvSpPr/>
          <p:nvPr/>
        </p:nvSpPr>
        <p:spPr>
          <a:xfrm>
            <a:off x="548640" y="4937760"/>
            <a:ext cx="3520440" cy="320040"/>
          </a:xfrm>
          <a:prstGeom prst="rect">
            <a:avLst/>
          </a:prstGeom>
          <a:noFill/>
          <a:ln/>
        </p:spPr>
        <p:txBody>
          <a:bodyPr wrap="square" rtlCol="0" anchor="ctr"/>
          <a:lstStyle/>
          <a:p>
            <a:pPr indent="0" marL="0">
              <a:buNone/>
            </a:pPr>
            <a:r>
              <a:rPr lang="en-US" sz="1250" b="1" dirty="0">
                <a:solidFill>
                  <a:srgbClr val="E34314"/>
                </a:solidFill>
                <a:latin typeface="Arial" pitchFamily="34" charset="0"/>
                <a:ea typeface="Arial" pitchFamily="34" charset="-122"/>
                <a:cs typeface="Arial" pitchFamily="34" charset="-120"/>
              </a:rPr>
              <a:t>DRAFT 2 — STATIC TEMPLATE</a:t>
            </a:r>
            <a:endParaRPr lang="en-US" sz="1250" dirty="0"/>
          </a:p>
        </p:txBody>
      </p:sp>
      <p:sp>
        <p:nvSpPr>
          <p:cNvPr id="8" name="Text 5"/>
          <p:cNvSpPr/>
          <p:nvPr/>
        </p:nvSpPr>
        <p:spPr>
          <a:xfrm>
            <a:off x="548640" y="5257800"/>
            <a:ext cx="3520440" cy="77724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Centered hero, generic card grid below. Safe, but interchangeable with any bar site.</a:t>
            </a:r>
            <a:endParaRPr lang="en-US" sz="1050" dirty="0"/>
          </a:p>
        </p:txBody>
      </p:sp>
      <p:sp>
        <p:nvSpPr>
          <p:cNvPr id="9" name="Shape 6"/>
          <p:cNvSpPr/>
          <p:nvPr/>
        </p:nvSpPr>
        <p:spPr>
          <a:xfrm>
            <a:off x="4343400" y="2057400"/>
            <a:ext cx="3520440" cy="2788920"/>
          </a:xfrm>
          <a:prstGeom prst="rect">
            <a:avLst/>
          </a:prstGeom>
          <a:solidFill>
            <a:srgbClr val="151317"/>
          </a:solidFill>
          <a:ln/>
          <a:effectLst>
            <a:outerShdw sx="100000" sy="100000" kx="0" ky="0" algn="bl" rotWithShape="0" blurRad="101600" dist="38100" dir="5400000">
              <a:srgbClr val="000000">
                <a:alpha val="12000"/>
              </a:srgbClr>
            </a:outerShdw>
          </a:effectLst>
        </p:spPr>
        <p:txBody>
          <a:bodyPr/>
          <a:p/>
        </p:txBody>
      </p:sp>
      <p:pic>
        <p:nvPicPr>
          <p:cNvPr id="10" name="Image 1" descr="/sessions/bold-gracious-fermi/mnt/outputs/sweet-case-study/assets/opt5-crop.png">    </p:cNvPr>
          <p:cNvPicPr>
            <a:picLocks noChangeAspect="1"/>
          </p:cNvPicPr>
          <p:nvPr/>
        </p:nvPicPr>
        <p:blipFill>
          <a:blip r:embed="rId2"/>
          <a:srcRect l="5112" r="5112"/>
          <a:stretch/>
        </p:blipFill>
        <p:spPr>
          <a:xfrm>
            <a:off x="4416552" y="2130552"/>
            <a:ext cx="3374136" cy="2642616"/>
          </a:xfrm>
          <a:prstGeom prst="rect">
            <a:avLst/>
          </a:prstGeom>
        </p:spPr>
      </p:pic>
      <p:sp>
        <p:nvSpPr>
          <p:cNvPr id="11" name="Text 7"/>
          <p:cNvSpPr/>
          <p:nvPr/>
        </p:nvSpPr>
        <p:spPr>
          <a:xfrm>
            <a:off x="4343400" y="4937760"/>
            <a:ext cx="3520440" cy="320040"/>
          </a:xfrm>
          <a:prstGeom prst="rect">
            <a:avLst/>
          </a:prstGeom>
          <a:noFill/>
          <a:ln/>
        </p:spPr>
        <p:txBody>
          <a:bodyPr wrap="square" rtlCol="0" anchor="ctr"/>
          <a:lstStyle/>
          <a:p>
            <a:pPr indent="0" marL="0">
              <a:buNone/>
            </a:pPr>
            <a:r>
              <a:rPr lang="en-US" sz="1250" b="1" dirty="0">
                <a:solidFill>
                  <a:srgbClr val="E34314"/>
                </a:solidFill>
                <a:latin typeface="Arial" pitchFamily="34" charset="0"/>
                <a:ea typeface="Arial" pitchFamily="34" charset="-122"/>
                <a:cs typeface="Arial" pitchFamily="34" charset="-120"/>
              </a:rPr>
              <a:t>DRAFT 5 — SIDEBAR + MOTIF</a:t>
            </a:r>
            <a:endParaRPr lang="en-US" sz="1250" dirty="0"/>
          </a:p>
        </p:txBody>
      </p:sp>
      <p:sp>
        <p:nvSpPr>
          <p:cNvPr id="12" name="Text 8"/>
          <p:cNvSpPr/>
          <p:nvPr/>
        </p:nvSpPr>
        <p:spPr>
          <a:xfrm>
            <a:off x="4343400" y="5257800"/>
            <a:ext cx="3520440" cy="77724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Introduced the seal logo and outlined wordmark. Sidebar nav added clutter without solving anything.</a:t>
            </a:r>
            <a:endParaRPr lang="en-US" sz="1050" dirty="0"/>
          </a:p>
        </p:txBody>
      </p:sp>
      <p:sp>
        <p:nvSpPr>
          <p:cNvPr id="13" name="Shape 9"/>
          <p:cNvSpPr/>
          <p:nvPr/>
        </p:nvSpPr>
        <p:spPr>
          <a:xfrm>
            <a:off x="8138160" y="2057400"/>
            <a:ext cx="3520440" cy="2788920"/>
          </a:xfrm>
          <a:prstGeom prst="rect">
            <a:avLst/>
          </a:prstGeom>
          <a:solidFill>
            <a:srgbClr val="151317"/>
          </a:solidFill>
          <a:ln/>
          <a:effectLst>
            <a:outerShdw sx="100000" sy="100000" kx="0" ky="0" algn="bl" rotWithShape="0" blurRad="101600" dist="38100" dir="5400000">
              <a:srgbClr val="000000">
                <a:alpha val="12000"/>
              </a:srgbClr>
            </a:outerShdw>
          </a:effectLst>
        </p:spPr>
        <p:txBody>
          <a:bodyPr/>
          <a:p/>
        </p:txBody>
      </p:sp>
      <p:pic>
        <p:nvPicPr>
          <p:cNvPr id="14" name="Image 2" descr="/sessions/bold-gracious-fermi/mnt/outputs/sweet-case-study/assets/opt7-crop.png">    </p:cNvPr>
          <p:cNvPicPr>
            <a:picLocks noChangeAspect="1"/>
          </p:cNvPicPr>
          <p:nvPr/>
        </p:nvPicPr>
        <p:blipFill>
          <a:blip r:embed="rId3"/>
          <a:srcRect l="24065" r="24065"/>
          <a:stretch/>
        </p:blipFill>
        <p:spPr>
          <a:xfrm>
            <a:off x="8211312" y="2130552"/>
            <a:ext cx="3374136" cy="2642616"/>
          </a:xfrm>
          <a:prstGeom prst="rect">
            <a:avLst/>
          </a:prstGeom>
        </p:spPr>
      </p:pic>
      <p:sp>
        <p:nvSpPr>
          <p:cNvPr id="15" name="Text 10"/>
          <p:cNvSpPr/>
          <p:nvPr/>
        </p:nvSpPr>
        <p:spPr>
          <a:xfrm>
            <a:off x="8138160" y="4937760"/>
            <a:ext cx="3520440" cy="320040"/>
          </a:xfrm>
          <a:prstGeom prst="rect">
            <a:avLst/>
          </a:prstGeom>
          <a:noFill/>
          <a:ln/>
        </p:spPr>
        <p:txBody>
          <a:bodyPr wrap="square" rtlCol="0" anchor="ctr"/>
          <a:lstStyle/>
          <a:p>
            <a:pPr indent="0" marL="0">
              <a:buNone/>
            </a:pPr>
            <a:r>
              <a:rPr lang="en-US" sz="1250" b="1" dirty="0">
                <a:solidFill>
                  <a:srgbClr val="E34314"/>
                </a:solidFill>
                <a:latin typeface="Arial" pitchFamily="34" charset="0"/>
                <a:ea typeface="Arial" pitchFamily="34" charset="-122"/>
                <a:cs typeface="Arial" pitchFamily="34" charset="-120"/>
              </a:rPr>
              <a:t>DRAFT 7 — CLEANER TWO-COLUMN</a:t>
            </a:r>
            <a:endParaRPr lang="en-US" sz="1250" dirty="0"/>
          </a:p>
        </p:txBody>
      </p:sp>
      <p:sp>
        <p:nvSpPr>
          <p:cNvPr id="16" name="Text 11"/>
          <p:cNvSpPr/>
          <p:nvPr/>
        </p:nvSpPr>
        <p:spPr>
          <a:xfrm>
            <a:off x="8138160" y="5257800"/>
            <a:ext cx="3520440" cy="77724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Cut the sidebar, tightened type hierarchy. Still one static headline for an all-day venue.</a:t>
            </a:r>
            <a:endParaRPr lang="en-US" sz="1050" dirty="0"/>
          </a:p>
        </p:txBody>
      </p:sp>
      <p:sp>
        <p:nvSpPr>
          <p:cNvPr id="17"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18" name="Text 13"/>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08 / 39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THE INSIGHT</a:t>
            </a:r>
            <a:endParaRPr lang="en-US" sz="1300" dirty="0"/>
          </a:p>
        </p:txBody>
      </p:sp>
      <p:sp>
        <p:nvSpPr>
          <p:cNvPr id="3" name="Text 1"/>
          <p:cNvSpPr/>
          <p:nvPr/>
        </p:nvSpPr>
        <p:spPr>
          <a:xfrm>
            <a:off x="548640" y="822960"/>
            <a:ext cx="10515600" cy="914400"/>
          </a:xfrm>
          <a:prstGeom prst="rect">
            <a:avLst/>
          </a:prstGeom>
          <a:noFill/>
          <a:ln/>
        </p:spPr>
        <p:txBody>
          <a:bodyPr wrap="square" rtlCol="0" anchor="ctr"/>
          <a:lstStyle/>
          <a:p>
            <a:pPr indent="0" marL="0">
              <a:buNone/>
            </a:pPr>
            <a:r>
              <a:rPr lang="en-US" sz="3000" b="1" dirty="0">
                <a:solidFill>
                  <a:srgbClr val="F3E9D2"/>
                </a:solidFill>
                <a:latin typeface="Arial" pitchFamily="34" charset="0"/>
                <a:ea typeface="Arial" pitchFamily="34" charset="-122"/>
                <a:cs typeface="Arial" pitchFamily="34" charset="-120"/>
              </a:rPr>
              <a:t>STOP PICKING ONE MOMENT. USE THE CLOCK.</a:t>
            </a:r>
            <a:endParaRPr lang="en-US" sz="3000" dirty="0"/>
          </a:p>
        </p:txBody>
      </p:sp>
      <p:sp>
        <p:nvSpPr>
          <p:cNvPr id="4" name="Text 2"/>
          <p:cNvSpPr/>
          <p:nvPr/>
        </p:nvSpPr>
        <p:spPr>
          <a:xfrm>
            <a:off x="548640" y="1920240"/>
            <a:ext cx="6035040" cy="1828800"/>
          </a:xfrm>
          <a:prstGeom prst="rect">
            <a:avLst/>
          </a:prstGeom>
          <a:noFill/>
          <a:ln/>
        </p:spPr>
        <p:txBody>
          <a:bodyPr wrap="square" rtlCol="0" anchor="ctr"/>
          <a:lstStyle/>
          <a:p>
            <a:pPr indent="0" marL="0">
              <a:lnSpc>
                <a:spcPct val="140000"/>
              </a:lnSpc>
              <a:buNone/>
            </a:pPr>
            <a:r>
              <a:rPr lang="en-US" sz="1400" dirty="0">
                <a:solidFill>
                  <a:srgbClr val="9E9789"/>
                </a:solidFill>
                <a:latin typeface="Calibri" pitchFamily="34" charset="0"/>
                <a:ea typeface="Calibri" pitchFamily="34" charset="-122"/>
                <a:cs typeface="Calibri" pitchFamily="34" charset="-120"/>
              </a:rPr>
              <a:t>Every static draft forced a choice: show the cocktail bar and lose the breakfast crowd, or show breakfast and bury the thing everyone actually remembers the place for. The reframe: the venue already changes its whole identity four times a day — breakfast, lunch, dinner, party. So let the website do the same thing, automatically, tied to the guest's real local time.</a:t>
            </a:r>
            <a:endParaRPr lang="en-US" sz="1400" dirty="0"/>
          </a:p>
        </p:txBody>
      </p:sp>
      <p:sp>
        <p:nvSpPr>
          <p:cNvPr id="5" name="Text 3"/>
          <p:cNvSpPr/>
          <p:nvPr/>
        </p:nvSpPr>
        <p:spPr>
          <a:xfrm>
            <a:off x="548640" y="3931920"/>
            <a:ext cx="6035040" cy="1554480"/>
          </a:xfrm>
          <a:prstGeom prst="rect">
            <a:avLst/>
          </a:prstGeom>
          <a:noFill/>
          <a:ln/>
        </p:spPr>
        <p:txBody>
          <a:bodyPr wrap="square" rtlCol="0" anchor="ctr"/>
          <a:lstStyle/>
          <a:p>
            <a:pPr indent="0" marL="0">
              <a:lnSpc>
                <a:spcPct val="135000"/>
              </a:lnSpc>
              <a:buNone/>
            </a:pPr>
            <a:r>
              <a:rPr lang="en-US" sz="1300" i="1" dirty="0">
                <a:solidFill>
                  <a:srgbClr val="F3E9D2"/>
                </a:solidFill>
                <a:latin typeface="Calibri" pitchFamily="34" charset="0"/>
                <a:ea typeface="Calibri" pitchFamily="34" charset="-122"/>
                <a:cs typeface="Calibri" pitchFamily="34" charset="-120"/>
              </a:rPr>
              <a:t>One constraint shaped the mechanic more than any other: hospitality's "no-clock rule" — good service makes guests lose track of time, so the hero could never show a literal clock or countdown. The heat slider solves this by implying time through a metaphor (mild → on fire) instead of stating it.</a:t>
            </a:r>
            <a:endParaRPr lang="en-US" sz="1300" dirty="0"/>
          </a:p>
        </p:txBody>
      </p:sp>
      <p:sp>
        <p:nvSpPr>
          <p:cNvPr id="6" name="Shape 4"/>
          <p:cNvSpPr/>
          <p:nvPr/>
        </p:nvSpPr>
        <p:spPr>
          <a:xfrm>
            <a:off x="7040880" y="2377440"/>
            <a:ext cx="1005840" cy="1005840"/>
          </a:xfrm>
          <a:prstGeom prst="ellipse">
            <a:avLst/>
          </a:prstGeom>
          <a:solidFill>
            <a:srgbClr val="D4E671"/>
          </a:solidFill>
          <a:ln/>
        </p:spPr>
        <p:txBody>
          <a:bodyPr/>
          <a:p/>
        </p:txBody>
      </p:sp>
      <p:sp>
        <p:nvSpPr>
          <p:cNvPr id="7" name="Text 5"/>
          <p:cNvSpPr/>
          <p:nvPr/>
        </p:nvSpPr>
        <p:spPr>
          <a:xfrm>
            <a:off x="6720840" y="3520440"/>
            <a:ext cx="1645920" cy="320040"/>
          </a:xfrm>
          <a:prstGeom prst="rect">
            <a:avLst/>
          </a:prstGeom>
          <a:noFill/>
          <a:ln/>
        </p:spPr>
        <p:txBody>
          <a:bodyPr wrap="square" rtlCol="0" anchor="ctr"/>
          <a:lstStyle/>
          <a:p>
            <a:pPr algn="ctr" indent="0" marL="0">
              <a:buNone/>
            </a:pPr>
            <a:r>
              <a:rPr lang="en-US" sz="1100" b="1" spc="50" kern="0" dirty="0">
                <a:solidFill>
                  <a:srgbClr val="F3E9D2"/>
                </a:solidFill>
                <a:latin typeface="Arial" pitchFamily="34" charset="0"/>
                <a:ea typeface="Arial" pitchFamily="34" charset="-122"/>
                <a:cs typeface="Arial" pitchFamily="34" charset="-120"/>
              </a:rPr>
              <a:t>BREAKFAST</a:t>
            </a:r>
            <a:endParaRPr lang="en-US" sz="1100" dirty="0"/>
          </a:p>
        </p:txBody>
      </p:sp>
      <p:sp>
        <p:nvSpPr>
          <p:cNvPr id="8" name="Text 6"/>
          <p:cNvSpPr/>
          <p:nvPr/>
        </p:nvSpPr>
        <p:spPr>
          <a:xfrm>
            <a:off x="6720840" y="3822192"/>
            <a:ext cx="1645920" cy="274320"/>
          </a:xfrm>
          <a:prstGeom prst="rect">
            <a:avLst/>
          </a:prstGeom>
          <a:noFill/>
          <a:ln/>
        </p:spPr>
        <p:txBody>
          <a:bodyPr wrap="square" rtlCol="0" anchor="ctr"/>
          <a:lstStyle/>
          <a:p>
            <a:pPr algn="ctr" indent="0" marL="0">
              <a:buNone/>
            </a:pPr>
            <a:r>
              <a:rPr lang="en-US" sz="1000" i="1" dirty="0">
                <a:solidFill>
                  <a:srgbClr val="9E9789"/>
                </a:solidFill>
                <a:latin typeface="Calibri" pitchFamily="34" charset="0"/>
                <a:ea typeface="Calibri" pitchFamily="34" charset="-122"/>
                <a:cs typeface="Calibri" pitchFamily="34" charset="-120"/>
              </a:rPr>
              <a:t>mild</a:t>
            </a:r>
            <a:endParaRPr lang="en-US" sz="1000" dirty="0"/>
          </a:p>
        </p:txBody>
      </p:sp>
      <p:sp>
        <p:nvSpPr>
          <p:cNvPr id="9" name="Shape 7"/>
          <p:cNvSpPr/>
          <p:nvPr/>
        </p:nvSpPr>
        <p:spPr>
          <a:xfrm>
            <a:off x="8366760" y="2377440"/>
            <a:ext cx="1005840" cy="1005840"/>
          </a:xfrm>
          <a:prstGeom prst="ellipse">
            <a:avLst/>
          </a:prstGeom>
          <a:solidFill>
            <a:srgbClr val="C1DB34"/>
          </a:solidFill>
          <a:ln/>
        </p:spPr>
        <p:txBody>
          <a:bodyPr/>
          <a:p/>
        </p:txBody>
      </p:sp>
      <p:sp>
        <p:nvSpPr>
          <p:cNvPr id="10" name="Text 8"/>
          <p:cNvSpPr/>
          <p:nvPr/>
        </p:nvSpPr>
        <p:spPr>
          <a:xfrm>
            <a:off x="8046720" y="3520440"/>
            <a:ext cx="1645920" cy="320040"/>
          </a:xfrm>
          <a:prstGeom prst="rect">
            <a:avLst/>
          </a:prstGeom>
          <a:noFill/>
          <a:ln/>
        </p:spPr>
        <p:txBody>
          <a:bodyPr wrap="square" rtlCol="0" anchor="ctr"/>
          <a:lstStyle/>
          <a:p>
            <a:pPr algn="ctr" indent="0" marL="0">
              <a:buNone/>
            </a:pPr>
            <a:r>
              <a:rPr lang="en-US" sz="1100" b="1" spc="50" kern="0" dirty="0">
                <a:solidFill>
                  <a:srgbClr val="F3E9D2"/>
                </a:solidFill>
                <a:latin typeface="Arial" pitchFamily="34" charset="0"/>
                <a:ea typeface="Arial" pitchFamily="34" charset="-122"/>
                <a:cs typeface="Arial" pitchFamily="34" charset="-120"/>
              </a:rPr>
              <a:t>LUNCH</a:t>
            </a:r>
            <a:endParaRPr lang="en-US" sz="1100" dirty="0"/>
          </a:p>
        </p:txBody>
      </p:sp>
      <p:sp>
        <p:nvSpPr>
          <p:cNvPr id="11" name="Text 9"/>
          <p:cNvSpPr/>
          <p:nvPr/>
        </p:nvSpPr>
        <p:spPr>
          <a:xfrm>
            <a:off x="8046720" y="3822192"/>
            <a:ext cx="1645920" cy="274320"/>
          </a:xfrm>
          <a:prstGeom prst="rect">
            <a:avLst/>
          </a:prstGeom>
          <a:noFill/>
          <a:ln/>
        </p:spPr>
        <p:txBody>
          <a:bodyPr wrap="square" rtlCol="0" anchor="ctr"/>
          <a:lstStyle/>
          <a:p>
            <a:pPr algn="ctr" indent="0" marL="0">
              <a:buNone/>
            </a:pPr>
            <a:r>
              <a:rPr lang="en-US" sz="1000" i="1" dirty="0">
                <a:solidFill>
                  <a:srgbClr val="9E9789"/>
                </a:solidFill>
                <a:latin typeface="Calibri" pitchFamily="34" charset="0"/>
                <a:ea typeface="Calibri" pitchFamily="34" charset="-122"/>
                <a:cs typeface="Calibri" pitchFamily="34" charset="-120"/>
              </a:rPr>
              <a:t>warm</a:t>
            </a:r>
            <a:endParaRPr lang="en-US" sz="1000" dirty="0"/>
          </a:p>
        </p:txBody>
      </p:sp>
      <p:sp>
        <p:nvSpPr>
          <p:cNvPr id="12" name="Shape 10"/>
          <p:cNvSpPr/>
          <p:nvPr/>
        </p:nvSpPr>
        <p:spPr>
          <a:xfrm>
            <a:off x="9692640" y="2377440"/>
            <a:ext cx="1005840" cy="1005840"/>
          </a:xfrm>
          <a:prstGeom prst="ellipse">
            <a:avLst/>
          </a:prstGeom>
          <a:solidFill>
            <a:srgbClr val="EF6D44"/>
          </a:solidFill>
          <a:ln/>
        </p:spPr>
        <p:txBody>
          <a:bodyPr/>
          <a:p/>
        </p:txBody>
      </p:sp>
      <p:sp>
        <p:nvSpPr>
          <p:cNvPr id="13" name="Text 11"/>
          <p:cNvSpPr/>
          <p:nvPr/>
        </p:nvSpPr>
        <p:spPr>
          <a:xfrm>
            <a:off x="9372600" y="3520440"/>
            <a:ext cx="1645920" cy="320040"/>
          </a:xfrm>
          <a:prstGeom prst="rect">
            <a:avLst/>
          </a:prstGeom>
          <a:noFill/>
          <a:ln/>
        </p:spPr>
        <p:txBody>
          <a:bodyPr wrap="square" rtlCol="0" anchor="ctr"/>
          <a:lstStyle/>
          <a:p>
            <a:pPr algn="ctr" indent="0" marL="0">
              <a:buNone/>
            </a:pPr>
            <a:r>
              <a:rPr lang="en-US" sz="1100" b="1" spc="50" kern="0" dirty="0">
                <a:solidFill>
                  <a:srgbClr val="F3E9D2"/>
                </a:solidFill>
                <a:latin typeface="Arial" pitchFamily="34" charset="0"/>
                <a:ea typeface="Arial" pitchFamily="34" charset="-122"/>
                <a:cs typeface="Arial" pitchFamily="34" charset="-120"/>
              </a:rPr>
              <a:t>DINNER</a:t>
            </a:r>
            <a:endParaRPr lang="en-US" sz="1100" dirty="0"/>
          </a:p>
        </p:txBody>
      </p:sp>
      <p:sp>
        <p:nvSpPr>
          <p:cNvPr id="14" name="Text 12"/>
          <p:cNvSpPr/>
          <p:nvPr/>
        </p:nvSpPr>
        <p:spPr>
          <a:xfrm>
            <a:off x="9372600" y="3822192"/>
            <a:ext cx="1645920" cy="274320"/>
          </a:xfrm>
          <a:prstGeom prst="rect">
            <a:avLst/>
          </a:prstGeom>
          <a:noFill/>
          <a:ln/>
        </p:spPr>
        <p:txBody>
          <a:bodyPr wrap="square" rtlCol="0" anchor="ctr"/>
          <a:lstStyle/>
          <a:p>
            <a:pPr algn="ctr" indent="0" marL="0">
              <a:buNone/>
            </a:pPr>
            <a:r>
              <a:rPr lang="en-US" sz="1000" i="1" dirty="0">
                <a:solidFill>
                  <a:srgbClr val="9E9789"/>
                </a:solidFill>
                <a:latin typeface="Calibri" pitchFamily="34" charset="0"/>
                <a:ea typeface="Calibri" pitchFamily="34" charset="-122"/>
                <a:cs typeface="Calibri" pitchFamily="34" charset="-120"/>
              </a:rPr>
              <a:t>spicy</a:t>
            </a:r>
            <a:endParaRPr lang="en-US" sz="1000" dirty="0"/>
          </a:p>
        </p:txBody>
      </p:sp>
      <p:sp>
        <p:nvSpPr>
          <p:cNvPr id="15" name="Shape 13"/>
          <p:cNvSpPr/>
          <p:nvPr/>
        </p:nvSpPr>
        <p:spPr>
          <a:xfrm>
            <a:off x="11018520" y="2377440"/>
            <a:ext cx="1005840" cy="1005840"/>
          </a:xfrm>
          <a:prstGeom prst="ellipse">
            <a:avLst/>
          </a:prstGeom>
          <a:solidFill>
            <a:srgbClr val="E34314"/>
          </a:solidFill>
          <a:ln/>
        </p:spPr>
        <p:txBody>
          <a:bodyPr/>
          <a:p/>
        </p:txBody>
      </p:sp>
      <p:sp>
        <p:nvSpPr>
          <p:cNvPr id="16" name="Text 14"/>
          <p:cNvSpPr/>
          <p:nvPr/>
        </p:nvSpPr>
        <p:spPr>
          <a:xfrm>
            <a:off x="10698480" y="3520440"/>
            <a:ext cx="1645920" cy="320040"/>
          </a:xfrm>
          <a:prstGeom prst="rect">
            <a:avLst/>
          </a:prstGeom>
          <a:noFill/>
          <a:ln/>
        </p:spPr>
        <p:txBody>
          <a:bodyPr wrap="square" rtlCol="0" anchor="ctr"/>
          <a:lstStyle/>
          <a:p>
            <a:pPr algn="ctr" indent="0" marL="0">
              <a:buNone/>
            </a:pPr>
            <a:r>
              <a:rPr lang="en-US" sz="1100" b="1" spc="50" kern="0" dirty="0">
                <a:solidFill>
                  <a:srgbClr val="F3E9D2"/>
                </a:solidFill>
                <a:latin typeface="Arial" pitchFamily="34" charset="0"/>
                <a:ea typeface="Arial" pitchFamily="34" charset="-122"/>
                <a:cs typeface="Arial" pitchFamily="34" charset="-120"/>
              </a:rPr>
              <a:t>PARTY</a:t>
            </a:r>
            <a:endParaRPr lang="en-US" sz="1100" dirty="0"/>
          </a:p>
        </p:txBody>
      </p:sp>
      <p:sp>
        <p:nvSpPr>
          <p:cNvPr id="17" name="Text 15"/>
          <p:cNvSpPr/>
          <p:nvPr/>
        </p:nvSpPr>
        <p:spPr>
          <a:xfrm>
            <a:off x="10698480" y="3822192"/>
            <a:ext cx="1645920" cy="274320"/>
          </a:xfrm>
          <a:prstGeom prst="rect">
            <a:avLst/>
          </a:prstGeom>
          <a:noFill/>
          <a:ln/>
        </p:spPr>
        <p:txBody>
          <a:bodyPr wrap="square" rtlCol="0" anchor="ctr"/>
          <a:lstStyle/>
          <a:p>
            <a:pPr algn="ctr" indent="0" marL="0">
              <a:buNone/>
            </a:pPr>
            <a:r>
              <a:rPr lang="en-US" sz="1000" i="1" dirty="0">
                <a:solidFill>
                  <a:srgbClr val="9E9789"/>
                </a:solidFill>
                <a:latin typeface="Calibri" pitchFamily="34" charset="0"/>
                <a:ea typeface="Calibri" pitchFamily="34" charset="-122"/>
                <a:cs typeface="Calibri" pitchFamily="34" charset="-120"/>
              </a:rPr>
              <a:t>on fire</a:t>
            </a:r>
            <a:endParaRPr lang="en-US" sz="1000" dirty="0"/>
          </a:p>
        </p:txBody>
      </p:sp>
      <p:sp>
        <p:nvSpPr>
          <p:cNvPr id="18" name="Shape 16"/>
          <p:cNvSpPr/>
          <p:nvPr/>
        </p:nvSpPr>
        <p:spPr>
          <a:xfrm>
            <a:off x="7543800" y="2880360"/>
            <a:ext cx="3977640" cy="0"/>
          </a:xfrm>
          <a:prstGeom prst="line">
            <a:avLst/>
          </a:prstGeom>
          <a:noFill/>
          <a:ln w="19050">
            <a:solidFill>
              <a:srgbClr val="9E9789"/>
            </a:solidFill>
            <a:prstDash val="dash"/>
          </a:ln>
        </p:spPr>
        <p:txBody>
          <a:bodyPr/>
          <a:p/>
        </p:txBody>
      </p:sp>
      <p:sp>
        <p:nvSpPr>
          <p:cNvPr id="19" name="Text 17"/>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0" name="Text 18"/>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09 / 39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SOLUTION · THE HERO, FINAL FORM</a:t>
            </a:r>
            <a:endParaRPr lang="en-US" sz="1300" dirty="0"/>
          </a:p>
        </p:txBody>
      </p:sp>
      <p:sp>
        <p:nvSpPr>
          <p:cNvPr id="3" name="Text 1"/>
          <p:cNvSpPr/>
          <p:nvPr/>
        </p:nvSpPr>
        <p:spPr>
          <a:xfrm>
            <a:off x="548640" y="731520"/>
            <a:ext cx="7315200" cy="731520"/>
          </a:xfrm>
          <a:prstGeom prst="rect">
            <a:avLst/>
          </a:prstGeom>
          <a:noFill/>
          <a:ln/>
        </p:spPr>
        <p:txBody>
          <a:bodyPr wrap="square" rtlCol="0" anchor="ctr"/>
          <a:lstStyle/>
          <a:p>
            <a:pPr indent="0" marL="0">
              <a:buNone/>
            </a:pPr>
            <a:r>
              <a:rPr lang="en-US" sz="3000" b="1" dirty="0">
                <a:solidFill>
                  <a:srgbClr val="151317"/>
                </a:solidFill>
                <a:latin typeface="Arial" pitchFamily="34" charset="0"/>
                <a:ea typeface="Arial" pitchFamily="34" charset="-122"/>
                <a:cs typeface="Arial" pitchFamily="34" charset="-120"/>
              </a:rPr>
              <a:t>ONE HERO, TWO STATES</a:t>
            </a:r>
            <a:endParaRPr lang="en-US" sz="3000" dirty="0"/>
          </a:p>
        </p:txBody>
      </p:sp>
      <p:sp>
        <p:nvSpPr>
          <p:cNvPr id="4" name="Text 2"/>
          <p:cNvSpPr/>
          <p:nvPr/>
        </p:nvSpPr>
        <p:spPr>
          <a:xfrm>
            <a:off x="548640" y="1371600"/>
            <a:ext cx="10789920" cy="502920"/>
          </a:xfrm>
          <a:prstGeom prst="rect">
            <a:avLst/>
          </a:prstGeom>
          <a:noFill/>
          <a:ln/>
        </p:spPr>
        <p:txBody>
          <a:bodyPr wrap="square" rtlCol="0" anchor="ctr"/>
          <a:lstStyle/>
          <a:p>
            <a:pPr indent="0" marL="0">
              <a:buNone/>
            </a:pPr>
            <a:r>
              <a:rPr lang="en-US" sz="1250" dirty="0">
                <a:solidFill>
                  <a:srgbClr val="54513F"/>
                </a:solidFill>
                <a:latin typeface="Calibri" pitchFamily="34" charset="0"/>
                <a:ea typeface="Calibri" pitchFamily="34" charset="-122"/>
                <a:cs typeface="Calibri" pitchFamily="34" charset="-120"/>
              </a:rPr>
              <a:t>The final edit: the heat slider became a visual slider — four photo tiles, one per daypart, at every width. The call was made on evidence: a mobile-first audience (the rail favoured desktop), usability, and A/B results — then refined in the browser, where the cards grew until the selected tile carried the composition.</a:t>
            </a:r>
            <a:endParaRPr lang="en-US" sz="1250" dirty="0"/>
          </a:p>
        </p:txBody>
      </p:sp>
      <p:pic>
        <p:nvPicPr>
          <p:cNvPr id="5" name="Image 0" descr="/sessions/bold-gracious-fermi/mnt/outputs/sweet-case-study/assets/day-hero-crop.png">    </p:cNvPr>
          <p:cNvPicPr>
            <a:picLocks noChangeAspect="1"/>
          </p:cNvPicPr>
          <p:nvPr/>
        </p:nvPicPr>
        <p:blipFill>
          <a:blip r:embed="rId5"/>
          <a:srcRect/>
          <a:stretch/>
        </p:blipFill>
        <p:spPr>
          <a:xfrm>
            <a:off x="548640" y="2057400"/>
            <a:ext cx="5440680" cy="3536442"/>
          </a:xfrm>
          <a:prstGeom prst="rect">
            <a:avLst/>
          </a:prstGeom>
        </p:spPr>
      </p:pic>
      <p:pic>
        <p:nvPicPr>
          <p:cNvPr id="6" name="Image 1" descr="/sessions/bold-gracious-fermi/mnt/outputs/sweet-case-study/assets/night-hero-crop.png">    </p:cNvPr>
          <p:cNvPicPr>
            <a:picLocks noChangeAspect="1"/>
          </p:cNvPicPr>
          <p:nvPr/>
        </p:nvPicPr>
        <p:blipFill>
          <a:blip r:embed="rId6"/>
          <a:srcRect/>
          <a:stretch/>
        </p:blipFill>
        <p:spPr>
          <a:xfrm>
            <a:off x="6172200" y="2057400"/>
            <a:ext cx="5440680" cy="3536442"/>
          </a:xfrm>
          <a:prstGeom prst="rect">
            <a:avLst/>
          </a:prstGeom>
        </p:spPr>
      </p:pic>
      <p:sp>
        <p:nvSpPr>
          <p:cNvPr id="7" name="Text 3"/>
          <p:cNvSpPr/>
          <p:nvPr/>
        </p:nvSpPr>
        <p:spPr>
          <a:xfrm>
            <a:off x="548640" y="6355080"/>
            <a:ext cx="5440680" cy="274320"/>
          </a:xfrm>
          <a:prstGeom prst="rect">
            <a:avLst/>
          </a:prstGeom>
          <a:noFill/>
          <a:ln/>
        </p:spPr>
        <p:txBody>
          <a:bodyPr wrap="square" rtlCol="0" anchor="ctr"/>
          <a:lstStyle/>
          <a:p>
            <a:pPr indent="0" marL="0">
              <a:buNone/>
            </a:pPr>
            <a:r>
              <a:rPr lang="en-US" sz="1150" b="1" dirty="0">
                <a:solidFill>
                  <a:srgbClr val="737D3A"/>
                </a:solidFill>
                <a:latin typeface="Arial" pitchFamily="34" charset="0"/>
                <a:ea typeface="Arial" pitchFamily="34" charset="-122"/>
                <a:cs typeface="Arial" pitchFamily="34" charset="-120"/>
              </a:rPr>
              <a:t>DAY — "YUMMY MORNING!"</a:t>
            </a:r>
            <a:endParaRPr lang="en-US" sz="1150" dirty="0"/>
          </a:p>
        </p:txBody>
      </p:sp>
      <p:sp>
        <p:nvSpPr>
          <p:cNvPr id="8" name="Text 4"/>
          <p:cNvSpPr/>
          <p:nvPr/>
        </p:nvSpPr>
        <p:spPr>
          <a:xfrm>
            <a:off x="6172200" y="6355080"/>
            <a:ext cx="5440680" cy="274320"/>
          </a:xfrm>
          <a:prstGeom prst="rect">
            <a:avLst/>
          </a:prstGeom>
          <a:noFill/>
          <a:ln/>
        </p:spPr>
        <p:txBody>
          <a:bodyPr wrap="square" rtlCol="0" anchor="ctr"/>
          <a:lstStyle/>
          <a:p>
            <a:pPr indent="0" marL="0">
              <a:buNone/>
            </a:pPr>
            <a:r>
              <a:rPr lang="en-US" sz="1150" b="1" dirty="0">
                <a:solidFill>
                  <a:srgbClr val="C1DB34"/>
                </a:solidFill>
                <a:latin typeface="Arial" pitchFamily="34" charset="0"/>
                <a:ea typeface="Arial" pitchFamily="34" charset="-122"/>
                <a:cs typeface="Arial" pitchFamily="34" charset="-120"/>
              </a:rPr>
              <a:t>NIGHT — "READY FOR TONIGHT?"</a:t>
            </a:r>
            <a:endParaRPr lang="en-US" sz="1150" dirty="0"/>
          </a:p>
        </p:txBody>
      </p:sp>
      <p:sp>
        <p:nvSpPr>
          <p:cNvPr id="9" name="Text 5"/>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10 / 39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HEAT CONTROL</a:t>
            </a:r>
            <a:endParaRPr lang="en-US" sz="1300" dirty="0"/>
          </a:p>
        </p:txBody>
      </p:sp>
      <p:sp>
        <p:nvSpPr>
          <p:cNvPr id="3" name="Text 1"/>
          <p:cNvSpPr/>
          <p:nvPr/>
        </p:nvSpPr>
        <p:spPr>
          <a:xfrm>
            <a:off x="548640" y="731520"/>
            <a:ext cx="6583680" cy="1005840"/>
          </a:xfrm>
          <a:prstGeom prst="rect">
            <a:avLst/>
          </a:prstGeom>
          <a:noFill/>
          <a:ln/>
        </p:spPr>
        <p:txBody>
          <a:bodyPr wrap="square" rtlCol="0" anchor="ctr"/>
          <a:lstStyle/>
          <a:p>
            <a:pPr indent="0" marL="0">
              <a:buNone/>
            </a:pPr>
            <a:r>
              <a:rPr lang="en-US" sz="2300" b="1" dirty="0">
                <a:solidFill>
                  <a:srgbClr val="F3E9D2"/>
                </a:solidFill>
                <a:latin typeface="Arial" pitchFamily="34" charset="0"/>
                <a:ea typeface="Arial" pitchFamily="34" charset="-122"/>
                <a:cs typeface="Arial" pitchFamily="34" charset="-120"/>
              </a:rPr>
              <a:t>A CONTROL THAT TELLS THE TRUTH WITHOUT A CLOCK</a:t>
            </a:r>
            <a:endParaRPr lang="en-US" sz="2300" dirty="0"/>
          </a:p>
        </p:txBody>
      </p:sp>
      <p:sp>
        <p:nvSpPr>
          <p:cNvPr id="4" name="Text 2"/>
          <p:cNvSpPr/>
          <p:nvPr/>
        </p:nvSpPr>
        <p:spPr>
          <a:xfrm>
            <a:off x="548640" y="1828800"/>
            <a:ext cx="6400800" cy="320040"/>
          </a:xfrm>
          <a:prstGeom prst="rect">
            <a:avLst/>
          </a:prstGeom>
          <a:noFill/>
          <a:ln/>
        </p:spPr>
        <p:txBody>
          <a:bodyPr wrap="square" rtlCol="0" anchor="ctr"/>
          <a:lstStyle/>
          <a:p>
            <a:pPr indent="0" marL="0">
              <a:buNone/>
            </a:pPr>
            <a:r>
              <a:rPr lang="en-US" sz="1350" b="1" spc="50" kern="0" dirty="0">
                <a:solidFill>
                  <a:srgbClr val="E34314"/>
                </a:solidFill>
                <a:latin typeface="Arial" pitchFamily="34" charset="0"/>
                <a:ea typeface="Arial" pitchFamily="34" charset="-122"/>
                <a:cs typeface="Arial" pitchFamily="34" charset="-120"/>
              </a:rPr>
              <a:t>A PHOTO PER DAYPART</a:t>
            </a:r>
            <a:endParaRPr lang="en-US" sz="1350" dirty="0"/>
          </a:p>
        </p:txBody>
      </p:sp>
      <p:sp>
        <p:nvSpPr>
          <p:cNvPr id="5" name="Text 3"/>
          <p:cNvSpPr/>
          <p:nvPr/>
        </p:nvSpPr>
        <p:spPr>
          <a:xfrm>
            <a:off x="548640" y="2176272"/>
            <a:ext cx="6400800" cy="777240"/>
          </a:xfrm>
          <a:prstGeom prst="rect">
            <a:avLst/>
          </a:prstGeom>
          <a:noFill/>
          <a:ln/>
        </p:spPr>
        <p:txBody>
          <a:bodyPr wrap="square" rtlCol="0" anchor="ctr"/>
          <a:lstStyle/>
          <a:p>
            <a:pPr indent="0" marL="0">
              <a:lnSpc>
                <a:spcPct val="130000"/>
              </a:lnSpc>
              <a:buNone/>
            </a:pPr>
            <a:r>
              <a:rPr lang="en-US" sz="1200" dirty="0">
                <a:solidFill>
                  <a:srgbClr val="9E9789"/>
                </a:solidFill>
                <a:latin typeface="Calibri" pitchFamily="34" charset="0"/>
                <a:ea typeface="Calibri" pitchFamily="34" charset="-122"/>
                <a:cs typeface="Calibri" pitchFamily="34" charset="-120"/>
              </a:rPr>
              <a:t>Each tile is an art-directed photograph — eggs say "morning here" faster than the word BREAKFAST, in both languages at once. The selected tile is the large one: size carries state, so the grid is the scale.</a:t>
            </a:r>
            <a:endParaRPr lang="en-US" sz="1200" dirty="0"/>
          </a:p>
        </p:txBody>
      </p:sp>
      <p:sp>
        <p:nvSpPr>
          <p:cNvPr id="6" name="Text 4"/>
          <p:cNvSpPr/>
          <p:nvPr/>
        </p:nvSpPr>
        <p:spPr>
          <a:xfrm>
            <a:off x="548640" y="3035808"/>
            <a:ext cx="6400800" cy="320040"/>
          </a:xfrm>
          <a:prstGeom prst="rect">
            <a:avLst/>
          </a:prstGeom>
          <a:noFill/>
          <a:ln/>
        </p:spPr>
        <p:txBody>
          <a:bodyPr wrap="square" rtlCol="0" anchor="ctr"/>
          <a:lstStyle/>
          <a:p>
            <a:pPr indent="0" marL="0">
              <a:buNone/>
            </a:pPr>
            <a:r>
              <a:rPr lang="en-US" sz="1350" b="1" spc="50" kern="0" dirty="0">
                <a:solidFill>
                  <a:srgbClr val="E34314"/>
                </a:solidFill>
                <a:latin typeface="Arial" pitchFamily="34" charset="0"/>
                <a:ea typeface="Arial" pitchFamily="34" charset="-122"/>
                <a:cs typeface="Arial" pitchFamily="34" charset="-120"/>
              </a:rPr>
              <a:t>"NOW" IS NEVER LOST</a:t>
            </a:r>
            <a:endParaRPr lang="en-US" sz="1350" dirty="0"/>
          </a:p>
        </p:txBody>
      </p:sp>
      <p:sp>
        <p:nvSpPr>
          <p:cNvPr id="7" name="Text 5"/>
          <p:cNvSpPr/>
          <p:nvPr/>
        </p:nvSpPr>
        <p:spPr>
          <a:xfrm>
            <a:off x="548640" y="3383280"/>
            <a:ext cx="6400800" cy="777240"/>
          </a:xfrm>
          <a:prstGeom prst="rect">
            <a:avLst/>
          </a:prstGeom>
          <a:noFill/>
          <a:ln/>
        </p:spPr>
        <p:txBody>
          <a:bodyPr wrap="square" rtlCol="0" anchor="ctr"/>
          <a:lstStyle/>
          <a:p>
            <a:pPr indent="0" marL="0">
              <a:lnSpc>
                <a:spcPct val="130000"/>
              </a:lnSpc>
              <a:buNone/>
            </a:pPr>
            <a:r>
              <a:rPr lang="en-US" sz="1200" dirty="0">
                <a:solidFill>
                  <a:srgbClr val="9E9789"/>
                </a:solidFill>
                <a:latin typeface="Calibri" pitchFamily="34" charset="0"/>
                <a:ea typeface="Calibri" pitchFamily="34" charset="-122"/>
                <a:cs typeface="Calibri" pitchFamily="34" charset="-120"/>
              </a:rPr>
              <a:t>A separate pill marks the real current daypart even while a guest previews another tile — selection and now are two axes, and the peek never overwrites the truth.</a:t>
            </a:r>
            <a:endParaRPr lang="en-US" sz="1200" dirty="0"/>
          </a:p>
        </p:txBody>
      </p:sp>
      <p:sp>
        <p:nvSpPr>
          <p:cNvPr id="8" name="Text 6"/>
          <p:cNvSpPr/>
          <p:nvPr/>
        </p:nvSpPr>
        <p:spPr>
          <a:xfrm>
            <a:off x="548640" y="4242816"/>
            <a:ext cx="6400800" cy="320040"/>
          </a:xfrm>
          <a:prstGeom prst="rect">
            <a:avLst/>
          </a:prstGeom>
          <a:noFill/>
          <a:ln/>
        </p:spPr>
        <p:txBody>
          <a:bodyPr wrap="square" rtlCol="0" anchor="ctr"/>
          <a:lstStyle/>
          <a:p>
            <a:pPr indent="0" marL="0">
              <a:buNone/>
            </a:pPr>
            <a:r>
              <a:rPr lang="en-US" sz="1350" b="1" spc="50" kern="0" dirty="0">
                <a:solidFill>
                  <a:srgbClr val="E34314"/>
                </a:solidFill>
                <a:latin typeface="Arial" pitchFamily="34" charset="0"/>
                <a:ea typeface="Arial" pitchFamily="34" charset="-122"/>
                <a:cs typeface="Arial" pitchFamily="34" charset="-120"/>
              </a:rPr>
              <a:t>ONE STATUS LINE, FOUR MEANINGS</a:t>
            </a:r>
            <a:endParaRPr lang="en-US" sz="1350" dirty="0"/>
          </a:p>
        </p:txBody>
      </p:sp>
      <p:sp>
        <p:nvSpPr>
          <p:cNvPr id="9" name="Text 7"/>
          <p:cNvSpPr/>
          <p:nvPr/>
        </p:nvSpPr>
        <p:spPr>
          <a:xfrm>
            <a:off x="548640" y="4590288"/>
            <a:ext cx="6400800" cy="777240"/>
          </a:xfrm>
          <a:prstGeom prst="rect">
            <a:avLst/>
          </a:prstGeom>
          <a:noFill/>
          <a:ln/>
        </p:spPr>
        <p:txBody>
          <a:bodyPr wrap="square" rtlCol="0" anchor="ctr"/>
          <a:lstStyle/>
          <a:p>
            <a:pPr indent="0" marL="0">
              <a:lnSpc>
                <a:spcPct val="130000"/>
              </a:lnSpc>
              <a:buNone/>
            </a:pPr>
            <a:r>
              <a:rPr lang="en-US" sz="1200" dirty="0">
                <a:solidFill>
                  <a:srgbClr val="9E9789"/>
                </a:solidFill>
                <a:latin typeface="Calibri" pitchFamily="34" charset="0"/>
                <a:ea typeface="Calibri" pitchFamily="34" charset="-122"/>
                <a:cs typeface="Calibri" pitchFamily="34" charset="-120"/>
              </a:rPr>
              <a:t>"The kitchen's on — no rush" persists across every state — informative without ever becoming a countdown.</a:t>
            </a:r>
            <a:endParaRPr lang="en-US" sz="1200" dirty="0"/>
          </a:p>
        </p:txBody>
      </p:sp>
      <p:sp>
        <p:nvSpPr>
          <p:cNvPr id="10" name="Shape 8"/>
          <p:cNvSpPr/>
          <p:nvPr/>
        </p:nvSpPr>
        <p:spPr>
          <a:xfrm>
            <a:off x="7360920" y="1417320"/>
            <a:ext cx="4297680" cy="4937760"/>
          </a:xfrm>
          <a:prstGeom prst="rect">
            <a:avLst/>
          </a:prstGeom>
          <a:solidFill>
            <a:srgbClr val="0B0A0C"/>
          </a:solidFill>
          <a:ln/>
          <a:effectLst>
            <a:outerShdw sx="100000" sy="100000" kx="0" ky="0" algn="bl" rotWithShape="0" blurRad="127000" dist="50800" dir="5400000">
              <a:srgbClr val="000000">
                <a:alpha val="20000"/>
              </a:srgbClr>
            </a:outerShdw>
          </a:effectLst>
        </p:spPr>
        <p:txBody>
          <a:bodyPr/>
          <a:p/>
        </p:txBody>
      </p:sp>
      <p:pic>
        <p:nvPicPr>
          <p:cNvPr id="11" name="Image 0" descr="/sessions/bold-gracious-fermi/mnt/outputs/sweet-case-study/assets/heat-control.jpg">    </p:cNvPr>
          <p:cNvPicPr>
            <a:picLocks noChangeAspect="1"/>
          </p:cNvPicPr>
          <p:nvPr/>
        </p:nvPicPr>
        <p:blipFill>
          <a:blip r:embed="rId4"/>
          <a:srcRect t="0" b="0"/>
          <a:stretch/>
        </p:blipFill>
        <p:spPr>
          <a:xfrm>
            <a:off x="7614920" y="2654554"/>
            <a:ext cx="3789680" cy="2463292"/>
          </a:xfrm>
          <a:prstGeom prst="rect">
            <a:avLst/>
          </a:prstGeom>
        </p:spPr>
      </p:pic>
      <p:sp>
        <p:nvSpPr>
          <p:cNvPr id="12" name="Text 9"/>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3" name="Text 10"/>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11 / 39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PROCESS · AI-ASSISTED PROTOTYPING</a:t>
            </a:r>
            <a:endParaRPr lang="en-US" sz="1300" dirty="0"/>
          </a:p>
        </p:txBody>
      </p:sp>
      <p:sp>
        <p:nvSpPr>
          <p:cNvPr id="3" name="Text 1"/>
          <p:cNvSpPr/>
          <p:nvPr/>
        </p:nvSpPr>
        <p:spPr>
          <a:xfrm>
            <a:off x="548640" y="731520"/>
            <a:ext cx="7772400" cy="640080"/>
          </a:xfrm>
          <a:prstGeom prst="rect">
            <a:avLst/>
          </a:prstGeom>
          <a:noFill/>
          <a:ln/>
        </p:spPr>
        <p:txBody>
          <a:bodyPr wrap="square" rtlCol="0" anchor="ctr"/>
          <a:lstStyle/>
          <a:p>
            <a:pPr indent="0" marL="0">
              <a:buNone/>
            </a:pPr>
            <a:r>
              <a:rPr lang="en-US" sz="2700" b="1" dirty="0">
                <a:solidFill>
                  <a:srgbClr val="151317"/>
                </a:solidFill>
                <a:latin typeface="Arial" pitchFamily="34" charset="0"/>
                <a:ea typeface="Arial" pitchFamily="34" charset="-122"/>
                <a:cs typeface="Arial" pitchFamily="34" charset="-120"/>
              </a:rPr>
              <a:t>SIX WAYS TO FEEL THE HEAT</a:t>
            </a:r>
            <a:endParaRPr lang="en-US" sz="27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30000"/>
              </a:lnSpc>
              <a:buNone/>
            </a:pPr>
            <a:r>
              <a:rPr lang="en-US" sz="1250" dirty="0">
                <a:solidFill>
                  <a:srgbClr val="54513F"/>
                </a:solidFill>
                <a:latin typeface="Calibri" pitchFamily="34" charset="0"/>
                <a:ea typeface="Calibri" pitchFamily="34" charset="-122"/>
                <a:cs typeface="Calibri" pitchFamily="34" charset="-120"/>
              </a:rPr>
              <a:t>Before locking the shipped interaction, I used Claude to rapid-prototype six divergent, fully-interactive variants of the heat slider in one afternoon — each pressure-testing a different way to express "heat = time" against the existing brand and hospitality rules.</a:t>
            </a:r>
            <a:endParaRPr lang="en-US" sz="1250" dirty="0"/>
          </a:p>
        </p:txBody>
      </p:sp>
      <p:sp>
        <p:nvSpPr>
          <p:cNvPr id="5" name="Shape 3"/>
          <p:cNvSpPr/>
          <p:nvPr/>
        </p:nvSpPr>
        <p:spPr>
          <a:xfrm>
            <a:off x="548640" y="2148840"/>
            <a:ext cx="3611880" cy="1554480"/>
          </a:xfrm>
          <a:prstGeom prst="rect">
            <a:avLst/>
          </a:prstGeom>
          <a:solidFill>
            <a:srgbClr val="FFFFFF"/>
          </a:solidFill>
          <a:ln/>
          <a:effectLst>
            <a:outerShdw sx="100000" sy="100000" kx="0" ky="0" algn="bl" rotWithShape="0" blurRad="88900" dist="38100" dir="5400000">
              <a:srgbClr val="000000">
                <a:alpha val="7000"/>
              </a:srgbClr>
            </a:outerShdw>
          </a:effectLst>
        </p:spPr>
        <p:txBody>
          <a:bodyPr/>
          <a:p/>
        </p:txBody>
      </p:sp>
      <p:sp>
        <p:nvSpPr>
          <p:cNvPr id="6" name="Text 4"/>
          <p:cNvSpPr/>
          <p:nvPr/>
        </p:nvSpPr>
        <p:spPr>
          <a:xfrm>
            <a:off x="749808" y="2295144"/>
            <a:ext cx="3209544" cy="292608"/>
          </a:xfrm>
          <a:prstGeom prst="rect">
            <a:avLst/>
          </a:prstGeom>
          <a:noFill/>
          <a:ln/>
        </p:spPr>
        <p:txBody>
          <a:bodyPr wrap="square" rtlCol="0" anchor="ctr"/>
          <a:lstStyle/>
          <a:p>
            <a:pPr indent="0" marL="0">
              <a:buNone/>
            </a:pPr>
            <a:r>
              <a:rPr lang="en-US" sz="1150" b="1" spc="30" kern="0" dirty="0">
                <a:solidFill>
                  <a:srgbClr val="E34314"/>
                </a:solidFill>
                <a:latin typeface="Arial" pitchFamily="34" charset="0"/>
                <a:ea typeface="Arial" pitchFamily="34" charset="-122"/>
                <a:cs typeface="Arial" pitchFamily="34" charset="-120"/>
              </a:rPr>
              <a:t>1A · EMBER GRADIENT</a:t>
            </a:r>
            <a:endParaRPr lang="en-US" sz="1150" dirty="0"/>
          </a:p>
        </p:txBody>
      </p:sp>
      <p:sp>
        <p:nvSpPr>
          <p:cNvPr id="7" name="Shape 5"/>
          <p:cNvSpPr/>
          <p:nvPr/>
        </p:nvSpPr>
        <p:spPr>
          <a:xfrm>
            <a:off x="749808" y="2715768"/>
            <a:ext cx="1091245" cy="201168"/>
          </a:xfrm>
          <a:prstGeom prst="rect">
            <a:avLst/>
          </a:prstGeom>
          <a:solidFill>
            <a:srgbClr val="737D3A"/>
          </a:solidFill>
          <a:ln/>
        </p:spPr>
        <p:txBody>
          <a:bodyPr/>
          <a:p/>
        </p:txBody>
      </p:sp>
      <p:sp>
        <p:nvSpPr>
          <p:cNvPr id="8" name="Shape 6"/>
          <p:cNvSpPr/>
          <p:nvPr/>
        </p:nvSpPr>
        <p:spPr>
          <a:xfrm>
            <a:off x="1841053" y="2715768"/>
            <a:ext cx="1059150" cy="201168"/>
          </a:xfrm>
          <a:prstGeom prst="rect">
            <a:avLst/>
          </a:prstGeom>
          <a:solidFill>
            <a:srgbClr val="EF6D44"/>
          </a:solidFill>
          <a:ln/>
        </p:spPr>
        <p:txBody>
          <a:bodyPr/>
          <a:p/>
        </p:txBody>
      </p:sp>
      <p:sp>
        <p:nvSpPr>
          <p:cNvPr id="9" name="Shape 7"/>
          <p:cNvSpPr/>
          <p:nvPr/>
        </p:nvSpPr>
        <p:spPr>
          <a:xfrm>
            <a:off x="2900202" y="2715768"/>
            <a:ext cx="1059150" cy="201168"/>
          </a:xfrm>
          <a:prstGeom prst="rect">
            <a:avLst/>
          </a:prstGeom>
          <a:solidFill>
            <a:srgbClr val="E34314"/>
          </a:solidFill>
          <a:ln/>
        </p:spPr>
        <p:txBody>
          <a:bodyPr/>
          <a:p/>
        </p:txBody>
      </p:sp>
      <p:sp>
        <p:nvSpPr>
          <p:cNvPr id="10" name="Text 8"/>
          <p:cNvSpPr/>
          <p:nvPr/>
        </p:nvSpPr>
        <p:spPr>
          <a:xfrm>
            <a:off x="749808" y="3017520"/>
            <a:ext cx="3209544" cy="621792"/>
          </a:xfrm>
          <a:prstGeom prst="rect">
            <a:avLst/>
          </a:prstGeom>
          <a:noFill/>
          <a:ln/>
        </p:spPr>
        <p:txBody>
          <a:bodyPr wrap="square" rtlCol="0" anchor="ctr"/>
          <a:lstStyle/>
          <a:p>
            <a:pPr indent="0" marL="0">
              <a:lnSpc>
                <a:spcPct val="120000"/>
              </a:lnSpc>
              <a:buNone/>
            </a:pPr>
            <a:r>
              <a:rPr lang="en-US" sz="980" dirty="0">
                <a:solidFill>
                  <a:srgbClr val="54513F"/>
                </a:solidFill>
                <a:latin typeface="Calibri" pitchFamily="34" charset="0"/>
                <a:ea typeface="Calibri" pitchFamily="34" charset="-122"/>
                <a:cs typeface="Calibri" pitchFamily="34" charset="-120"/>
              </a:rPr>
              <a:t>Fill heats up left→right (olive → paprika → chili) — heat read purely through color temperature.</a:t>
            </a:r>
            <a:endParaRPr lang="en-US" sz="980" dirty="0"/>
          </a:p>
        </p:txBody>
      </p:sp>
      <p:sp>
        <p:nvSpPr>
          <p:cNvPr id="11" name="Shape 9"/>
          <p:cNvSpPr/>
          <p:nvPr/>
        </p:nvSpPr>
        <p:spPr>
          <a:xfrm>
            <a:off x="4361688" y="2148840"/>
            <a:ext cx="3611880" cy="1554480"/>
          </a:xfrm>
          <a:prstGeom prst="rect">
            <a:avLst/>
          </a:prstGeom>
          <a:solidFill>
            <a:srgbClr val="FFFFFF"/>
          </a:solidFill>
          <a:ln/>
          <a:effectLst>
            <a:outerShdw sx="100000" sy="100000" kx="0" ky="0" algn="bl" rotWithShape="0" blurRad="88900" dist="38100" dir="5400000">
              <a:srgbClr val="000000">
                <a:alpha val="7000"/>
              </a:srgbClr>
            </a:outerShdw>
          </a:effectLst>
        </p:spPr>
        <p:txBody>
          <a:bodyPr/>
          <a:p/>
        </p:txBody>
      </p:sp>
      <p:sp>
        <p:nvSpPr>
          <p:cNvPr id="12" name="Text 10"/>
          <p:cNvSpPr/>
          <p:nvPr/>
        </p:nvSpPr>
        <p:spPr>
          <a:xfrm>
            <a:off x="4562856" y="2295144"/>
            <a:ext cx="3209544" cy="292608"/>
          </a:xfrm>
          <a:prstGeom prst="rect">
            <a:avLst/>
          </a:prstGeom>
          <a:noFill/>
          <a:ln/>
        </p:spPr>
        <p:txBody>
          <a:bodyPr wrap="square" rtlCol="0" anchor="ctr"/>
          <a:lstStyle/>
          <a:p>
            <a:pPr indent="0" marL="0">
              <a:buNone/>
            </a:pPr>
            <a:r>
              <a:rPr lang="en-US" sz="1150" b="1" spc="30" kern="0" dirty="0">
                <a:solidFill>
                  <a:srgbClr val="E34314"/>
                </a:solidFill>
                <a:latin typeface="Arial" pitchFamily="34" charset="0"/>
                <a:ea typeface="Arial" pitchFamily="34" charset="-122"/>
                <a:cs typeface="Arial" pitchFamily="34" charset="-120"/>
              </a:rPr>
              <a:t>1B · PROPORTIONAL SEGMENTS</a:t>
            </a:r>
            <a:endParaRPr lang="en-US" sz="1150" dirty="0"/>
          </a:p>
        </p:txBody>
      </p:sp>
      <p:sp>
        <p:nvSpPr>
          <p:cNvPr id="13" name="Shape 11"/>
          <p:cNvSpPr/>
          <p:nvPr/>
        </p:nvSpPr>
        <p:spPr>
          <a:xfrm>
            <a:off x="4562856" y="2715768"/>
            <a:ext cx="844110" cy="201168"/>
          </a:xfrm>
          <a:prstGeom prst="rect">
            <a:avLst/>
          </a:prstGeom>
          <a:solidFill>
            <a:srgbClr val="D4E671"/>
          </a:solidFill>
          <a:ln/>
        </p:spPr>
        <p:txBody>
          <a:bodyPr/>
          <a:p/>
        </p:txBody>
      </p:sp>
      <p:sp>
        <p:nvSpPr>
          <p:cNvPr id="14" name="Shape 12"/>
          <p:cNvSpPr/>
          <p:nvPr/>
        </p:nvSpPr>
        <p:spPr>
          <a:xfrm>
            <a:off x="5406966" y="2715768"/>
            <a:ext cx="677214" cy="201168"/>
          </a:xfrm>
          <a:prstGeom prst="rect">
            <a:avLst/>
          </a:prstGeom>
          <a:solidFill>
            <a:srgbClr val="C1DB34"/>
          </a:solidFill>
          <a:ln/>
        </p:spPr>
        <p:txBody>
          <a:bodyPr/>
          <a:p/>
        </p:txBody>
      </p:sp>
      <p:sp>
        <p:nvSpPr>
          <p:cNvPr id="15" name="Shape 13"/>
          <p:cNvSpPr/>
          <p:nvPr/>
        </p:nvSpPr>
        <p:spPr>
          <a:xfrm>
            <a:off x="6084180" y="2715768"/>
            <a:ext cx="1014216" cy="201168"/>
          </a:xfrm>
          <a:prstGeom prst="rect">
            <a:avLst/>
          </a:prstGeom>
          <a:solidFill>
            <a:srgbClr val="EF6D44"/>
          </a:solidFill>
          <a:ln/>
        </p:spPr>
        <p:txBody>
          <a:bodyPr/>
          <a:p/>
        </p:txBody>
      </p:sp>
      <p:sp>
        <p:nvSpPr>
          <p:cNvPr id="16" name="Shape 14"/>
          <p:cNvSpPr/>
          <p:nvPr/>
        </p:nvSpPr>
        <p:spPr>
          <a:xfrm>
            <a:off x="7098396" y="2715768"/>
            <a:ext cx="674004" cy="201168"/>
          </a:xfrm>
          <a:prstGeom prst="rect">
            <a:avLst/>
          </a:prstGeom>
          <a:solidFill>
            <a:srgbClr val="E34314"/>
          </a:solidFill>
          <a:ln/>
        </p:spPr>
        <p:txBody>
          <a:bodyPr/>
          <a:p/>
        </p:txBody>
      </p:sp>
      <p:sp>
        <p:nvSpPr>
          <p:cNvPr id="17" name="Text 15"/>
          <p:cNvSpPr/>
          <p:nvPr/>
        </p:nvSpPr>
        <p:spPr>
          <a:xfrm>
            <a:off x="4562856" y="3017520"/>
            <a:ext cx="3209544" cy="621792"/>
          </a:xfrm>
          <a:prstGeom prst="rect">
            <a:avLst/>
          </a:prstGeom>
          <a:noFill/>
          <a:ln/>
        </p:spPr>
        <p:txBody>
          <a:bodyPr wrap="square" rtlCol="0" anchor="ctr"/>
          <a:lstStyle/>
          <a:p>
            <a:pPr indent="0" marL="0">
              <a:lnSpc>
                <a:spcPct val="120000"/>
              </a:lnSpc>
              <a:buNone/>
            </a:pPr>
            <a:r>
              <a:rPr lang="en-US" sz="980" dirty="0">
                <a:solidFill>
                  <a:srgbClr val="54513F"/>
                </a:solidFill>
                <a:latin typeface="Calibri" pitchFamily="34" charset="0"/>
                <a:ea typeface="Calibri" pitchFamily="34" charset="-122"/>
                <a:cs typeface="Calibri" pitchFamily="34" charset="-120"/>
              </a:rPr>
              <a:t>Four bars sized to real opening-hour spans, not equal quarters — an honest hours-of-operation gauge.</a:t>
            </a:r>
            <a:endParaRPr lang="en-US" sz="980" dirty="0"/>
          </a:p>
        </p:txBody>
      </p:sp>
      <p:sp>
        <p:nvSpPr>
          <p:cNvPr id="18" name="Shape 16"/>
          <p:cNvSpPr/>
          <p:nvPr/>
        </p:nvSpPr>
        <p:spPr>
          <a:xfrm>
            <a:off x="8174736" y="2148840"/>
            <a:ext cx="3611880" cy="1554480"/>
          </a:xfrm>
          <a:prstGeom prst="rect">
            <a:avLst/>
          </a:prstGeom>
          <a:solidFill>
            <a:srgbClr val="FFFFFF"/>
          </a:solidFill>
          <a:ln/>
          <a:effectLst>
            <a:outerShdw sx="100000" sy="100000" kx="0" ky="0" algn="bl" rotWithShape="0" blurRad="88900" dist="38100" dir="5400000">
              <a:srgbClr val="000000">
                <a:alpha val="7000"/>
              </a:srgbClr>
            </a:outerShdw>
          </a:effectLst>
        </p:spPr>
        <p:txBody>
          <a:bodyPr/>
          <a:p/>
        </p:txBody>
      </p:sp>
      <p:sp>
        <p:nvSpPr>
          <p:cNvPr id="19" name="Text 17"/>
          <p:cNvSpPr/>
          <p:nvPr/>
        </p:nvSpPr>
        <p:spPr>
          <a:xfrm>
            <a:off x="8375904" y="2295144"/>
            <a:ext cx="3209544" cy="292608"/>
          </a:xfrm>
          <a:prstGeom prst="rect">
            <a:avLst/>
          </a:prstGeom>
          <a:noFill/>
          <a:ln/>
        </p:spPr>
        <p:txBody>
          <a:bodyPr wrap="square" rtlCol="0" anchor="ctr"/>
          <a:lstStyle/>
          <a:p>
            <a:pPr indent="0" marL="0">
              <a:buNone/>
            </a:pPr>
            <a:r>
              <a:rPr lang="en-US" sz="1150" b="1" spc="30" kern="0" dirty="0">
                <a:solidFill>
                  <a:srgbClr val="E34314"/>
                </a:solidFill>
                <a:latin typeface="Arial" pitchFamily="34" charset="0"/>
                <a:ea typeface="Arial" pitchFamily="34" charset="-122"/>
                <a:cs typeface="Arial" pitchFamily="34" charset="-120"/>
              </a:rPr>
              <a:t>1C · HOUR RULER</a:t>
            </a:r>
            <a:endParaRPr lang="en-US" sz="1150" dirty="0"/>
          </a:p>
        </p:txBody>
      </p:sp>
      <p:sp>
        <p:nvSpPr>
          <p:cNvPr id="20" name="Shape 18"/>
          <p:cNvSpPr/>
          <p:nvPr/>
        </p:nvSpPr>
        <p:spPr>
          <a:xfrm>
            <a:off x="8375904" y="2715768"/>
            <a:ext cx="3209544" cy="201168"/>
          </a:xfrm>
          <a:prstGeom prst="rect">
            <a:avLst/>
          </a:prstGeom>
          <a:solidFill>
            <a:srgbClr val="9E9789"/>
          </a:solidFill>
          <a:ln/>
        </p:spPr>
        <p:txBody>
          <a:bodyPr/>
          <a:p/>
        </p:txBody>
      </p:sp>
      <p:sp>
        <p:nvSpPr>
          <p:cNvPr id="21" name="Shape 19"/>
          <p:cNvSpPr/>
          <p:nvPr/>
        </p:nvSpPr>
        <p:spPr>
          <a:xfrm>
            <a:off x="8375904" y="2916936"/>
            <a:ext cx="0" cy="128016"/>
          </a:xfrm>
          <a:prstGeom prst="line">
            <a:avLst/>
          </a:prstGeom>
          <a:noFill/>
          <a:ln w="12700">
            <a:solidFill>
              <a:srgbClr val="54513F"/>
            </a:solidFill>
            <a:prstDash val="solid"/>
          </a:ln>
        </p:spPr>
        <p:txBody>
          <a:bodyPr/>
          <a:p/>
        </p:txBody>
      </p:sp>
      <p:sp>
        <p:nvSpPr>
          <p:cNvPr id="22" name="Shape 20"/>
          <p:cNvSpPr/>
          <p:nvPr/>
        </p:nvSpPr>
        <p:spPr>
          <a:xfrm>
            <a:off x="8696858" y="2916936"/>
            <a:ext cx="0" cy="64008"/>
          </a:xfrm>
          <a:prstGeom prst="line">
            <a:avLst/>
          </a:prstGeom>
          <a:noFill/>
          <a:ln w="12700">
            <a:solidFill>
              <a:srgbClr val="54513F"/>
            </a:solidFill>
            <a:prstDash val="solid"/>
          </a:ln>
        </p:spPr>
        <p:txBody>
          <a:bodyPr/>
          <a:p/>
        </p:txBody>
      </p:sp>
      <p:sp>
        <p:nvSpPr>
          <p:cNvPr id="23" name="Shape 21"/>
          <p:cNvSpPr/>
          <p:nvPr/>
        </p:nvSpPr>
        <p:spPr>
          <a:xfrm>
            <a:off x="9017813" y="2916936"/>
            <a:ext cx="0" cy="64008"/>
          </a:xfrm>
          <a:prstGeom prst="line">
            <a:avLst/>
          </a:prstGeom>
          <a:noFill/>
          <a:ln w="12700">
            <a:solidFill>
              <a:srgbClr val="54513F"/>
            </a:solidFill>
            <a:prstDash val="solid"/>
          </a:ln>
        </p:spPr>
        <p:txBody>
          <a:bodyPr/>
          <a:p/>
        </p:txBody>
      </p:sp>
      <p:sp>
        <p:nvSpPr>
          <p:cNvPr id="24" name="Shape 22"/>
          <p:cNvSpPr/>
          <p:nvPr/>
        </p:nvSpPr>
        <p:spPr>
          <a:xfrm>
            <a:off x="9338767" y="2916936"/>
            <a:ext cx="0" cy="64008"/>
          </a:xfrm>
          <a:prstGeom prst="line">
            <a:avLst/>
          </a:prstGeom>
          <a:noFill/>
          <a:ln w="12700">
            <a:solidFill>
              <a:srgbClr val="54513F"/>
            </a:solidFill>
            <a:prstDash val="solid"/>
          </a:ln>
        </p:spPr>
        <p:txBody>
          <a:bodyPr/>
          <a:p/>
        </p:txBody>
      </p:sp>
      <p:sp>
        <p:nvSpPr>
          <p:cNvPr id="25" name="Shape 23"/>
          <p:cNvSpPr/>
          <p:nvPr/>
        </p:nvSpPr>
        <p:spPr>
          <a:xfrm>
            <a:off x="9659722" y="2916936"/>
            <a:ext cx="0" cy="64008"/>
          </a:xfrm>
          <a:prstGeom prst="line">
            <a:avLst/>
          </a:prstGeom>
          <a:noFill/>
          <a:ln w="12700">
            <a:solidFill>
              <a:srgbClr val="54513F"/>
            </a:solidFill>
            <a:prstDash val="solid"/>
          </a:ln>
        </p:spPr>
        <p:txBody>
          <a:bodyPr/>
          <a:p/>
        </p:txBody>
      </p:sp>
      <p:sp>
        <p:nvSpPr>
          <p:cNvPr id="26" name="Shape 24"/>
          <p:cNvSpPr/>
          <p:nvPr/>
        </p:nvSpPr>
        <p:spPr>
          <a:xfrm>
            <a:off x="9980676" y="2916936"/>
            <a:ext cx="0" cy="128016"/>
          </a:xfrm>
          <a:prstGeom prst="line">
            <a:avLst/>
          </a:prstGeom>
          <a:noFill/>
          <a:ln w="12700">
            <a:solidFill>
              <a:srgbClr val="54513F"/>
            </a:solidFill>
            <a:prstDash val="solid"/>
          </a:ln>
        </p:spPr>
        <p:txBody>
          <a:bodyPr/>
          <a:p/>
        </p:txBody>
      </p:sp>
      <p:sp>
        <p:nvSpPr>
          <p:cNvPr id="27" name="Shape 25"/>
          <p:cNvSpPr/>
          <p:nvPr/>
        </p:nvSpPr>
        <p:spPr>
          <a:xfrm>
            <a:off x="10301630" y="2916936"/>
            <a:ext cx="0" cy="64008"/>
          </a:xfrm>
          <a:prstGeom prst="line">
            <a:avLst/>
          </a:prstGeom>
          <a:noFill/>
          <a:ln w="12700">
            <a:solidFill>
              <a:srgbClr val="54513F"/>
            </a:solidFill>
            <a:prstDash val="solid"/>
          </a:ln>
        </p:spPr>
        <p:txBody>
          <a:bodyPr/>
          <a:p/>
        </p:txBody>
      </p:sp>
      <p:sp>
        <p:nvSpPr>
          <p:cNvPr id="28" name="Shape 26"/>
          <p:cNvSpPr/>
          <p:nvPr/>
        </p:nvSpPr>
        <p:spPr>
          <a:xfrm>
            <a:off x="10622585" y="2916936"/>
            <a:ext cx="0" cy="64008"/>
          </a:xfrm>
          <a:prstGeom prst="line">
            <a:avLst/>
          </a:prstGeom>
          <a:noFill/>
          <a:ln w="12700">
            <a:solidFill>
              <a:srgbClr val="54513F"/>
            </a:solidFill>
            <a:prstDash val="solid"/>
          </a:ln>
        </p:spPr>
        <p:txBody>
          <a:bodyPr/>
          <a:p/>
        </p:txBody>
      </p:sp>
      <p:sp>
        <p:nvSpPr>
          <p:cNvPr id="29" name="Shape 27"/>
          <p:cNvSpPr/>
          <p:nvPr/>
        </p:nvSpPr>
        <p:spPr>
          <a:xfrm>
            <a:off x="10943539" y="2916936"/>
            <a:ext cx="0" cy="64008"/>
          </a:xfrm>
          <a:prstGeom prst="line">
            <a:avLst/>
          </a:prstGeom>
          <a:noFill/>
          <a:ln w="12700">
            <a:solidFill>
              <a:srgbClr val="54513F"/>
            </a:solidFill>
            <a:prstDash val="solid"/>
          </a:ln>
        </p:spPr>
        <p:txBody>
          <a:bodyPr/>
          <a:p/>
        </p:txBody>
      </p:sp>
      <p:sp>
        <p:nvSpPr>
          <p:cNvPr id="30" name="Shape 28"/>
          <p:cNvSpPr/>
          <p:nvPr/>
        </p:nvSpPr>
        <p:spPr>
          <a:xfrm>
            <a:off x="11264494" y="2916936"/>
            <a:ext cx="0" cy="64008"/>
          </a:xfrm>
          <a:prstGeom prst="line">
            <a:avLst/>
          </a:prstGeom>
          <a:noFill/>
          <a:ln w="12700">
            <a:solidFill>
              <a:srgbClr val="54513F"/>
            </a:solidFill>
            <a:prstDash val="solid"/>
          </a:ln>
        </p:spPr>
        <p:txBody>
          <a:bodyPr/>
          <a:p/>
        </p:txBody>
      </p:sp>
      <p:sp>
        <p:nvSpPr>
          <p:cNvPr id="31" name="Shape 29"/>
          <p:cNvSpPr/>
          <p:nvPr/>
        </p:nvSpPr>
        <p:spPr>
          <a:xfrm>
            <a:off x="11585448" y="2916936"/>
            <a:ext cx="0" cy="128016"/>
          </a:xfrm>
          <a:prstGeom prst="line">
            <a:avLst/>
          </a:prstGeom>
          <a:noFill/>
          <a:ln w="12700">
            <a:solidFill>
              <a:srgbClr val="54513F"/>
            </a:solidFill>
            <a:prstDash val="solid"/>
          </a:ln>
        </p:spPr>
        <p:txBody>
          <a:bodyPr/>
          <a:p/>
        </p:txBody>
      </p:sp>
      <p:sp>
        <p:nvSpPr>
          <p:cNvPr id="32" name="Text 30"/>
          <p:cNvSpPr/>
          <p:nvPr/>
        </p:nvSpPr>
        <p:spPr>
          <a:xfrm>
            <a:off x="8375904" y="3017520"/>
            <a:ext cx="3209544" cy="621792"/>
          </a:xfrm>
          <a:prstGeom prst="rect">
            <a:avLst/>
          </a:prstGeom>
          <a:noFill/>
          <a:ln/>
        </p:spPr>
        <p:txBody>
          <a:bodyPr wrap="square" rtlCol="0" anchor="ctr"/>
          <a:lstStyle/>
          <a:p>
            <a:pPr indent="0" marL="0">
              <a:lnSpc>
                <a:spcPct val="120000"/>
              </a:lnSpc>
              <a:buNone/>
            </a:pPr>
            <a:r>
              <a:rPr lang="en-US" sz="980" dirty="0">
                <a:solidFill>
                  <a:srgbClr val="54513F"/>
                </a:solidFill>
                <a:latin typeface="Calibri" pitchFamily="34" charset="0"/>
                <a:ea typeface="Calibri" pitchFamily="34" charset="-122"/>
                <a:cs typeface="Calibri" pitchFamily="34" charset="-120"/>
              </a:rPr>
              <a:t>Literal tick marks, 07→02, with a live "HH:MM · daypart" readout above the thumb.</a:t>
            </a:r>
            <a:endParaRPr lang="en-US" sz="980" dirty="0"/>
          </a:p>
        </p:txBody>
      </p:sp>
      <p:sp>
        <p:nvSpPr>
          <p:cNvPr id="33" name="Shape 31"/>
          <p:cNvSpPr/>
          <p:nvPr/>
        </p:nvSpPr>
        <p:spPr>
          <a:xfrm>
            <a:off x="548640" y="3840480"/>
            <a:ext cx="3611880" cy="1554480"/>
          </a:xfrm>
          <a:prstGeom prst="rect">
            <a:avLst/>
          </a:prstGeom>
          <a:solidFill>
            <a:srgbClr val="FFFFFF"/>
          </a:solidFill>
          <a:ln/>
          <a:effectLst>
            <a:outerShdw sx="100000" sy="100000" kx="0" ky="0" algn="bl" rotWithShape="0" blurRad="88900" dist="38100" dir="5400000">
              <a:srgbClr val="000000">
                <a:alpha val="7000"/>
              </a:srgbClr>
            </a:outerShdw>
          </a:effectLst>
        </p:spPr>
        <p:txBody>
          <a:bodyPr/>
          <a:p/>
        </p:txBody>
      </p:sp>
      <p:sp>
        <p:nvSpPr>
          <p:cNvPr id="34" name="Text 32"/>
          <p:cNvSpPr/>
          <p:nvPr/>
        </p:nvSpPr>
        <p:spPr>
          <a:xfrm>
            <a:off x="749808" y="3986784"/>
            <a:ext cx="3209544" cy="292608"/>
          </a:xfrm>
          <a:prstGeom prst="rect">
            <a:avLst/>
          </a:prstGeom>
          <a:noFill/>
          <a:ln/>
        </p:spPr>
        <p:txBody>
          <a:bodyPr wrap="square" rtlCol="0" anchor="ctr"/>
          <a:lstStyle/>
          <a:p>
            <a:pPr indent="0" marL="0">
              <a:buNone/>
            </a:pPr>
            <a:r>
              <a:rPr lang="en-US" sz="1150" b="1" spc="30" kern="0" dirty="0">
                <a:solidFill>
                  <a:srgbClr val="E34314"/>
                </a:solidFill>
                <a:latin typeface="Arial" pitchFamily="34" charset="0"/>
                <a:ea typeface="Arial" pitchFamily="34" charset="-122"/>
                <a:cs typeface="Arial" pitchFamily="34" charset="-120"/>
              </a:rPr>
              <a:t>1D · TYPE SCRUBBER</a:t>
            </a:r>
            <a:endParaRPr lang="en-US" sz="1150" dirty="0"/>
          </a:p>
        </p:txBody>
      </p:sp>
      <p:sp>
        <p:nvSpPr>
          <p:cNvPr id="35" name="Text 33"/>
          <p:cNvSpPr/>
          <p:nvPr/>
        </p:nvSpPr>
        <p:spPr>
          <a:xfrm>
            <a:off x="749808" y="4279392"/>
            <a:ext cx="1059150" cy="274320"/>
          </a:xfrm>
          <a:prstGeom prst="rect">
            <a:avLst/>
          </a:prstGeom>
          <a:noFill/>
          <a:ln/>
        </p:spPr>
        <p:txBody>
          <a:bodyPr wrap="square" rtlCol="0" anchor="ctr"/>
          <a:lstStyle/>
          <a:p>
            <a:pPr algn="l" indent="0" marL="0">
              <a:buNone/>
            </a:pPr>
            <a:r>
              <a:rPr lang="en-US" sz="1100" b="1" dirty="0">
                <a:solidFill>
                  <a:srgbClr val="9E9789"/>
                </a:solidFill>
                <a:latin typeface="Arial" pitchFamily="34" charset="0"/>
                <a:ea typeface="Arial" pitchFamily="34" charset="-122"/>
                <a:cs typeface="Arial" pitchFamily="34" charset="-120"/>
              </a:rPr>
              <a:t>LUNCH</a:t>
            </a:r>
            <a:endParaRPr lang="en-US" sz="1100" dirty="0"/>
          </a:p>
        </p:txBody>
      </p:sp>
      <p:sp>
        <p:nvSpPr>
          <p:cNvPr id="36" name="Text 34"/>
          <p:cNvSpPr/>
          <p:nvPr/>
        </p:nvSpPr>
        <p:spPr>
          <a:xfrm>
            <a:off x="1808958" y="4279392"/>
            <a:ext cx="1091245" cy="274320"/>
          </a:xfrm>
          <a:prstGeom prst="rect">
            <a:avLst/>
          </a:prstGeom>
          <a:noFill/>
          <a:ln/>
        </p:spPr>
        <p:txBody>
          <a:bodyPr wrap="square" rtlCol="0" anchor="ctr"/>
          <a:lstStyle/>
          <a:p>
            <a:pPr algn="ctr" indent="0" marL="0">
              <a:buNone/>
            </a:pPr>
            <a:r>
              <a:rPr lang="en-US" sz="1100" b="1" dirty="0">
                <a:solidFill>
                  <a:srgbClr val="E34314"/>
                </a:solidFill>
                <a:latin typeface="Arial" pitchFamily="34" charset="0"/>
                <a:ea typeface="Arial" pitchFamily="34" charset="-122"/>
                <a:cs typeface="Arial" pitchFamily="34" charset="-120"/>
              </a:rPr>
              <a:t>DINNER</a:t>
            </a:r>
            <a:endParaRPr lang="en-US" sz="1100" dirty="0"/>
          </a:p>
        </p:txBody>
      </p:sp>
      <p:sp>
        <p:nvSpPr>
          <p:cNvPr id="37" name="Text 35"/>
          <p:cNvSpPr/>
          <p:nvPr/>
        </p:nvSpPr>
        <p:spPr>
          <a:xfrm>
            <a:off x="2900202" y="4279392"/>
            <a:ext cx="1059150" cy="274320"/>
          </a:xfrm>
          <a:prstGeom prst="rect">
            <a:avLst/>
          </a:prstGeom>
          <a:noFill/>
          <a:ln/>
        </p:spPr>
        <p:txBody>
          <a:bodyPr wrap="square" rtlCol="0" anchor="ctr"/>
          <a:lstStyle/>
          <a:p>
            <a:pPr algn="r" indent="0" marL="0">
              <a:buNone/>
            </a:pPr>
            <a:r>
              <a:rPr lang="en-US" sz="1100" b="1" dirty="0">
                <a:solidFill>
                  <a:srgbClr val="D8D2C2"/>
                </a:solidFill>
                <a:latin typeface="Arial" pitchFamily="34" charset="0"/>
                <a:ea typeface="Arial" pitchFamily="34" charset="-122"/>
                <a:cs typeface="Arial" pitchFamily="34" charset="-120"/>
              </a:rPr>
              <a:t>PARTY</a:t>
            </a:r>
            <a:endParaRPr lang="en-US" sz="1100" dirty="0"/>
          </a:p>
        </p:txBody>
      </p:sp>
      <p:sp>
        <p:nvSpPr>
          <p:cNvPr id="38" name="Text 36"/>
          <p:cNvSpPr/>
          <p:nvPr/>
        </p:nvSpPr>
        <p:spPr>
          <a:xfrm>
            <a:off x="749808" y="4709160"/>
            <a:ext cx="3209544" cy="621792"/>
          </a:xfrm>
          <a:prstGeom prst="rect">
            <a:avLst/>
          </a:prstGeom>
          <a:noFill/>
          <a:ln/>
        </p:spPr>
        <p:txBody>
          <a:bodyPr wrap="square" rtlCol="0" anchor="ctr"/>
          <a:lstStyle/>
          <a:p>
            <a:pPr indent="0" marL="0">
              <a:lnSpc>
                <a:spcPct val="120000"/>
              </a:lnSpc>
              <a:buNone/>
            </a:pPr>
            <a:r>
              <a:rPr lang="en-US" sz="980" dirty="0">
                <a:solidFill>
                  <a:srgbClr val="54513F"/>
                </a:solidFill>
                <a:latin typeface="Calibri" pitchFamily="34" charset="0"/>
                <a:ea typeface="Calibri" pitchFamily="34" charset="-122"/>
                <a:cs typeface="Calibri" pitchFamily="34" charset="-120"/>
              </a:rPr>
              <a:t>The daypart words ARE the UI: past = solid, active = chili, future = faint outline-only.</a:t>
            </a:r>
            <a:endParaRPr lang="en-US" sz="980" dirty="0"/>
          </a:p>
        </p:txBody>
      </p:sp>
      <p:sp>
        <p:nvSpPr>
          <p:cNvPr id="39" name="Shape 37"/>
          <p:cNvSpPr/>
          <p:nvPr/>
        </p:nvSpPr>
        <p:spPr>
          <a:xfrm>
            <a:off x="4361688" y="3840480"/>
            <a:ext cx="3611880" cy="1554480"/>
          </a:xfrm>
          <a:prstGeom prst="rect">
            <a:avLst/>
          </a:prstGeom>
          <a:solidFill>
            <a:srgbClr val="FFFFFF"/>
          </a:solidFill>
          <a:ln/>
          <a:effectLst>
            <a:outerShdw sx="100000" sy="100000" kx="0" ky="0" algn="bl" rotWithShape="0" blurRad="88900" dist="38100" dir="5400000">
              <a:srgbClr val="000000">
                <a:alpha val="7000"/>
              </a:srgbClr>
            </a:outerShdw>
          </a:effectLst>
        </p:spPr>
        <p:txBody>
          <a:bodyPr/>
          <a:p/>
        </p:txBody>
      </p:sp>
      <p:sp>
        <p:nvSpPr>
          <p:cNvPr id="40" name="Text 38"/>
          <p:cNvSpPr/>
          <p:nvPr/>
        </p:nvSpPr>
        <p:spPr>
          <a:xfrm>
            <a:off x="4562856" y="3986784"/>
            <a:ext cx="3209544" cy="292608"/>
          </a:xfrm>
          <a:prstGeom prst="rect">
            <a:avLst/>
          </a:prstGeom>
          <a:noFill/>
          <a:ln/>
        </p:spPr>
        <p:txBody>
          <a:bodyPr wrap="square" rtlCol="0" anchor="ctr"/>
          <a:lstStyle/>
          <a:p>
            <a:pPr indent="0" marL="0">
              <a:buNone/>
            </a:pPr>
            <a:r>
              <a:rPr lang="en-US" sz="1150" b="1" spc="30" kern="0" dirty="0">
                <a:solidFill>
                  <a:srgbClr val="E34314"/>
                </a:solidFill>
                <a:latin typeface="Arial" pitchFamily="34" charset="0"/>
                <a:ea typeface="Arial" pitchFamily="34" charset="-122"/>
                <a:cs typeface="Arial" pitchFamily="34" charset="-120"/>
              </a:rPr>
              <a:t>1E · MATCHSTICK BURN</a:t>
            </a:r>
            <a:endParaRPr lang="en-US" sz="1150" dirty="0"/>
          </a:p>
        </p:txBody>
      </p:sp>
      <p:sp>
        <p:nvSpPr>
          <p:cNvPr id="41" name="Shape 39"/>
          <p:cNvSpPr/>
          <p:nvPr/>
        </p:nvSpPr>
        <p:spPr>
          <a:xfrm>
            <a:off x="4562856" y="4407408"/>
            <a:ext cx="802386" cy="201168"/>
          </a:xfrm>
          <a:prstGeom prst="rect">
            <a:avLst/>
          </a:prstGeom>
          <a:solidFill>
            <a:srgbClr val="151317"/>
          </a:solidFill>
          <a:ln/>
        </p:spPr>
        <p:txBody>
          <a:bodyPr/>
          <a:p/>
        </p:txBody>
      </p:sp>
      <p:sp>
        <p:nvSpPr>
          <p:cNvPr id="42" name="Shape 40"/>
          <p:cNvSpPr/>
          <p:nvPr/>
        </p:nvSpPr>
        <p:spPr>
          <a:xfrm>
            <a:off x="5365242" y="4407408"/>
            <a:ext cx="802386" cy="201168"/>
          </a:xfrm>
          <a:prstGeom prst="rect">
            <a:avLst/>
          </a:prstGeom>
          <a:solidFill>
            <a:srgbClr val="9B2705"/>
          </a:solidFill>
          <a:ln/>
        </p:spPr>
        <p:txBody>
          <a:bodyPr/>
          <a:p/>
        </p:txBody>
      </p:sp>
      <p:sp>
        <p:nvSpPr>
          <p:cNvPr id="43" name="Shape 41"/>
          <p:cNvSpPr/>
          <p:nvPr/>
        </p:nvSpPr>
        <p:spPr>
          <a:xfrm>
            <a:off x="6167628" y="4407408"/>
            <a:ext cx="802386" cy="201168"/>
          </a:xfrm>
          <a:prstGeom prst="rect">
            <a:avLst/>
          </a:prstGeom>
          <a:solidFill>
            <a:srgbClr val="E34314"/>
          </a:solidFill>
          <a:ln/>
        </p:spPr>
        <p:txBody>
          <a:bodyPr/>
          <a:p/>
        </p:txBody>
      </p:sp>
      <p:sp>
        <p:nvSpPr>
          <p:cNvPr id="44" name="Shape 42"/>
          <p:cNvSpPr/>
          <p:nvPr/>
        </p:nvSpPr>
        <p:spPr>
          <a:xfrm>
            <a:off x="6970014" y="4407408"/>
            <a:ext cx="802386" cy="201168"/>
          </a:xfrm>
          <a:prstGeom prst="rect">
            <a:avLst/>
          </a:prstGeom>
          <a:solidFill>
            <a:srgbClr val="FFED00"/>
          </a:solidFill>
          <a:ln/>
        </p:spPr>
        <p:txBody>
          <a:bodyPr/>
          <a:p/>
        </p:txBody>
      </p:sp>
      <p:sp>
        <p:nvSpPr>
          <p:cNvPr id="45" name="Text 43"/>
          <p:cNvSpPr/>
          <p:nvPr/>
        </p:nvSpPr>
        <p:spPr>
          <a:xfrm>
            <a:off x="4562856" y="4709160"/>
            <a:ext cx="3209544" cy="621792"/>
          </a:xfrm>
          <a:prstGeom prst="rect">
            <a:avLst/>
          </a:prstGeom>
          <a:noFill/>
          <a:ln/>
        </p:spPr>
        <p:txBody>
          <a:bodyPr wrap="square" rtlCol="0" anchor="ctr"/>
          <a:lstStyle/>
          <a:p>
            <a:pPr indent="0" marL="0">
              <a:lnSpc>
                <a:spcPct val="120000"/>
              </a:lnSpc>
              <a:buNone/>
            </a:pPr>
            <a:r>
              <a:rPr lang="en-US" sz="980" dirty="0">
                <a:solidFill>
                  <a:srgbClr val="54513F"/>
                </a:solidFill>
                <a:latin typeface="Calibri" pitchFamily="34" charset="0"/>
                <a:ea typeface="Calibri" pitchFamily="34" charset="-122"/>
                <a:cs typeface="Calibri" pitchFamily="34" charset="-120"/>
              </a:rPr>
              <a:t>Five-stop ember gradient (near-black → rust → chili → yellow tip) with a glowing flame thumb.</a:t>
            </a:r>
            <a:endParaRPr lang="en-US" sz="980" dirty="0"/>
          </a:p>
        </p:txBody>
      </p:sp>
      <p:sp>
        <p:nvSpPr>
          <p:cNvPr id="46" name="Shape 44"/>
          <p:cNvSpPr/>
          <p:nvPr/>
        </p:nvSpPr>
        <p:spPr>
          <a:xfrm>
            <a:off x="8174736" y="3840480"/>
            <a:ext cx="3611880" cy="1554480"/>
          </a:xfrm>
          <a:prstGeom prst="rect">
            <a:avLst/>
          </a:prstGeom>
          <a:solidFill>
            <a:srgbClr val="FFFFFF"/>
          </a:solidFill>
          <a:ln/>
          <a:effectLst>
            <a:outerShdw sx="100000" sy="100000" kx="0" ky="0" algn="bl" rotWithShape="0" blurRad="88900" dist="38100" dir="5400000">
              <a:srgbClr val="000000">
                <a:alpha val="7000"/>
              </a:srgbClr>
            </a:outerShdw>
          </a:effectLst>
        </p:spPr>
        <p:txBody>
          <a:bodyPr/>
          <a:p/>
        </p:txBody>
      </p:sp>
      <p:sp>
        <p:nvSpPr>
          <p:cNvPr id="47" name="Text 45"/>
          <p:cNvSpPr/>
          <p:nvPr/>
        </p:nvSpPr>
        <p:spPr>
          <a:xfrm>
            <a:off x="8375904" y="3986784"/>
            <a:ext cx="3209544" cy="292608"/>
          </a:xfrm>
          <a:prstGeom prst="rect">
            <a:avLst/>
          </a:prstGeom>
          <a:noFill/>
          <a:ln/>
        </p:spPr>
        <p:txBody>
          <a:bodyPr wrap="square" rtlCol="0" anchor="ctr"/>
          <a:lstStyle/>
          <a:p>
            <a:pPr indent="0" marL="0">
              <a:buNone/>
            </a:pPr>
            <a:r>
              <a:rPr lang="en-US" sz="1150" b="1" spc="30" kern="0" dirty="0">
                <a:solidFill>
                  <a:srgbClr val="E34314"/>
                </a:solidFill>
                <a:latin typeface="Arial" pitchFamily="34" charset="0"/>
                <a:ea typeface="Arial" pitchFamily="34" charset="-122"/>
                <a:cs typeface="Arial" pitchFamily="34" charset="-120"/>
              </a:rPr>
              <a:t>1F · STATUS CARD</a:t>
            </a:r>
            <a:endParaRPr lang="en-US" sz="1150" dirty="0"/>
          </a:p>
        </p:txBody>
      </p:sp>
      <p:sp>
        <p:nvSpPr>
          <p:cNvPr id="48" name="Shape 46"/>
          <p:cNvSpPr/>
          <p:nvPr/>
        </p:nvSpPr>
        <p:spPr>
          <a:xfrm>
            <a:off x="8375904" y="4361688"/>
            <a:ext cx="1861536" cy="219456"/>
          </a:xfrm>
          <a:prstGeom prst="roundRect">
            <a:avLst>
              <a:gd name="adj" fmla="val 50000"/>
            </a:avLst>
          </a:prstGeom>
          <a:solidFill>
            <a:srgbClr val="E34314"/>
          </a:solidFill>
          <a:ln/>
        </p:spPr>
        <p:txBody>
          <a:bodyPr/>
          <a:p/>
        </p:txBody>
      </p:sp>
      <p:sp>
        <p:nvSpPr>
          <p:cNvPr id="49" name="Text 47"/>
          <p:cNvSpPr/>
          <p:nvPr/>
        </p:nvSpPr>
        <p:spPr>
          <a:xfrm>
            <a:off x="8375904" y="4361688"/>
            <a:ext cx="1861536" cy="219456"/>
          </a:xfrm>
          <a:prstGeom prst="rect">
            <a:avLst/>
          </a:prstGeom>
          <a:noFill/>
          <a:ln/>
        </p:spPr>
        <p:txBody>
          <a:bodyPr wrap="square" rtlCol="0" anchor="ctr"/>
          <a:lstStyle/>
          <a:p>
            <a:pPr algn="ctr" indent="0" marL="0">
              <a:buNone/>
            </a:pPr>
            <a:r>
              <a:rPr lang="en-US" sz="850" b="1" dirty="0">
                <a:solidFill>
                  <a:srgbClr val="F3E9D2"/>
                </a:solidFill>
                <a:latin typeface="Calibri" pitchFamily="34" charset="0"/>
                <a:ea typeface="Calibri" pitchFamily="34" charset="-122"/>
                <a:cs typeface="Calibri" pitchFamily="34" charset="-120"/>
              </a:rPr>
              <a:t>Dinner &amp; Bar →</a:t>
            </a:r>
            <a:endParaRPr lang="en-US" sz="850" dirty="0"/>
          </a:p>
        </p:txBody>
      </p:sp>
      <p:sp>
        <p:nvSpPr>
          <p:cNvPr id="50" name="Shape 48"/>
          <p:cNvSpPr/>
          <p:nvPr/>
        </p:nvSpPr>
        <p:spPr>
          <a:xfrm>
            <a:off x="8375904" y="4626864"/>
            <a:ext cx="3209544" cy="201168"/>
          </a:xfrm>
          <a:prstGeom prst="rect">
            <a:avLst/>
          </a:prstGeom>
          <a:solidFill>
            <a:srgbClr val="9E9789"/>
          </a:solidFill>
          <a:ln/>
        </p:spPr>
        <p:txBody>
          <a:bodyPr/>
          <a:p/>
        </p:txBody>
      </p:sp>
      <p:sp>
        <p:nvSpPr>
          <p:cNvPr id="51" name="Text 49"/>
          <p:cNvSpPr/>
          <p:nvPr/>
        </p:nvSpPr>
        <p:spPr>
          <a:xfrm>
            <a:off x="8375904" y="4709160"/>
            <a:ext cx="3209544" cy="621792"/>
          </a:xfrm>
          <a:prstGeom prst="rect">
            <a:avLst/>
          </a:prstGeom>
          <a:noFill/>
          <a:ln/>
        </p:spPr>
        <p:txBody>
          <a:bodyPr wrap="square" rtlCol="0" anchor="ctr"/>
          <a:lstStyle/>
          <a:p>
            <a:pPr indent="0" marL="0">
              <a:lnSpc>
                <a:spcPct val="120000"/>
              </a:lnSpc>
              <a:buNone/>
            </a:pPr>
            <a:r>
              <a:rPr lang="en-US" sz="980" dirty="0">
                <a:solidFill>
                  <a:srgbClr val="54513F"/>
                </a:solidFill>
                <a:latin typeface="Calibri" pitchFamily="34" charset="0"/>
                <a:ea typeface="Calibri" pitchFamily="34" charset="-122"/>
                <a:cs typeface="Calibri" pitchFamily="34" charset="-120"/>
              </a:rPr>
              <a:t>Slider shrinks to a thin scrubber beneath a dashboard readout: "Right now · time", big daypart word, CTA pill.</a:t>
            </a:r>
            <a:endParaRPr lang="en-US" sz="980" dirty="0"/>
          </a:p>
        </p:txBody>
      </p:sp>
      <p:sp>
        <p:nvSpPr>
          <p:cNvPr id="52" name="Text 50"/>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53" name="Text 51"/>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12 / 39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PROCESS · JUDGMENT CALL</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PROTOTYPING FAST DOESN'T MEAN ACCEPTING FAST</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KEEP</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1d's label transition</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Matches the shipped spec exactly (solid → chili → outline) — good validation that the documented rule already reads correctly to an outside model.</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separate "now" marker</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Confirmed as the right call; toggling it on/off made it obvious how much the "peek, don't switch" idea depends on that marker never disappearing.</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1b's real-hours segments</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A more honest metaphor than four equal quarters — strong candidate to fold into the next iteration of the shipped slider.</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PARK OR REJECT</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1c's hour ruler</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Reads great, but it reintroduces the literal clock the no-clock rule exists to prevent. Rejected on principle, not on execution.</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1e's matchstick gradient</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Beautiful, but its rust/near-black stops sit outside the three-hue-ramp rule — would need rebuilding from existing chili-ramp tokens to stay compliant.</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1f's status-card layout</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A strong pattern, but de-emphasizing the slider undercuts the "one control, three jobs" mechanic. Parked for a possible inner page, not the hero.</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13 / 39</a:t>
            </a:r>
            <a:endParaRPr lang="en-US" sz="10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PROCESS · HERO, ROUND TWO</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THE MECHANIC OUTLIVED THE WIDGET</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A PARTICIPANT SAID "TOO COMPLICATED"</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Fairly: the slider rail carried four labels, a knob, a now-marker, a status line and an instruction — six pieces of chrome for one fact. Tested against alternatives, a four-tile photo grid won: a photograph of eggs says “morning here” faster than the word BREAKFAST, in both languages at once.</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HEAT = TIME SURVIVED</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The state model, the status-line matrix and the day/night flip all carry over — tapping a dinner tile darkens the site. Size carries selection (the grid is the scale); the NOW pip stays independent of selection — the slider’s two axes intact. No auto-revert: time proposes, memory disposes.</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COSTS RECORDED HONESTLY</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Sixteen art-directed photos instead of four, maintained by the team; the all-day story less visible at a glance (mitigations noted, not built). Layering stays desktop-only — at mobile sizes a 4px sheet offset reads as print misregistration, not depth.</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Now settled at every width: the visual slider is the hero, chosen on responsiveness, usability and A/B results — and finished in the browser rather than Figma, where the cards grew until the selected tile carried the composition.</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14 / 39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SOLUTION · INFORMATION ARCHITECTURE</a:t>
            </a:r>
            <a:endParaRPr lang="en-US" sz="1300" dirty="0"/>
          </a:p>
        </p:txBody>
      </p:sp>
      <p:sp>
        <p:nvSpPr>
          <p:cNvPr id="3" name="Text 1"/>
          <p:cNvSpPr/>
          <p:nvPr/>
        </p:nvSpPr>
        <p:spPr>
          <a:xfrm>
            <a:off x="548640" y="731520"/>
            <a:ext cx="6858000" cy="822960"/>
          </a:xfrm>
          <a:prstGeom prst="rect">
            <a:avLst/>
          </a:prstGeom>
          <a:noFill/>
          <a:ln/>
        </p:spPr>
        <p:txBody>
          <a:bodyPr wrap="square" rtlCol="0" anchor="ctr"/>
          <a:lstStyle/>
          <a:p>
            <a:pPr indent="0" marL="0">
              <a:buNone/>
            </a:pPr>
            <a:r>
              <a:rPr lang="en-US" sz="2500" b="1" dirty="0">
                <a:solidFill>
                  <a:srgbClr val="151317"/>
                </a:solidFill>
                <a:latin typeface="Arial" pitchFamily="34" charset="0"/>
                <a:ea typeface="Arial" pitchFamily="34" charset="-122"/>
                <a:cs typeface="Arial" pitchFamily="34" charset="-120"/>
              </a:rPr>
              <a:t>THE HERO WAS NEVER THE WHOLE PAGE</a:t>
            </a:r>
            <a:endParaRPr lang="en-US" sz="2500" dirty="0"/>
          </a:p>
        </p:txBody>
      </p:sp>
      <p:sp>
        <p:nvSpPr>
          <p:cNvPr id="4" name="Text 2"/>
          <p:cNvSpPr/>
          <p:nvPr/>
        </p:nvSpPr>
        <p:spPr>
          <a:xfrm>
            <a:off x="548640" y="1554480"/>
            <a:ext cx="6583680" cy="685800"/>
          </a:xfrm>
          <a:prstGeom prst="rect">
            <a:avLst/>
          </a:prstGeom>
          <a:noFill/>
          <a:ln/>
        </p:spPr>
        <p:txBody>
          <a:bodyPr wrap="square" rtlCol="0" anchor="ctr"/>
          <a:lstStyle/>
          <a:p>
            <a:pPr indent="0" marL="0">
              <a:lnSpc>
                <a:spcPct val="130000"/>
              </a:lnSpc>
              <a:buNone/>
            </a:pPr>
            <a:r>
              <a:rPr lang="en-US" sz="1250" dirty="0">
                <a:solidFill>
                  <a:srgbClr val="54513F"/>
                </a:solidFill>
                <a:latin typeface="Calibri" pitchFamily="34" charset="0"/>
                <a:ea typeface="Calibri" pitchFamily="34" charset="-122"/>
                <a:cs typeface="Calibri" pitchFamily="34" charset="-120"/>
              </a:rPr>
              <a:t>With the hero mechanic proven, the homepage grew to its full shape: seven sections carrying the brand's actual content priorities, mapped before layout began.</a:t>
            </a:r>
            <a:endParaRPr lang="en-US" sz="1250" dirty="0"/>
          </a:p>
        </p:txBody>
      </p:sp>
      <p:sp>
        <p:nvSpPr>
          <p:cNvPr id="5" name="Text 3"/>
          <p:cNvSpPr/>
          <p:nvPr/>
        </p:nvSpPr>
        <p:spPr>
          <a:xfrm>
            <a:off x="548640" y="2423160"/>
            <a:ext cx="365760" cy="365760"/>
          </a:xfrm>
          <a:prstGeom prst="rect">
            <a:avLst/>
          </a:prstGeom>
          <a:noFill/>
          <a:ln/>
        </p:spPr>
        <p:txBody>
          <a:bodyPr wrap="square" rtlCol="0" anchor="ctr"/>
          <a:lstStyle/>
          <a:p>
            <a:pPr indent="0" marL="0">
              <a:buNone/>
            </a:pPr>
            <a:r>
              <a:rPr lang="en-US" sz="1400" b="1" dirty="0">
                <a:solidFill>
                  <a:srgbClr val="E34314"/>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960120" y="2441448"/>
            <a:ext cx="6035040" cy="365760"/>
          </a:xfrm>
          <a:prstGeom prst="rect">
            <a:avLst/>
          </a:prstGeom>
          <a:noFill/>
          <a:ln/>
        </p:spPr>
        <p:txBody>
          <a:bodyPr wrap="square" rtlCol="0" anchor="ctr"/>
          <a:lstStyle/>
          <a:p>
            <a:pPr indent="0" marL="0">
              <a:buNone/>
            </a:pPr>
            <a:r>
              <a:rPr lang="en-US" sz="1250" dirty="0">
                <a:solidFill>
                  <a:srgbClr val="151317"/>
                </a:solidFill>
                <a:latin typeface="Calibri" pitchFamily="34" charset="0"/>
                <a:ea typeface="Calibri" pitchFamily="34" charset="-122"/>
                <a:cs typeface="Calibri" pitchFamily="34" charset="-120"/>
              </a:rPr>
              <a:t>Hero — the spice slider</a:t>
            </a:r>
            <a:endParaRPr lang="en-US" sz="1250" dirty="0"/>
          </a:p>
        </p:txBody>
      </p:sp>
      <p:sp>
        <p:nvSpPr>
          <p:cNvPr id="7" name="Text 5"/>
          <p:cNvSpPr/>
          <p:nvPr/>
        </p:nvSpPr>
        <p:spPr>
          <a:xfrm>
            <a:off x="548640" y="2880360"/>
            <a:ext cx="365760" cy="365760"/>
          </a:xfrm>
          <a:prstGeom prst="rect">
            <a:avLst/>
          </a:prstGeom>
          <a:noFill/>
          <a:ln/>
        </p:spPr>
        <p:txBody>
          <a:bodyPr wrap="square" rtlCol="0" anchor="ctr"/>
          <a:lstStyle/>
          <a:p>
            <a:pPr indent="0" marL="0">
              <a:buNone/>
            </a:pPr>
            <a:r>
              <a:rPr lang="en-US" sz="1400" b="1" dirty="0">
                <a:solidFill>
                  <a:srgbClr val="E34314"/>
                </a:solidFill>
                <a:latin typeface="Arial" pitchFamily="34" charset="0"/>
                <a:ea typeface="Arial" pitchFamily="34" charset="-122"/>
                <a:cs typeface="Arial" pitchFamily="34" charset="-120"/>
              </a:rPr>
              <a:t>2</a:t>
            </a:r>
            <a:endParaRPr lang="en-US" sz="1400" dirty="0"/>
          </a:p>
        </p:txBody>
      </p:sp>
      <p:sp>
        <p:nvSpPr>
          <p:cNvPr id="8" name="Text 6"/>
          <p:cNvSpPr/>
          <p:nvPr/>
        </p:nvSpPr>
        <p:spPr>
          <a:xfrm>
            <a:off x="960120" y="2898648"/>
            <a:ext cx="6035040" cy="365760"/>
          </a:xfrm>
          <a:prstGeom prst="rect">
            <a:avLst/>
          </a:prstGeom>
          <a:noFill/>
          <a:ln/>
        </p:spPr>
        <p:txBody>
          <a:bodyPr wrap="square" rtlCol="0" anchor="ctr"/>
          <a:lstStyle/>
          <a:p>
            <a:pPr indent="0" marL="0">
              <a:buNone/>
            </a:pPr>
            <a:r>
              <a:rPr lang="en-US" sz="1250" dirty="0">
                <a:solidFill>
                  <a:srgbClr val="151317"/>
                </a:solidFill>
                <a:latin typeface="Calibri" pitchFamily="34" charset="0"/>
                <a:ea typeface="Calibri" pitchFamily="34" charset="-122"/>
                <a:cs typeface="Calibri" pitchFamily="34" charset="-120"/>
              </a:rPr>
              <a:t>Community Hits — permanent-by-guest-demand menu items</a:t>
            </a:r>
            <a:endParaRPr lang="en-US" sz="1250" dirty="0"/>
          </a:p>
        </p:txBody>
      </p:sp>
      <p:sp>
        <p:nvSpPr>
          <p:cNvPr id="9" name="Text 7"/>
          <p:cNvSpPr/>
          <p:nvPr/>
        </p:nvSpPr>
        <p:spPr>
          <a:xfrm>
            <a:off x="548640" y="3337560"/>
            <a:ext cx="365760" cy="365760"/>
          </a:xfrm>
          <a:prstGeom prst="rect">
            <a:avLst/>
          </a:prstGeom>
          <a:noFill/>
          <a:ln/>
        </p:spPr>
        <p:txBody>
          <a:bodyPr wrap="square" rtlCol="0" anchor="ctr"/>
          <a:lstStyle/>
          <a:p>
            <a:pPr indent="0" marL="0">
              <a:buNone/>
            </a:pPr>
            <a:r>
              <a:rPr lang="en-US" sz="1400" b="1" dirty="0">
                <a:solidFill>
                  <a:srgbClr val="E34314"/>
                </a:solidFill>
                <a:latin typeface="Arial" pitchFamily="34" charset="0"/>
                <a:ea typeface="Arial" pitchFamily="34" charset="-122"/>
                <a:cs typeface="Arial" pitchFamily="34" charset="-120"/>
              </a:rPr>
              <a:t>3</a:t>
            </a:r>
            <a:endParaRPr lang="en-US" sz="1400" dirty="0"/>
          </a:p>
        </p:txBody>
      </p:sp>
      <p:sp>
        <p:nvSpPr>
          <p:cNvPr id="10" name="Text 8"/>
          <p:cNvSpPr/>
          <p:nvPr/>
        </p:nvSpPr>
        <p:spPr>
          <a:xfrm>
            <a:off x="960120" y="3355848"/>
            <a:ext cx="6035040" cy="365760"/>
          </a:xfrm>
          <a:prstGeom prst="rect">
            <a:avLst/>
          </a:prstGeom>
          <a:noFill/>
          <a:ln/>
        </p:spPr>
        <p:txBody>
          <a:bodyPr wrap="square" rtlCol="0" anchor="ctr"/>
          <a:lstStyle/>
          <a:p>
            <a:pPr indent="0" marL="0">
              <a:buNone/>
            </a:pPr>
            <a:r>
              <a:rPr lang="en-US" sz="1250" dirty="0">
                <a:solidFill>
                  <a:srgbClr val="151317"/>
                </a:solidFill>
                <a:latin typeface="Calibri" pitchFamily="34" charset="0"/>
                <a:ea typeface="Calibri" pitchFamily="34" charset="-122"/>
                <a:cs typeface="Calibri" pitchFamily="34" charset="-120"/>
              </a:rPr>
              <a:t>Home Made Infusions — the bar's signature craft proof</a:t>
            </a:r>
            <a:endParaRPr lang="en-US" sz="1250" dirty="0"/>
          </a:p>
        </p:txBody>
      </p:sp>
      <p:sp>
        <p:nvSpPr>
          <p:cNvPr id="11" name="Text 9"/>
          <p:cNvSpPr/>
          <p:nvPr/>
        </p:nvSpPr>
        <p:spPr>
          <a:xfrm>
            <a:off x="548640" y="3794760"/>
            <a:ext cx="365760" cy="365760"/>
          </a:xfrm>
          <a:prstGeom prst="rect">
            <a:avLst/>
          </a:prstGeom>
          <a:noFill/>
          <a:ln/>
        </p:spPr>
        <p:txBody>
          <a:bodyPr wrap="square" rtlCol="0" anchor="ctr"/>
          <a:lstStyle/>
          <a:p>
            <a:pPr indent="0" marL="0">
              <a:buNone/>
            </a:pPr>
            <a:r>
              <a:rPr lang="en-US" sz="1400" b="1" dirty="0">
                <a:solidFill>
                  <a:srgbClr val="E34314"/>
                </a:solidFill>
                <a:latin typeface="Arial" pitchFamily="34" charset="0"/>
                <a:ea typeface="Arial" pitchFamily="34" charset="-122"/>
                <a:cs typeface="Arial" pitchFamily="34" charset="-120"/>
              </a:rPr>
              <a:t>4</a:t>
            </a:r>
            <a:endParaRPr lang="en-US" sz="1400" dirty="0"/>
          </a:p>
        </p:txBody>
      </p:sp>
      <p:sp>
        <p:nvSpPr>
          <p:cNvPr id="12" name="Text 10"/>
          <p:cNvSpPr/>
          <p:nvPr/>
        </p:nvSpPr>
        <p:spPr>
          <a:xfrm>
            <a:off x="960120" y="3813048"/>
            <a:ext cx="6035040" cy="365760"/>
          </a:xfrm>
          <a:prstGeom prst="rect">
            <a:avLst/>
          </a:prstGeom>
          <a:noFill/>
          <a:ln/>
        </p:spPr>
        <p:txBody>
          <a:bodyPr wrap="square" rtlCol="0" anchor="ctr"/>
          <a:lstStyle/>
          <a:p>
            <a:pPr indent="0" marL="0">
              <a:buNone/>
            </a:pPr>
            <a:r>
              <a:rPr lang="en-US" sz="1250" dirty="0">
                <a:solidFill>
                  <a:srgbClr val="151317"/>
                </a:solidFill>
                <a:latin typeface="Calibri" pitchFamily="34" charset="0"/>
                <a:ea typeface="Calibri" pitchFamily="34" charset="-122"/>
                <a:cs typeface="Calibri" pitchFamily="34" charset="-120"/>
              </a:rPr>
              <a:t>Seasonal Kitchen Menu — the food's quiet-retention story</a:t>
            </a:r>
            <a:endParaRPr lang="en-US" sz="1250" dirty="0"/>
          </a:p>
        </p:txBody>
      </p:sp>
      <p:sp>
        <p:nvSpPr>
          <p:cNvPr id="13" name="Text 11"/>
          <p:cNvSpPr/>
          <p:nvPr/>
        </p:nvSpPr>
        <p:spPr>
          <a:xfrm>
            <a:off x="548640" y="4251960"/>
            <a:ext cx="365760" cy="365760"/>
          </a:xfrm>
          <a:prstGeom prst="rect">
            <a:avLst/>
          </a:prstGeom>
          <a:noFill/>
          <a:ln/>
        </p:spPr>
        <p:txBody>
          <a:bodyPr wrap="square" rtlCol="0" anchor="ctr"/>
          <a:lstStyle/>
          <a:p>
            <a:pPr indent="0" marL="0">
              <a:buNone/>
            </a:pPr>
            <a:r>
              <a:rPr lang="en-US" sz="1400" b="1" dirty="0">
                <a:solidFill>
                  <a:srgbClr val="E34314"/>
                </a:solidFill>
                <a:latin typeface="Arial" pitchFamily="34" charset="0"/>
                <a:ea typeface="Arial" pitchFamily="34" charset="-122"/>
                <a:cs typeface="Arial" pitchFamily="34" charset="-120"/>
              </a:rPr>
              <a:t>5</a:t>
            </a:r>
            <a:endParaRPr lang="en-US" sz="1400" dirty="0"/>
          </a:p>
        </p:txBody>
      </p:sp>
      <p:sp>
        <p:nvSpPr>
          <p:cNvPr id="14" name="Text 12"/>
          <p:cNvSpPr/>
          <p:nvPr/>
        </p:nvSpPr>
        <p:spPr>
          <a:xfrm>
            <a:off x="960120" y="4270248"/>
            <a:ext cx="6035040" cy="365760"/>
          </a:xfrm>
          <a:prstGeom prst="rect">
            <a:avLst/>
          </a:prstGeom>
          <a:noFill/>
          <a:ln/>
        </p:spPr>
        <p:txBody>
          <a:bodyPr wrap="square" rtlCol="0" anchor="ctr"/>
          <a:lstStyle/>
          <a:p>
            <a:pPr indent="0" marL="0">
              <a:buNone/>
            </a:pPr>
            <a:r>
              <a:rPr lang="en-US" sz="1250" dirty="0">
                <a:solidFill>
                  <a:srgbClr val="151317"/>
                </a:solidFill>
                <a:latin typeface="Calibri" pitchFamily="34" charset="0"/>
                <a:ea typeface="Calibri" pitchFamily="34" charset="-122"/>
                <a:cs typeface="Calibri" pitchFamily="34" charset="-120"/>
              </a:rPr>
              <a:t>The Pepper Story — About-page teaser</a:t>
            </a:r>
            <a:endParaRPr lang="en-US" sz="1250" dirty="0"/>
          </a:p>
        </p:txBody>
      </p:sp>
      <p:sp>
        <p:nvSpPr>
          <p:cNvPr id="15" name="Text 13"/>
          <p:cNvSpPr/>
          <p:nvPr/>
        </p:nvSpPr>
        <p:spPr>
          <a:xfrm>
            <a:off x="548640" y="4709160"/>
            <a:ext cx="365760" cy="365760"/>
          </a:xfrm>
          <a:prstGeom prst="rect">
            <a:avLst/>
          </a:prstGeom>
          <a:noFill/>
          <a:ln/>
        </p:spPr>
        <p:txBody>
          <a:bodyPr wrap="square" rtlCol="0" anchor="ctr"/>
          <a:lstStyle/>
          <a:p>
            <a:pPr indent="0" marL="0">
              <a:buNone/>
            </a:pPr>
            <a:r>
              <a:rPr lang="en-US" sz="1400" b="1" dirty="0">
                <a:solidFill>
                  <a:srgbClr val="E34314"/>
                </a:solidFill>
                <a:latin typeface="Arial" pitchFamily="34" charset="0"/>
                <a:ea typeface="Arial" pitchFamily="34" charset="-122"/>
                <a:cs typeface="Arial" pitchFamily="34" charset="-120"/>
              </a:rPr>
              <a:t>6</a:t>
            </a:r>
            <a:endParaRPr lang="en-US" sz="1400" dirty="0"/>
          </a:p>
        </p:txBody>
      </p:sp>
      <p:sp>
        <p:nvSpPr>
          <p:cNvPr id="16" name="Text 14"/>
          <p:cNvSpPr/>
          <p:nvPr/>
        </p:nvSpPr>
        <p:spPr>
          <a:xfrm>
            <a:off x="960120" y="4727448"/>
            <a:ext cx="6035040" cy="365760"/>
          </a:xfrm>
          <a:prstGeom prst="rect">
            <a:avLst/>
          </a:prstGeom>
          <a:noFill/>
          <a:ln/>
        </p:spPr>
        <p:txBody>
          <a:bodyPr wrap="square" rtlCol="0" anchor="ctr"/>
          <a:lstStyle/>
          <a:p>
            <a:pPr indent="0" marL="0">
              <a:buNone/>
            </a:pPr>
            <a:r>
              <a:rPr lang="en-US" sz="1250" dirty="0">
                <a:solidFill>
                  <a:srgbClr val="151317"/>
                </a:solidFill>
                <a:latin typeface="Calibri" pitchFamily="34" charset="0"/>
                <a:ea typeface="Calibri" pitchFamily="34" charset="-122"/>
                <a:cs typeface="Calibri" pitchFamily="34" charset="-120"/>
              </a:rPr>
              <a:t>News, Parties, Promos — manual social feed mirror</a:t>
            </a:r>
            <a:endParaRPr lang="en-US" sz="1250" dirty="0"/>
          </a:p>
        </p:txBody>
      </p:sp>
      <p:sp>
        <p:nvSpPr>
          <p:cNvPr id="17" name="Text 15"/>
          <p:cNvSpPr/>
          <p:nvPr/>
        </p:nvSpPr>
        <p:spPr>
          <a:xfrm>
            <a:off x="548640" y="5166360"/>
            <a:ext cx="365760" cy="365760"/>
          </a:xfrm>
          <a:prstGeom prst="rect">
            <a:avLst/>
          </a:prstGeom>
          <a:noFill/>
          <a:ln/>
        </p:spPr>
        <p:txBody>
          <a:bodyPr wrap="square" rtlCol="0" anchor="ctr"/>
          <a:lstStyle/>
          <a:p>
            <a:pPr indent="0" marL="0">
              <a:buNone/>
            </a:pPr>
            <a:r>
              <a:rPr lang="en-US" sz="1400" b="1" dirty="0">
                <a:solidFill>
                  <a:srgbClr val="E34314"/>
                </a:solidFill>
                <a:latin typeface="Arial" pitchFamily="34" charset="0"/>
                <a:ea typeface="Arial" pitchFamily="34" charset="-122"/>
                <a:cs typeface="Arial" pitchFamily="34" charset="-120"/>
              </a:rPr>
              <a:t>7</a:t>
            </a:r>
            <a:endParaRPr lang="en-US" sz="1400" dirty="0"/>
          </a:p>
        </p:txBody>
      </p:sp>
      <p:sp>
        <p:nvSpPr>
          <p:cNvPr id="18" name="Text 16"/>
          <p:cNvSpPr/>
          <p:nvPr/>
        </p:nvSpPr>
        <p:spPr>
          <a:xfrm>
            <a:off x="960120" y="5184648"/>
            <a:ext cx="6035040" cy="365760"/>
          </a:xfrm>
          <a:prstGeom prst="rect">
            <a:avLst/>
          </a:prstGeom>
          <a:noFill/>
          <a:ln/>
        </p:spPr>
        <p:txBody>
          <a:bodyPr wrap="square" rtlCol="0" anchor="ctr"/>
          <a:lstStyle/>
          <a:p>
            <a:pPr indent="0" marL="0">
              <a:buNone/>
            </a:pPr>
            <a:r>
              <a:rPr lang="en-US" sz="1250" dirty="0">
                <a:solidFill>
                  <a:srgbClr val="151317"/>
                </a:solidFill>
                <a:latin typeface="Calibri" pitchFamily="34" charset="0"/>
                <a:ea typeface="Calibri" pitchFamily="34" charset="-122"/>
                <a:cs typeface="Calibri" pitchFamily="34" charset="-120"/>
              </a:rPr>
              <a:t>Find Us — map, reservation form, hours, footer</a:t>
            </a:r>
            <a:endParaRPr lang="en-US" sz="1250" dirty="0"/>
          </a:p>
        </p:txBody>
      </p:sp>
      <p:pic>
        <p:nvPicPr>
          <p:cNvPr id="19" name="Image 0" descr="/sessions/bold-gracious-fermi/mnt/outputs/sweet-case-study/assets/home-ia.png">    </p:cNvPr>
          <p:cNvPicPr>
            <a:picLocks noChangeAspect="1"/>
          </p:cNvPicPr>
          <p:nvPr/>
        </p:nvPicPr>
        <p:blipFill>
          <a:blip r:embed="rId1"/>
          <a:srcRect/>
          <a:stretch/>
        </p:blipFill>
        <p:spPr>
          <a:xfrm>
            <a:off x="7442627" y="1371600"/>
            <a:ext cx="3859946" cy="5120640"/>
          </a:xfrm>
          <a:prstGeom prst="rect">
            <a:avLst/>
          </a:prstGeom>
        </p:spPr>
      </p:pic>
      <p:sp>
        <p:nvSpPr>
          <p:cNvPr id="20" name="Text 17"/>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8"/>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15 / 39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LAYOUT RHYTHM</a:t>
            </a:r>
            <a:endParaRPr lang="en-US" sz="1300" dirty="0"/>
          </a:p>
        </p:txBody>
      </p:sp>
      <p:sp>
        <p:nvSpPr>
          <p:cNvPr id="3" name="Text 1"/>
          <p:cNvSpPr/>
          <p:nvPr/>
        </p:nvSpPr>
        <p:spPr>
          <a:xfrm>
            <a:off x="548640" y="731520"/>
            <a:ext cx="6766560" cy="822960"/>
          </a:xfrm>
          <a:prstGeom prst="rect">
            <a:avLst/>
          </a:prstGeom>
          <a:noFill/>
          <a:ln/>
        </p:spPr>
        <p:txBody>
          <a:bodyPr wrap="square" rtlCol="0" anchor="ctr"/>
          <a:lstStyle/>
          <a:p>
            <a:pPr indent="0" marL="0">
              <a:buNone/>
            </a:pPr>
            <a:r>
              <a:rPr lang="en-US" sz="2600" b="1" dirty="0">
                <a:solidFill>
                  <a:srgbClr val="F3E9D2"/>
                </a:solidFill>
                <a:latin typeface="Arial" pitchFamily="34" charset="0"/>
                <a:ea typeface="Arial" pitchFamily="34" charset="-122"/>
                <a:cs typeface="Arial" pitchFamily="34" charset="-120"/>
              </a:rPr>
              <a:t>SAME SECTIONS, TWO RHYTHMS</a:t>
            </a:r>
            <a:endParaRPr lang="en-US" sz="2600" dirty="0"/>
          </a:p>
        </p:txBody>
      </p:sp>
      <p:sp>
        <p:nvSpPr>
          <p:cNvPr id="4" name="Text 2"/>
          <p:cNvSpPr/>
          <p:nvPr/>
        </p:nvSpPr>
        <p:spPr>
          <a:xfrm>
            <a:off x="548640" y="1691640"/>
            <a:ext cx="6035040" cy="1463040"/>
          </a:xfrm>
          <a:prstGeom prst="rect">
            <a:avLst/>
          </a:prstGeom>
          <a:noFill/>
          <a:ln/>
        </p:spPr>
        <p:txBody>
          <a:bodyPr wrap="square" rtlCol="0" anchor="ctr"/>
          <a:lstStyle/>
          <a:p>
            <a:pPr indent="0" marL="0">
              <a:lnSpc>
                <a:spcPct val="135000"/>
              </a:lnSpc>
              <a:buNone/>
            </a:pPr>
            <a:r>
              <a:rPr lang="en-US" sz="1300" dirty="0">
                <a:solidFill>
                  <a:srgbClr val="9E9789"/>
                </a:solidFill>
                <a:latin typeface="Calibri" pitchFamily="34" charset="0"/>
                <a:ea typeface="Calibri" pitchFamily="34" charset="-122"/>
                <a:cs typeface="Calibri" pitchFamily="34" charset="-120"/>
              </a:rPr>
              <a:t>Day alternates cleanly — light/dark down the page, one Lemon band as the single colour-block moment. Saturated hues stay banners, never full-page surfaces.</a:t>
            </a:r>
            <a:endParaRPr lang="en-US" sz="1300" dirty="0"/>
          </a:p>
        </p:txBody>
      </p:sp>
      <p:sp>
        <p:nvSpPr>
          <p:cNvPr id="5" name="Text 3"/>
          <p:cNvSpPr/>
          <p:nvPr/>
        </p:nvSpPr>
        <p:spPr>
          <a:xfrm>
            <a:off x="548640" y="3429000"/>
            <a:ext cx="6035040" cy="1280160"/>
          </a:xfrm>
          <a:prstGeom prst="rect">
            <a:avLst/>
          </a:prstGeom>
          <a:noFill/>
          <a:ln/>
        </p:spPr>
        <p:txBody>
          <a:bodyPr wrap="square" rtlCol="0" anchor="ctr"/>
          <a:lstStyle/>
          <a:p>
            <a:pPr indent="0" marL="0">
              <a:lnSpc>
                <a:spcPct val="130000"/>
              </a:lnSpc>
              <a:buNone/>
            </a:pPr>
            <a:r>
              <a:rPr lang="en-US" sz="1250" i="1" dirty="0">
                <a:solidFill>
                  <a:srgbClr val="F3E9D2"/>
                </a:solidFill>
                <a:latin typeface="Calibri" pitchFamily="34" charset="0"/>
                <a:ea typeface="Calibri" pitchFamily="34" charset="-122"/>
                <a:cs typeface="Calibri" pitchFamily="34" charset="-120"/>
              </a:rPr>
              <a:t>Night doesn’t checkerboard — it commits to darkness, accents glowing out of shared dark. Long dark runs break with a new Soft Peppercorn token (texture without contrast); one bright section stays as the mid-page point of light. Contact sits dark in both — the wind-down zone at any hour.</a:t>
            </a:r>
            <a:endParaRPr lang="en-US" sz="1250" dirty="0"/>
          </a:p>
        </p:txBody>
      </p:sp>
      <p:sp>
        <p:nvSpPr>
          <p:cNvPr id="6" name="Shape 4"/>
          <p:cNvSpPr/>
          <p:nvPr/>
        </p:nvSpPr>
        <p:spPr>
          <a:xfrm>
            <a:off x="6949440" y="502920"/>
            <a:ext cx="2468880" cy="5989320"/>
          </a:xfrm>
          <a:prstGeom prst="rect">
            <a:avLst/>
          </a:prstGeom>
          <a:solidFill>
            <a:srgbClr val="0B0A0C"/>
          </a:solidFill>
          <a:ln/>
        </p:spPr>
        <p:txBody>
          <a:bodyPr/>
          <a:p/>
        </p:txBody>
      </p:sp>
      <p:pic>
        <p:nvPicPr>
          <p:cNvPr id="7" name="Image 0" descr="/sessions/bold-gracious-fermi/mnt/outputs/sweet-case-study/assets/strip-full-day.jpg">    </p:cNvPr>
          <p:cNvPicPr>
            <a:picLocks noChangeAspect="1"/>
          </p:cNvPicPr>
          <p:nvPr/>
        </p:nvPicPr>
        <p:blipFill>
          <a:blip r:embed="rId1"/>
          <a:srcRect/>
          <a:stretch/>
        </p:blipFill>
        <p:spPr>
          <a:xfrm>
            <a:off x="7675435" y="594360"/>
            <a:ext cx="1016889" cy="5806440"/>
          </a:xfrm>
          <a:prstGeom prst="rect">
            <a:avLst/>
          </a:prstGeom>
        </p:spPr>
      </p:pic>
      <p:sp>
        <p:nvSpPr>
          <p:cNvPr id="8" name="Text 5"/>
          <p:cNvSpPr/>
          <p:nvPr/>
        </p:nvSpPr>
        <p:spPr>
          <a:xfrm>
            <a:off x="6949440" y="6492240"/>
            <a:ext cx="2468880" cy="274320"/>
          </a:xfrm>
          <a:prstGeom prst="rect">
            <a:avLst/>
          </a:prstGeom>
          <a:noFill/>
          <a:ln/>
        </p:spPr>
        <p:txBody>
          <a:bodyPr wrap="square" rtlCol="0" anchor="ctr"/>
          <a:lstStyle/>
          <a:p>
            <a:pPr algn="ctr" indent="0" marL="0">
              <a:buNone/>
            </a:pPr>
            <a:r>
              <a:rPr lang="en-US" sz="1100" b="1" dirty="0">
                <a:solidFill>
                  <a:srgbClr val="737D3A"/>
                </a:solidFill>
                <a:latin typeface="Arial" pitchFamily="34" charset="0"/>
                <a:ea typeface="Arial" pitchFamily="34" charset="-122"/>
                <a:cs typeface="Arial" pitchFamily="34" charset="-120"/>
              </a:rPr>
              <a:t>DAY</a:t>
            </a:r>
            <a:endParaRPr lang="en-US" sz="1100" dirty="0"/>
          </a:p>
        </p:txBody>
      </p:sp>
      <p:sp>
        <p:nvSpPr>
          <p:cNvPr id="9" name="Shape 6"/>
          <p:cNvSpPr/>
          <p:nvPr/>
        </p:nvSpPr>
        <p:spPr>
          <a:xfrm>
            <a:off x="9601200" y="502920"/>
            <a:ext cx="2468880" cy="5989320"/>
          </a:xfrm>
          <a:prstGeom prst="rect">
            <a:avLst/>
          </a:prstGeom>
          <a:solidFill>
            <a:srgbClr val="0B0A0C"/>
          </a:solidFill>
          <a:ln/>
        </p:spPr>
        <p:txBody>
          <a:bodyPr/>
          <a:p/>
        </p:txBody>
      </p:sp>
      <p:pic>
        <p:nvPicPr>
          <p:cNvPr id="10" name="Image 1" descr="/sessions/bold-gracious-fermi/mnt/outputs/sweet-case-study/assets/strip-full-night.jpg">    </p:cNvPr>
          <p:cNvPicPr>
            <a:picLocks noChangeAspect="1"/>
          </p:cNvPicPr>
          <p:nvPr/>
        </p:nvPicPr>
        <p:blipFill>
          <a:blip r:embed="rId2"/>
          <a:srcRect/>
          <a:stretch/>
        </p:blipFill>
        <p:spPr>
          <a:xfrm>
            <a:off x="10328261" y="594360"/>
            <a:ext cx="1014757" cy="5806440"/>
          </a:xfrm>
          <a:prstGeom prst="rect">
            <a:avLst/>
          </a:prstGeom>
        </p:spPr>
      </p:pic>
      <p:sp>
        <p:nvSpPr>
          <p:cNvPr id="11" name="Text 7"/>
          <p:cNvSpPr/>
          <p:nvPr/>
        </p:nvSpPr>
        <p:spPr>
          <a:xfrm>
            <a:off x="9601200" y="6492240"/>
            <a:ext cx="2468880" cy="274320"/>
          </a:xfrm>
          <a:prstGeom prst="rect">
            <a:avLst/>
          </a:prstGeom>
          <a:noFill/>
          <a:ln/>
        </p:spPr>
        <p:txBody>
          <a:bodyPr wrap="square" rtlCol="0" anchor="ctr"/>
          <a:lstStyle/>
          <a:p>
            <a:pPr algn="ctr" indent="0" marL="0">
              <a:buNone/>
            </a:pPr>
            <a:r>
              <a:rPr lang="en-US" sz="1100" b="1" dirty="0">
                <a:solidFill>
                  <a:srgbClr val="C1DB34"/>
                </a:solidFill>
                <a:latin typeface="Arial" pitchFamily="34" charset="0"/>
                <a:ea typeface="Arial" pitchFamily="34" charset="-122"/>
                <a:cs typeface="Arial" pitchFamily="34" charset="-120"/>
              </a:rPr>
              <a:t>NIGHT</a:t>
            </a:r>
            <a:endParaRPr lang="en-US" sz="11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MENU PAGE</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TESTED, NOT GUESSED</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WON — SIDE-NAV POSTER</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All sections visible at once</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Won stakeholder A/B + usability testing on the page’s stated KPI — time-to-dish. A Parchment nav panel merges into the content it navigates; photos stack on tilted Lemon + Chili sheets.</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Two independent axes</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Content state (food/drinks) × theme (day/night) never lock — kitchen content at 9pm is kitchen content in night clothes. Time proposes, memory disposes.</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Soups: a separate section</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Testing showed guests could find soups under Hot dishes but agreed they don’t belong there — an accepted, documented web↔print divergence.</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RETIRED — BUT PAYING RENT</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carousel / ticker hero</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A loop re-reads the list one word at a time; the side-nav shows it all at once. Survives only as a display motif — scrolling text never means two things on one page.</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split-screen hero</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Lost as a layout, but its seam sweep is the candidate transition when guests cross between menus through the door.</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Seasonal as a section</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Years of separate seasonal print pieces underperformed integrated dishes — seasonal became a tag with a Lime badge feeding a query-driven rail.</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17 / 39</a:t>
            </a:r>
            <a:endParaRPr lang="en-US" sz="10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SIGNATURE COMPONENTS</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THE INTERFACE ANSWERS LIKE THE BAR</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THE BARTENDER'S TICKET</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An order slip the interface “prints” to answer the guest — the kitchen–bar handshake made tangible. Always Paper, day or night (a receipt is paper regardless of the hour), so on dark grounds it’s the brightest object in view: max one per viewport. The reply is always a person speaking, never a template.</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ONE MOTION LANGUAGE</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Outline → fill is the one state change everywhere — slider labels, nav words, the word cloud. One idle clock per section: untouched sections demo themselves; any interaction seizes the clock. Spring easing, transforms only; reduced-motion keeps state changes and drops the theatre.</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DOORS — THE THIRD TAPPABLE STYLE</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A Molot word standing on a small tilted block with an always-visible arrow — used only to cross between the food and drinks menus. Nothing else may be door-shaped; the closed vocabulary grew by exactly one, under the same discipline.</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DRINKS exits with →, FOOD returns with ← — direction encodes the room metaphor site-wide. Once the hero scrolls away, an edge tab slides the same nav panel back in: the hero’s column returning, not a new mechanic to learn.</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18 / 39</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VISIT PAGE</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THREE ANXIETIES, IN ORDER</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OPEN NOW → FIND YOU → GET A SEAT</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The page answers the three anxieties in that order; everything else is a chip. It’s the one page where the clock works for the guest — the documented service-page exemption to the no-clock rule. The hero is a bartender’s ticket printing today’s status.</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JOURNEY / STAY — ONE SOURCE, TWO PAGES</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House facts live in one ACF repeater: if a fact affects the journey to the door it renders on Visit; if it affects the stay, on About. Two registers, one source — never a copied section.</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TWO-SPEED CONTACT &amp; THE MAP</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Fast lane (phone, DM) for tables; slow lane (form + email) for feedback — the founder’s reasoning: a guest with a channel to complain is a guest whose issue can be resolved. The form is styled to never look like the booking path.</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The map, decided twice. First Yandex: Google’s free embed is single-pin and its Yaroslavl data looked weak. The build overturned it on evidence — only Google My Maps carries the custom walking routes, and the team confirmed from Russia that it loads. One Google map now; Yandex and 2GIS a chip away.</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19 / 39</a:t>
            </a:r>
            <a:endParaRPr lang="en-US" sz="10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CONTENT SYSTEM</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STATUS LINES: COPY AS A SYSTEM</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THE MATRIX</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Four stops × five states</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Beginning, full swing, last call, off-hours — plus closed on the edge stops only. Every line follows one format: [fact] — [reassurance/wink]. "lunch till 4 — no rush."</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"Closed" is never a fifth stop</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scale enumerates offers, and closed isn’t one. Overnight the knob parks on the next open door — the site points forward, never at a dark room.</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Weekends rewrite the second stop</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LUNCH becomes BRUNCH from the same ACF hours source. No brunch menu exists — the copy frames it as generosity: "the brunch menu is the whole menu — that’s the deal."</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THE DISCIPLINE</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Clockless numerals</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"till 12", "till 4", "1:30" — never AM/PM. Exact times only where anxiety is real. The no-clock rule survives contact with an actual schedule.</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16 variants, not 80</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Only stop × mode × marker are Figma variants; every status line is a text prop. The copy matrix never explodes the component set.</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 testing log with predictions</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testing.md records every open question with a prediction before the test runs — and labels what was user-tested versus decided on other evidence.</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20 / 39</a:t>
            </a:r>
            <a:endParaRPr lang="en-US" sz="10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MOBILE</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SAME RULES, ONE HAND</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THE DRAWER</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Four nav items collapse into a full-screen drawer that themes by time like every surface — Molot items with guest-voice descriptions, outline → fill marking “you are here” (readable in greyscale; colour never carries state alone), and a booking block where phone leads: Russian guests book by call.</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TOUCH SPLITS PREVIEW FROM COMMIT</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The menu hero’s no-CTA rule turned out to be scoped to pointer input: hover and click are two channels, touch has one — a word can’t be both preview and commit. On touch, tapping a word previews and a boxed action commits; the active word drops its arrow, because on touch it isn’t the action.</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FINDINGS ON RECORD</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Reserve’s right-edge tab doesn’t survive a 390px screen. Three placements tried and rejected — edge tab, floating button, persistent nav button — each failure written down so the ground is never re-covered. Built that way: no persistent Reserve on mobile at all.</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Rules get amended in daylight, not violated quietly: the “never a pill” caption ban was narrowed to what it actually meant, and scrolling text was restated as never-navigation, one job per page, when the Visit status rail gave it a second legitimate use.</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21 / 39</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SOLUTION · CONTENT STRATEGY</a:t>
            </a:r>
            <a:endParaRPr lang="en-US" sz="1300" dirty="0"/>
          </a:p>
        </p:txBody>
      </p:sp>
      <p:sp>
        <p:nvSpPr>
          <p:cNvPr id="3" name="Text 1"/>
          <p:cNvSpPr/>
          <p:nvPr/>
        </p:nvSpPr>
        <p:spPr>
          <a:xfrm>
            <a:off x="548640" y="731520"/>
            <a:ext cx="9601200" cy="822960"/>
          </a:xfrm>
          <a:prstGeom prst="rect">
            <a:avLst/>
          </a:prstGeom>
          <a:noFill/>
          <a:ln/>
        </p:spPr>
        <p:txBody>
          <a:bodyPr wrap="square" rtlCol="0" anchor="ctr"/>
          <a:lstStyle/>
          <a:p>
            <a:pPr indent="0" marL="0">
              <a:buNone/>
            </a:pPr>
            <a:r>
              <a:rPr lang="en-US" sz="2800" b="1" dirty="0">
                <a:solidFill>
                  <a:srgbClr val="151317"/>
                </a:solidFill>
                <a:latin typeface="Arial" pitchFamily="34" charset="0"/>
                <a:ea typeface="Arial" pitchFamily="34" charset="-122"/>
                <a:cs typeface="Arial" pitchFamily="34" charset="-120"/>
              </a:rPr>
              <a:t>WRITING THE STORY, NOT INVENTING IT</a:t>
            </a:r>
            <a:endParaRPr lang="en-US" sz="2800" dirty="0"/>
          </a:p>
        </p:txBody>
      </p:sp>
      <p:sp>
        <p:nvSpPr>
          <p:cNvPr id="4" name="Text 2"/>
          <p:cNvSpPr/>
          <p:nvPr/>
        </p:nvSpPr>
        <p:spPr>
          <a:xfrm>
            <a:off x="548640" y="1600200"/>
            <a:ext cx="6035040" cy="1005840"/>
          </a:xfrm>
          <a:prstGeom prst="rect">
            <a:avLst/>
          </a:prstGeom>
          <a:noFill/>
          <a:ln/>
        </p:spPr>
        <p:txBody>
          <a:bodyPr wrap="square" rtlCol="0" anchor="ctr"/>
          <a:lstStyle/>
          <a:p>
            <a:pPr indent="0" marL="0">
              <a:lnSpc>
                <a:spcPct val="130000"/>
              </a:lnSpc>
              <a:buNone/>
            </a:pPr>
            <a:r>
              <a:rPr lang="en-US" sz="1300" dirty="0">
                <a:solidFill>
                  <a:srgbClr val="54513F"/>
                </a:solidFill>
                <a:latin typeface="Calibri" pitchFamily="34" charset="0"/>
                <a:ea typeface="Calibri" pitchFamily="34" charset="-122"/>
                <a:cs typeface="Calibri" pitchFamily="34" charset="-120"/>
              </a:rPr>
              <a:t>Drafted, then restructured, the full About page. Final arc: Hero → Story → Concept → Mission → People → Recognition → Location → Careers → Visit — all sourced from research and founder interviews; nothing invented beyond phrasing.</a:t>
            </a:r>
            <a:endParaRPr lang="en-US" sz="1300" dirty="0"/>
          </a:p>
        </p:txBody>
      </p:sp>
      <p:sp>
        <p:nvSpPr>
          <p:cNvPr id="5" name="Text 3"/>
          <p:cNvSpPr/>
          <p:nvPr/>
        </p:nvSpPr>
        <p:spPr>
          <a:xfrm>
            <a:off x="548640" y="2788920"/>
            <a:ext cx="6035040" cy="292608"/>
          </a:xfrm>
          <a:prstGeom prst="rect">
            <a:avLst/>
          </a:prstGeom>
          <a:noFill/>
          <a:ln/>
        </p:spPr>
        <p:txBody>
          <a:bodyPr wrap="square" rtlCol="0" anchor="ctr"/>
          <a:lstStyle/>
          <a:p>
            <a:pPr indent="0" marL="0">
              <a:buNone/>
            </a:pPr>
            <a:r>
              <a:rPr lang="en-US" sz="1200" b="1" spc="50" kern="0" dirty="0">
                <a:solidFill>
                  <a:srgbClr val="E34314"/>
                </a:solidFill>
                <a:latin typeface="Arial" pitchFamily="34" charset="0"/>
                <a:ea typeface="Arial" pitchFamily="34" charset="-122"/>
                <a:cs typeface="Arial" pitchFamily="34" charset="-120"/>
              </a:rPr>
              <a:t>FROM TABASCO TO SWEET PEPPER</a:t>
            </a:r>
            <a:endParaRPr lang="en-US" sz="1200" dirty="0"/>
          </a:p>
        </p:txBody>
      </p:sp>
      <p:sp>
        <p:nvSpPr>
          <p:cNvPr id="6" name="Text 4"/>
          <p:cNvSpPr/>
          <p:nvPr/>
        </p:nvSpPr>
        <p:spPr>
          <a:xfrm>
            <a:off x="548640" y="3081528"/>
            <a:ext cx="6035040" cy="457200"/>
          </a:xfrm>
          <a:prstGeom prst="rect">
            <a:avLst/>
          </a:prstGeom>
          <a:noFill/>
          <a:ln/>
        </p:spPr>
        <p:txBody>
          <a:bodyPr wrap="square" rtlCol="0" anchor="ctr"/>
          <a:lstStyle/>
          <a:p>
            <a:pPr indent="0" marL="0">
              <a:lnSpc>
                <a:spcPct val="120000"/>
              </a:lnSpc>
              <a:buNone/>
            </a:pPr>
            <a:r>
              <a:rPr lang="en-US" sz="1100" dirty="0">
                <a:solidFill>
                  <a:srgbClr val="54513F"/>
                </a:solidFill>
                <a:latin typeface="Calibri" pitchFamily="34" charset="0"/>
                <a:ea typeface="Calibri" pitchFamily="34" charset="-122"/>
                <a:cs typeface="Calibri" pitchFamily="34" charset="-120"/>
              </a:rPr>
              <a:t>Founding story — the name as a deliberate softening, kept edge plus added food</a:t>
            </a:r>
            <a:endParaRPr lang="en-US" sz="1100" dirty="0"/>
          </a:p>
        </p:txBody>
      </p:sp>
      <p:sp>
        <p:nvSpPr>
          <p:cNvPr id="7" name="Text 5"/>
          <p:cNvSpPr/>
          <p:nvPr/>
        </p:nvSpPr>
        <p:spPr>
          <a:xfrm>
            <a:off x="548640" y="3630168"/>
            <a:ext cx="6035040" cy="292608"/>
          </a:xfrm>
          <a:prstGeom prst="rect">
            <a:avLst/>
          </a:prstGeom>
          <a:noFill/>
          <a:ln/>
        </p:spPr>
        <p:txBody>
          <a:bodyPr wrap="square" rtlCol="0" anchor="ctr"/>
          <a:lstStyle/>
          <a:p>
            <a:pPr indent="0" marL="0">
              <a:buNone/>
            </a:pPr>
            <a:r>
              <a:rPr lang="en-US" sz="1200" b="1" spc="50" kern="0" dirty="0">
                <a:solidFill>
                  <a:srgbClr val="E34314"/>
                </a:solidFill>
                <a:latin typeface="Arial" pitchFamily="34" charset="0"/>
                <a:ea typeface="Arial" pitchFamily="34" charset="-122"/>
                <a:cs typeface="Arial" pitchFamily="34" charset="-120"/>
              </a:rPr>
              <a:t>FIFTY-FIFTY, ON PURPOSE</a:t>
            </a:r>
            <a:endParaRPr lang="en-US" sz="1200" dirty="0"/>
          </a:p>
        </p:txBody>
      </p:sp>
      <p:sp>
        <p:nvSpPr>
          <p:cNvPr id="8" name="Text 6"/>
          <p:cNvSpPr/>
          <p:nvPr/>
        </p:nvSpPr>
        <p:spPr>
          <a:xfrm>
            <a:off x="548640" y="3922776"/>
            <a:ext cx="6035040" cy="457200"/>
          </a:xfrm>
          <a:prstGeom prst="rect">
            <a:avLst/>
          </a:prstGeom>
          <a:noFill/>
          <a:ln/>
        </p:spPr>
        <p:txBody>
          <a:bodyPr wrap="square" rtlCol="0" anchor="ctr"/>
          <a:lstStyle/>
          <a:p>
            <a:pPr indent="0" marL="0">
              <a:lnSpc>
                <a:spcPct val="120000"/>
              </a:lnSpc>
              <a:buNone/>
            </a:pPr>
            <a:r>
              <a:rPr lang="en-US" sz="1100" dirty="0">
                <a:solidFill>
                  <a:srgbClr val="54513F"/>
                </a:solidFill>
                <a:latin typeface="Calibri" pitchFamily="34" charset="0"/>
                <a:ea typeface="Calibri" pitchFamily="34" charset="-122"/>
                <a:cs typeface="Calibri" pitchFamily="34" charset="-120"/>
              </a:rPr>
              <a:t>The kitchen/bar split, with pumpkin soup and berry cheesecake as guest-elected proof</a:t>
            </a:r>
            <a:endParaRPr lang="en-US" sz="1100" dirty="0"/>
          </a:p>
        </p:txBody>
      </p:sp>
      <p:sp>
        <p:nvSpPr>
          <p:cNvPr id="9" name="Text 7"/>
          <p:cNvSpPr/>
          <p:nvPr/>
        </p:nvSpPr>
        <p:spPr>
          <a:xfrm>
            <a:off x="548640" y="4471416"/>
            <a:ext cx="6035040" cy="292608"/>
          </a:xfrm>
          <a:prstGeom prst="rect">
            <a:avLst/>
          </a:prstGeom>
          <a:noFill/>
          <a:ln/>
        </p:spPr>
        <p:txBody>
          <a:bodyPr wrap="square" rtlCol="0" anchor="ctr"/>
          <a:lstStyle/>
          <a:p>
            <a:pPr indent="0" marL="0">
              <a:buNone/>
            </a:pPr>
            <a:r>
              <a:rPr lang="en-US" sz="1200" b="1" spc="50" kern="0" dirty="0">
                <a:solidFill>
                  <a:srgbClr val="E34314"/>
                </a:solidFill>
                <a:latin typeface="Arial" pitchFamily="34" charset="0"/>
                <a:ea typeface="Arial" pitchFamily="34" charset="-122"/>
                <a:cs typeface="Arial" pitchFamily="34" charset="-120"/>
              </a:rPr>
              <a:t>THE PEOPLE — THE CENTERPIECE</a:t>
            </a:r>
            <a:endParaRPr lang="en-US" sz="1200" dirty="0"/>
          </a:p>
        </p:txBody>
      </p:sp>
      <p:sp>
        <p:nvSpPr>
          <p:cNvPr id="10" name="Text 8"/>
          <p:cNvSpPr/>
          <p:nvPr/>
        </p:nvSpPr>
        <p:spPr>
          <a:xfrm>
            <a:off x="548640" y="4764024"/>
            <a:ext cx="6035040" cy="457200"/>
          </a:xfrm>
          <a:prstGeom prst="rect">
            <a:avLst/>
          </a:prstGeom>
          <a:noFill/>
          <a:ln/>
        </p:spPr>
        <p:txBody>
          <a:bodyPr wrap="square" rtlCol="0" anchor="ctr"/>
          <a:lstStyle/>
          <a:p>
            <a:pPr indent="0" marL="0">
              <a:lnSpc>
                <a:spcPct val="120000"/>
              </a:lnSpc>
              <a:buNone/>
            </a:pPr>
            <a:r>
              <a:rPr lang="en-US" sz="1100" dirty="0">
                <a:solidFill>
                  <a:srgbClr val="54513F"/>
                </a:solidFill>
                <a:latin typeface="Calibri" pitchFamily="34" charset="0"/>
                <a:ea typeface="Calibri" pitchFamily="34" charset="-122"/>
                <a:cs typeface="Calibri" pitchFamily="34" charset="-120"/>
              </a:rPr>
              <a:t>Team and Our Guests as equal halves — a structural rhyme with the 50/50 concept; guests tease a photo-library page</a:t>
            </a:r>
            <a:endParaRPr lang="en-US" sz="1100" dirty="0"/>
          </a:p>
        </p:txBody>
      </p:sp>
      <p:sp>
        <p:nvSpPr>
          <p:cNvPr id="11" name="Text 9"/>
          <p:cNvSpPr/>
          <p:nvPr/>
        </p:nvSpPr>
        <p:spPr>
          <a:xfrm>
            <a:off x="548640" y="5312664"/>
            <a:ext cx="6035040" cy="292608"/>
          </a:xfrm>
          <a:prstGeom prst="rect">
            <a:avLst/>
          </a:prstGeom>
          <a:noFill/>
          <a:ln/>
        </p:spPr>
        <p:txBody>
          <a:bodyPr wrap="square" rtlCol="0" anchor="ctr"/>
          <a:lstStyle/>
          <a:p>
            <a:pPr indent="0" marL="0">
              <a:buNone/>
            </a:pPr>
            <a:r>
              <a:rPr lang="en-US" sz="1200" b="1" spc="50" kern="0" dirty="0">
                <a:solidFill>
                  <a:srgbClr val="E34314"/>
                </a:solidFill>
                <a:latin typeface="Arial" pitchFamily="34" charset="0"/>
                <a:ea typeface="Arial" pitchFamily="34" charset="-122"/>
                <a:cs typeface="Arial" pitchFamily="34" charset="-120"/>
              </a:rPr>
              <a:t>THE STORY GOT A FACE</a:t>
            </a:r>
            <a:endParaRPr lang="en-US" sz="1200" dirty="0"/>
          </a:p>
        </p:txBody>
      </p:sp>
      <p:sp>
        <p:nvSpPr>
          <p:cNvPr id="12" name="Text 10"/>
          <p:cNvSpPr/>
          <p:nvPr/>
        </p:nvSpPr>
        <p:spPr>
          <a:xfrm>
            <a:off x="548640" y="5605272"/>
            <a:ext cx="6035040" cy="457200"/>
          </a:xfrm>
          <a:prstGeom prst="rect">
            <a:avLst/>
          </a:prstGeom>
          <a:noFill/>
          <a:ln/>
        </p:spPr>
        <p:txBody>
          <a:bodyPr wrap="square" rtlCol="0" anchor="ctr"/>
          <a:lstStyle/>
          <a:p>
            <a:pPr indent="0" marL="0">
              <a:lnSpc>
                <a:spcPct val="120000"/>
              </a:lnSpc>
              <a:buNone/>
            </a:pPr>
            <a:r>
              <a:rPr lang="en-US" sz="1100" dirty="0">
                <a:solidFill>
                  <a:srgbClr val="54513F"/>
                </a:solidFill>
                <a:latin typeface="Calibri" pitchFamily="34" charset="0"/>
                <a:ea typeface="Calibri" pitchFamily="34" charset="-122"/>
                <a:cs typeface="Calibri" pitchFamily="34" charset="-120"/>
              </a:rPr>
              <a:t>Founder Iurii Primyshev credited with photo + quote; “How it feels” — a word cloud of guests’ own review words — replaced the stats banner</a:t>
            </a:r>
            <a:endParaRPr lang="en-US" sz="1100" dirty="0"/>
          </a:p>
        </p:txBody>
      </p:sp>
      <p:sp>
        <p:nvSpPr>
          <p:cNvPr id="13" name="Shape 11"/>
          <p:cNvSpPr/>
          <p:nvPr/>
        </p:nvSpPr>
        <p:spPr>
          <a:xfrm>
            <a:off x="6949440" y="1600200"/>
            <a:ext cx="4709160" cy="4572000"/>
          </a:xfrm>
          <a:prstGeom prst="rect">
            <a:avLst/>
          </a:prstGeom>
          <a:solidFill>
            <a:srgbClr val="201E22"/>
          </a:solidFill>
          <a:ln/>
        </p:spPr>
        <p:txBody>
          <a:bodyPr/>
          <a:p/>
        </p:txBody>
      </p:sp>
      <p:sp>
        <p:nvSpPr>
          <p:cNvPr id="14" name="Text 12"/>
          <p:cNvSpPr/>
          <p:nvPr/>
        </p:nvSpPr>
        <p:spPr>
          <a:xfrm>
            <a:off x="7269480" y="1874520"/>
            <a:ext cx="4114800" cy="320040"/>
          </a:xfrm>
          <a:prstGeom prst="rect">
            <a:avLst/>
          </a:prstGeom>
          <a:noFill/>
          <a:ln/>
        </p:spPr>
        <p:txBody>
          <a:bodyPr wrap="square" rtlCol="0" anchor="ctr"/>
          <a:lstStyle/>
          <a:p>
            <a:pPr indent="0" marL="0">
              <a:buNone/>
            </a:pPr>
            <a:r>
              <a:rPr lang="en-US" sz="1100" b="1" spc="200" kern="0" dirty="0">
                <a:solidFill>
                  <a:srgbClr val="C1DB34"/>
                </a:solidFill>
                <a:latin typeface="Arial" pitchFamily="34" charset="0"/>
                <a:ea typeface="Arial" pitchFamily="34" charset="-122"/>
                <a:cs typeface="Arial" pitchFamily="34" charset="-120"/>
              </a:rPr>
              <a:t>OUR STORY</a:t>
            </a:r>
            <a:endParaRPr lang="en-US" sz="1100" dirty="0"/>
          </a:p>
        </p:txBody>
      </p:sp>
      <p:sp>
        <p:nvSpPr>
          <p:cNvPr id="15" name="Text 13"/>
          <p:cNvSpPr/>
          <p:nvPr/>
        </p:nvSpPr>
        <p:spPr>
          <a:xfrm>
            <a:off x="7269480" y="2194560"/>
            <a:ext cx="4114800" cy="548640"/>
          </a:xfrm>
          <a:prstGeom prst="rect">
            <a:avLst/>
          </a:prstGeom>
          <a:noFill/>
          <a:ln/>
        </p:spPr>
        <p:txBody>
          <a:bodyPr wrap="square" rtlCol="0" anchor="ctr"/>
          <a:lstStyle/>
          <a:p>
            <a:pPr indent="0" marL="0">
              <a:buNone/>
            </a:pPr>
            <a:r>
              <a:rPr lang="en-US" sz="2000" b="1" dirty="0">
                <a:solidFill>
                  <a:srgbClr val="E34314"/>
                </a:solidFill>
                <a:latin typeface="Arial" pitchFamily="34" charset="0"/>
                <a:ea typeface="Arial" pitchFamily="34" charset="-122"/>
                <a:cs typeface="Arial" pitchFamily="34" charset="-120"/>
              </a:rPr>
              <a:t>SHAKE &amp; COOK SINCE 2014</a:t>
            </a:r>
            <a:endParaRPr lang="en-US" sz="2000" dirty="0"/>
          </a:p>
        </p:txBody>
      </p:sp>
      <p:sp>
        <p:nvSpPr>
          <p:cNvPr id="16" name="Text 14"/>
          <p:cNvSpPr/>
          <p:nvPr/>
        </p:nvSpPr>
        <p:spPr>
          <a:xfrm>
            <a:off x="7269480" y="2834640"/>
            <a:ext cx="4114800" cy="1463040"/>
          </a:xfrm>
          <a:prstGeom prst="rect">
            <a:avLst/>
          </a:prstGeom>
          <a:noFill/>
          <a:ln/>
        </p:spPr>
        <p:txBody>
          <a:bodyPr wrap="square" rtlCol="0" anchor="ctr"/>
          <a:lstStyle/>
          <a:p>
            <a:pPr indent="0" marL="0">
              <a:lnSpc>
                <a:spcPct val="130000"/>
              </a:lnSpc>
              <a:buNone/>
            </a:pPr>
            <a:r>
              <a:rPr lang="en-US" sz="1150" i="1" dirty="0">
                <a:solidFill>
                  <a:srgbClr val="F3E9D2"/>
                </a:solidFill>
                <a:latin typeface="Calibri" pitchFamily="34" charset="0"/>
                <a:ea typeface="Calibri" pitchFamily="34" charset="-122"/>
                <a:cs typeface="Calibri" pitchFamily="34" charset="-120"/>
              </a:rPr>
              <a:t>Sweet Pepper grew out of Tabasco Bar next door — same edge, more warmth, and a kitchen finally worth showing up for. Regulars don't come for one or the other — they come because the team knows their name and their order.</a:t>
            </a:r>
            <a:endParaRPr lang="en-US" sz="1150" dirty="0"/>
          </a:p>
        </p:txBody>
      </p:sp>
      <p:sp>
        <p:nvSpPr>
          <p:cNvPr id="17" name="Text 15"/>
          <p:cNvSpPr/>
          <p:nvPr/>
        </p:nvSpPr>
        <p:spPr>
          <a:xfrm>
            <a:off x="7269480" y="4389120"/>
            <a:ext cx="4114800" cy="365760"/>
          </a:xfrm>
          <a:prstGeom prst="rect">
            <a:avLst/>
          </a:prstGeom>
          <a:noFill/>
          <a:ln/>
        </p:spPr>
        <p:txBody>
          <a:bodyPr wrap="square" rtlCol="0" anchor="ctr"/>
          <a:lstStyle/>
          <a:p>
            <a:pPr indent="0" marL="0">
              <a:buNone/>
            </a:pPr>
            <a:r>
              <a:rPr lang="en-US" sz="1050" dirty="0">
                <a:solidFill>
                  <a:srgbClr val="737D3A"/>
                </a:solidFill>
                <a:latin typeface="Calibri" pitchFamily="34" charset="0"/>
                <a:ea typeface="Calibri" pitchFamily="34" charset="-122"/>
                <a:cs typeface="Calibri" pitchFamily="34" charset="-120"/>
              </a:rPr>
              <a:t>4.6★ · 1,300+ reviews  —  Est. 2014  —  Kirova St. 10</a:t>
            </a:r>
            <a:endParaRPr lang="en-US" sz="1050" dirty="0"/>
          </a:p>
        </p:txBody>
      </p:sp>
      <p:sp>
        <p:nvSpPr>
          <p:cNvPr id="18" name="Shape 16"/>
          <p:cNvSpPr/>
          <p:nvPr/>
        </p:nvSpPr>
        <p:spPr>
          <a:xfrm>
            <a:off x="7269480" y="4892040"/>
            <a:ext cx="3840480" cy="868680"/>
          </a:xfrm>
          <a:prstGeom prst="rect">
            <a:avLst/>
          </a:prstGeom>
          <a:solidFill>
            <a:srgbClr val="FFF689"/>
          </a:solidFill>
          <a:ln/>
        </p:spPr>
        <p:txBody>
          <a:bodyPr/>
          <a:p/>
        </p:txBody>
      </p:sp>
      <p:sp>
        <p:nvSpPr>
          <p:cNvPr id="19" name="Text 17"/>
          <p:cNvSpPr/>
          <p:nvPr/>
        </p:nvSpPr>
        <p:spPr>
          <a:xfrm>
            <a:off x="7452360" y="4983480"/>
            <a:ext cx="3474720" cy="685800"/>
          </a:xfrm>
          <a:prstGeom prst="rect">
            <a:avLst/>
          </a:prstGeom>
          <a:noFill/>
          <a:ln/>
        </p:spPr>
        <p:txBody>
          <a:bodyPr wrap="square" rtlCol="0" anchor="ctr"/>
          <a:lstStyle/>
          <a:p>
            <a:pPr indent="0" marL="0">
              <a:lnSpc>
                <a:spcPct val="120000"/>
              </a:lnSpc>
              <a:buNone/>
            </a:pPr>
            <a:r>
              <a:rPr lang="en-US" sz="1000" i="1" dirty="0">
                <a:solidFill>
                  <a:srgbClr val="151317"/>
                </a:solidFill>
                <a:latin typeface="Calibri" pitchFamily="34" charset="0"/>
                <a:ea typeface="Calibri" pitchFamily="34" charset="-122"/>
                <a:cs typeface="Calibri" pitchFamily="34" charset="-120"/>
              </a:rPr>
              <a:t>"Every time I fall into a slump after studying, I come here and remember why life is worth living." — Google review</a:t>
            </a:r>
            <a:endParaRPr lang="en-US" sz="100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22 / 39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INTERACTION RULES</a:t>
            </a:r>
            <a:endParaRPr lang="en-US" sz="1300" dirty="0"/>
          </a:p>
        </p:txBody>
      </p:sp>
      <p:sp>
        <p:nvSpPr>
          <p:cNvPr id="3" name="Text 1"/>
          <p:cNvSpPr/>
          <p:nvPr/>
        </p:nvSpPr>
        <p:spPr>
          <a:xfrm>
            <a:off x="548640" y="731520"/>
            <a:ext cx="9144000" cy="731520"/>
          </a:xfrm>
          <a:prstGeom prst="rect">
            <a:avLst/>
          </a:prstGeom>
          <a:noFill/>
          <a:ln/>
        </p:spPr>
        <p:txBody>
          <a:bodyPr wrap="square" rtlCol="0" anchor="ctr"/>
          <a:lstStyle/>
          <a:p>
            <a:pPr indent="0" marL="0">
              <a:buNone/>
            </a:pPr>
            <a:r>
              <a:rPr lang="en-US" sz="3000" b="1" dirty="0">
                <a:solidFill>
                  <a:srgbClr val="F3E9D2"/>
                </a:solidFill>
                <a:latin typeface="Arial" pitchFamily="34" charset="0"/>
                <a:ea typeface="Arial" pitchFamily="34" charset="-122"/>
                <a:cs typeface="Arial" pitchFamily="34" charset="-120"/>
              </a:rPr>
              <a:t>A CLOSED VOCABULARY FOR "TAP ME"</a:t>
            </a:r>
            <a:endParaRPr lang="en-US" sz="3000" dirty="0"/>
          </a:p>
        </p:txBody>
      </p:sp>
      <p:sp>
        <p:nvSpPr>
          <p:cNvPr id="4" name="Text 2"/>
          <p:cNvSpPr/>
          <p:nvPr/>
        </p:nvSpPr>
        <p:spPr>
          <a:xfrm>
            <a:off x="548640" y="1417320"/>
            <a:ext cx="10058400" cy="457200"/>
          </a:xfrm>
          <a:prstGeom prst="rect">
            <a:avLst/>
          </a:prstGeom>
          <a:noFill/>
          <a:ln/>
        </p:spPr>
        <p:txBody>
          <a:bodyPr wrap="square" rtlCol="0" anchor="ctr"/>
          <a:lstStyle/>
          <a:p>
            <a:pPr indent="0" marL="0">
              <a:buNone/>
            </a:pPr>
            <a:r>
              <a:rPr lang="en-US" sz="1300" dirty="0">
                <a:solidFill>
                  <a:srgbClr val="9E9789"/>
                </a:solidFill>
                <a:latin typeface="Calibri" pitchFamily="34" charset="0"/>
                <a:ea typeface="Calibri" pitchFamily="34" charset="-122"/>
                <a:cs typeface="Calibri" pitchFamily="34" charset="-120"/>
              </a:rPr>
              <a:t>A loud, playful brand risks every piece of text looking clickable. The fix: a strict, closed vocabulary — two styles at first; the menu door was admitted later as the third, under the same discipline.</a:t>
            </a:r>
            <a:endParaRPr lang="en-US" sz="1300" dirty="0"/>
          </a:p>
        </p:txBody>
      </p:sp>
      <p:sp>
        <p:nvSpPr>
          <p:cNvPr id="5" name="Shape 3"/>
          <p:cNvSpPr/>
          <p:nvPr/>
        </p:nvSpPr>
        <p:spPr>
          <a:xfrm>
            <a:off x="548640" y="2103120"/>
            <a:ext cx="3520440" cy="2194560"/>
          </a:xfrm>
          <a:prstGeom prst="rect">
            <a:avLst/>
          </a:prstGeom>
          <a:solidFill>
            <a:srgbClr val="201E22"/>
          </a:solidFill>
          <a:ln/>
        </p:spPr>
        <p:txBody>
          <a:bodyPr/>
          <a:p/>
        </p:txBody>
      </p:sp>
      <p:sp>
        <p:nvSpPr>
          <p:cNvPr id="6" name="Shape 4"/>
          <p:cNvSpPr/>
          <p:nvPr/>
        </p:nvSpPr>
        <p:spPr>
          <a:xfrm>
            <a:off x="822960" y="2377440"/>
            <a:ext cx="1463040" cy="457200"/>
          </a:xfrm>
          <a:prstGeom prst="roundRect">
            <a:avLst>
              <a:gd name="adj" fmla="val 12000"/>
            </a:avLst>
          </a:prstGeom>
          <a:solidFill>
            <a:srgbClr val="E34314"/>
          </a:solidFill>
          <a:ln/>
        </p:spPr>
        <p:txBody>
          <a:bodyPr/>
          <a:p/>
        </p:txBody>
      </p:sp>
      <p:sp>
        <p:nvSpPr>
          <p:cNvPr id="7" name="Text 5"/>
          <p:cNvSpPr/>
          <p:nvPr/>
        </p:nvSpPr>
        <p:spPr>
          <a:xfrm>
            <a:off x="822960" y="2377440"/>
            <a:ext cx="1463040" cy="457200"/>
          </a:xfrm>
          <a:prstGeom prst="rect">
            <a:avLst/>
          </a:prstGeom>
          <a:noFill/>
          <a:ln/>
        </p:spPr>
        <p:txBody>
          <a:bodyPr wrap="square" rtlCol="0" anchor="ctr"/>
          <a:lstStyle/>
          <a:p>
            <a:pPr algn="ctr" indent="0" marL="0">
              <a:buNone/>
            </a:pPr>
            <a:r>
              <a:rPr lang="en-US" sz="1300" b="1" dirty="0">
                <a:solidFill>
                  <a:srgbClr val="F3E9D2"/>
                </a:solidFill>
                <a:latin typeface="Calibri" pitchFamily="34" charset="0"/>
                <a:ea typeface="Calibri" pitchFamily="34" charset="-122"/>
                <a:cs typeface="Calibri" pitchFamily="34" charset="-120"/>
              </a:rPr>
              <a:t>Reserve</a:t>
            </a:r>
            <a:endParaRPr lang="en-US" sz="1300" dirty="0"/>
          </a:p>
        </p:txBody>
      </p:sp>
      <p:sp>
        <p:nvSpPr>
          <p:cNvPr id="8" name="Text 6"/>
          <p:cNvSpPr/>
          <p:nvPr/>
        </p:nvSpPr>
        <p:spPr>
          <a:xfrm>
            <a:off x="822960" y="2971800"/>
            <a:ext cx="3017520" cy="292608"/>
          </a:xfrm>
          <a:prstGeom prst="rect">
            <a:avLst/>
          </a:prstGeom>
          <a:noFill/>
          <a:ln/>
        </p:spPr>
        <p:txBody>
          <a:bodyPr wrap="square" rtlCol="0" anchor="ctr"/>
          <a:lstStyle/>
          <a:p>
            <a:pPr indent="0" marL="0">
              <a:buNone/>
            </a:pPr>
            <a:r>
              <a:rPr lang="en-US" sz="1200" b="1" spc="100" kern="0" dirty="0">
                <a:solidFill>
                  <a:srgbClr val="C1DB34"/>
                </a:solidFill>
                <a:latin typeface="Arial" pitchFamily="34" charset="0"/>
                <a:ea typeface="Arial" pitchFamily="34" charset="-122"/>
                <a:cs typeface="Arial" pitchFamily="34" charset="-120"/>
              </a:rPr>
              <a:t>BUTTONS</a:t>
            </a:r>
            <a:endParaRPr lang="en-US" sz="1200" dirty="0"/>
          </a:p>
        </p:txBody>
      </p:sp>
      <p:sp>
        <p:nvSpPr>
          <p:cNvPr id="9" name="Text 7"/>
          <p:cNvSpPr/>
          <p:nvPr/>
        </p:nvSpPr>
        <p:spPr>
          <a:xfrm>
            <a:off x="822960" y="3273552"/>
            <a:ext cx="3017520" cy="82296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Golos SemiBold 16, primary actions only.</a:t>
            </a:r>
            <a:endParaRPr lang="en-US" sz="1050" dirty="0"/>
          </a:p>
        </p:txBody>
      </p:sp>
      <p:sp>
        <p:nvSpPr>
          <p:cNvPr id="10" name="Shape 8"/>
          <p:cNvSpPr/>
          <p:nvPr/>
        </p:nvSpPr>
        <p:spPr>
          <a:xfrm>
            <a:off x="4251960" y="2103120"/>
            <a:ext cx="3520440" cy="2194560"/>
          </a:xfrm>
          <a:prstGeom prst="rect">
            <a:avLst/>
          </a:prstGeom>
          <a:solidFill>
            <a:srgbClr val="201E22"/>
          </a:solidFill>
          <a:ln/>
        </p:spPr>
        <p:txBody>
          <a:bodyPr/>
          <a:p/>
        </p:txBody>
      </p:sp>
      <p:sp>
        <p:nvSpPr>
          <p:cNvPr id="11" name="Shape 9"/>
          <p:cNvSpPr/>
          <p:nvPr/>
        </p:nvSpPr>
        <p:spPr>
          <a:xfrm>
            <a:off x="4526280" y="2423160"/>
            <a:ext cx="1737360" cy="384048"/>
          </a:xfrm>
          <a:prstGeom prst="roundRect">
            <a:avLst>
              <a:gd name="adj" fmla="val 50000"/>
            </a:avLst>
          </a:prstGeom>
          <a:solidFill>
            <a:srgbClr val="201E22"/>
          </a:solidFill>
          <a:ln w="15875">
            <a:solidFill>
              <a:srgbClr val="C1DB34"/>
            </a:solidFill>
            <a:prstDash val="solid"/>
          </a:ln>
        </p:spPr>
        <p:txBody>
          <a:bodyPr/>
          <a:p/>
        </p:txBody>
      </p:sp>
      <p:sp>
        <p:nvSpPr>
          <p:cNvPr id="12" name="Text 10"/>
          <p:cNvSpPr/>
          <p:nvPr/>
        </p:nvSpPr>
        <p:spPr>
          <a:xfrm>
            <a:off x="4526280" y="2423160"/>
            <a:ext cx="1737360" cy="384048"/>
          </a:xfrm>
          <a:prstGeom prst="rect">
            <a:avLst/>
          </a:prstGeom>
          <a:noFill/>
          <a:ln/>
        </p:spPr>
        <p:txBody>
          <a:bodyPr wrap="square" rtlCol="0" anchor="ctr"/>
          <a:lstStyle/>
          <a:p>
            <a:pPr algn="ctr" indent="0" marL="0">
              <a:buNone/>
            </a:pPr>
            <a:r>
              <a:rPr lang="en-US" sz="1050" b="1" dirty="0">
                <a:solidFill>
                  <a:srgbClr val="C1DB34"/>
                </a:solidFill>
                <a:latin typeface="Calibri" pitchFamily="34" charset="0"/>
                <a:ea typeface="Calibri" pitchFamily="34" charset="-122"/>
                <a:cs typeface="Calibri" pitchFamily="34" charset="-120"/>
              </a:rPr>
              <a:t>Open menu →</a:t>
            </a:r>
            <a:endParaRPr lang="en-US" sz="1050" dirty="0"/>
          </a:p>
        </p:txBody>
      </p:sp>
      <p:sp>
        <p:nvSpPr>
          <p:cNvPr id="13" name="Text 11"/>
          <p:cNvSpPr/>
          <p:nvPr/>
        </p:nvSpPr>
        <p:spPr>
          <a:xfrm>
            <a:off x="4526280" y="2971800"/>
            <a:ext cx="3017520" cy="292608"/>
          </a:xfrm>
          <a:prstGeom prst="rect">
            <a:avLst/>
          </a:prstGeom>
          <a:noFill/>
          <a:ln/>
        </p:spPr>
        <p:txBody>
          <a:bodyPr wrap="square" rtlCol="0" anchor="ctr"/>
          <a:lstStyle/>
          <a:p>
            <a:pPr indent="0" marL="0">
              <a:buNone/>
            </a:pPr>
            <a:r>
              <a:rPr lang="en-US" sz="1200" b="1" spc="100" kern="0" dirty="0">
                <a:solidFill>
                  <a:srgbClr val="C1DB34"/>
                </a:solidFill>
                <a:latin typeface="Arial" pitchFamily="34" charset="0"/>
                <a:ea typeface="Arial" pitchFamily="34" charset="-122"/>
                <a:cs typeface="Arial" pitchFamily="34" charset="-120"/>
              </a:rPr>
              <a:t>CHIPS</a:t>
            </a:r>
            <a:endParaRPr lang="en-US" sz="1200" dirty="0"/>
          </a:p>
        </p:txBody>
      </p:sp>
      <p:sp>
        <p:nvSpPr>
          <p:cNvPr id="14" name="Text 12"/>
          <p:cNvSpPr/>
          <p:nvPr/>
        </p:nvSpPr>
        <p:spPr>
          <a:xfrm>
            <a:off x="4526280" y="3273552"/>
            <a:ext cx="3017520" cy="82296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Golos Medium 13, icon/arrow, secondary actions.</a:t>
            </a:r>
            <a:endParaRPr lang="en-US" sz="1050" dirty="0"/>
          </a:p>
        </p:txBody>
      </p:sp>
      <p:sp>
        <p:nvSpPr>
          <p:cNvPr id="15" name="Shape 13"/>
          <p:cNvSpPr/>
          <p:nvPr/>
        </p:nvSpPr>
        <p:spPr>
          <a:xfrm>
            <a:off x="7955280" y="2103120"/>
            <a:ext cx="3520440" cy="2194560"/>
          </a:xfrm>
          <a:prstGeom prst="rect">
            <a:avLst/>
          </a:prstGeom>
          <a:solidFill>
            <a:srgbClr val="201E22"/>
          </a:solidFill>
          <a:ln/>
        </p:spPr>
        <p:txBody>
          <a:bodyPr/>
          <a:p/>
        </p:txBody>
      </p:sp>
      <p:sp>
        <p:nvSpPr>
          <p:cNvPr id="16" name="Text 14"/>
          <p:cNvSpPr/>
          <p:nvPr/>
        </p:nvSpPr>
        <p:spPr>
          <a:xfrm>
            <a:off x="8229600" y="2331720"/>
            <a:ext cx="2926080" cy="274320"/>
          </a:xfrm>
          <a:prstGeom prst="rect">
            <a:avLst/>
          </a:prstGeom>
          <a:noFill/>
          <a:ln/>
        </p:spPr>
        <p:txBody>
          <a:bodyPr wrap="square" rtlCol="0" anchor="ctr"/>
          <a:lstStyle/>
          <a:p>
            <a:pPr indent="0" marL="0">
              <a:buNone/>
            </a:pPr>
            <a:r>
              <a:rPr lang="en-US" sz="1050" b="1" dirty="0">
                <a:solidFill>
                  <a:srgbClr val="F3E9D2"/>
                </a:solidFill>
                <a:latin typeface="Calibri" pitchFamily="34" charset="0"/>
                <a:ea typeface="Calibri" pitchFamily="34" charset="-122"/>
                <a:cs typeface="Calibri" pitchFamily="34" charset="-120"/>
              </a:rPr>
              <a:t>Name</a:t>
            </a:r>
            <a:endParaRPr lang="en-US" sz="1050" dirty="0"/>
          </a:p>
        </p:txBody>
      </p:sp>
      <p:sp>
        <p:nvSpPr>
          <p:cNvPr id="17" name="Shape 15"/>
          <p:cNvSpPr/>
          <p:nvPr/>
        </p:nvSpPr>
        <p:spPr>
          <a:xfrm>
            <a:off x="8229600" y="2606040"/>
            <a:ext cx="2971800" cy="365760"/>
          </a:xfrm>
          <a:prstGeom prst="rect">
            <a:avLst/>
          </a:prstGeom>
          <a:solidFill>
            <a:srgbClr val="0B0A0C"/>
          </a:solidFill>
          <a:ln w="9525">
            <a:solidFill>
              <a:srgbClr val="9E9789"/>
            </a:solidFill>
            <a:prstDash val="solid"/>
          </a:ln>
        </p:spPr>
        <p:txBody>
          <a:bodyPr/>
          <a:p/>
        </p:txBody>
      </p:sp>
      <p:sp>
        <p:nvSpPr>
          <p:cNvPr id="18" name="Text 16"/>
          <p:cNvSpPr/>
          <p:nvPr/>
        </p:nvSpPr>
        <p:spPr>
          <a:xfrm>
            <a:off x="8229600" y="3063240"/>
            <a:ext cx="2926080" cy="274320"/>
          </a:xfrm>
          <a:prstGeom prst="rect">
            <a:avLst/>
          </a:prstGeom>
          <a:noFill/>
          <a:ln/>
        </p:spPr>
        <p:txBody>
          <a:bodyPr wrap="square" rtlCol="0" anchor="ctr"/>
          <a:lstStyle/>
          <a:p>
            <a:pPr indent="0" marL="0">
              <a:buNone/>
            </a:pPr>
            <a:r>
              <a:rPr lang="en-US" sz="950" i="1" dirty="0">
                <a:solidFill>
                  <a:srgbClr val="9E9789"/>
                </a:solidFill>
                <a:latin typeface="Calibri" pitchFamily="34" charset="0"/>
                <a:ea typeface="Calibri" pitchFamily="34" charset="-122"/>
                <a:cs typeface="Calibri" pitchFamily="34" charset="-120"/>
              </a:rPr>
              <a:t>(optional)</a:t>
            </a:r>
            <a:endParaRPr lang="en-US" sz="950" dirty="0"/>
          </a:p>
        </p:txBody>
      </p:sp>
      <p:sp>
        <p:nvSpPr>
          <p:cNvPr id="19" name="Text 17"/>
          <p:cNvSpPr/>
          <p:nvPr/>
        </p:nvSpPr>
        <p:spPr>
          <a:xfrm>
            <a:off x="8229600" y="3401568"/>
            <a:ext cx="3108960" cy="274320"/>
          </a:xfrm>
          <a:prstGeom prst="rect">
            <a:avLst/>
          </a:prstGeom>
          <a:noFill/>
          <a:ln/>
        </p:spPr>
        <p:txBody>
          <a:bodyPr wrap="square" rtlCol="0" anchor="ctr"/>
          <a:lstStyle/>
          <a:p>
            <a:pPr indent="0" marL="0">
              <a:buNone/>
            </a:pPr>
            <a:r>
              <a:rPr lang="en-US" sz="1100" b="1" spc="50" kern="0" dirty="0">
                <a:solidFill>
                  <a:srgbClr val="C1DB34"/>
                </a:solidFill>
                <a:latin typeface="Arial" pitchFamily="34" charset="0"/>
                <a:ea typeface="Arial" pitchFamily="34" charset="-122"/>
                <a:cs typeface="Arial" pitchFamily="34" charset="-120"/>
              </a:rPr>
              <a:t>FORM LABEL / HINT — NEW</a:t>
            </a:r>
            <a:endParaRPr lang="en-US" sz="1100" dirty="0"/>
          </a:p>
        </p:txBody>
      </p:sp>
      <p:sp>
        <p:nvSpPr>
          <p:cNvPr id="20" name="Text 18"/>
          <p:cNvSpPr/>
          <p:nvPr/>
        </p:nvSpPr>
        <p:spPr>
          <a:xfrm>
            <a:off x="8229600" y="3657600"/>
            <a:ext cx="3063240" cy="594360"/>
          </a:xfrm>
          <a:prstGeom prst="rect">
            <a:avLst/>
          </a:prstGeom>
          <a:noFill/>
          <a:ln/>
        </p:spPr>
        <p:txBody>
          <a:bodyPr wrap="square" rtlCol="0" anchor="ctr"/>
          <a:lstStyle/>
          <a:p>
            <a:pPr indent="0" marL="0">
              <a:lnSpc>
                <a:spcPct val="120000"/>
              </a:lnSpc>
              <a:buNone/>
            </a:pPr>
            <a:r>
              <a:rPr lang="en-US" sz="1000" dirty="0">
                <a:solidFill>
                  <a:srgbClr val="9E9789"/>
                </a:solidFill>
                <a:latin typeface="Calibri" pitchFamily="34" charset="0"/>
                <a:ea typeface="Calibri" pitchFamily="34" charset="-122"/>
                <a:cs typeface="Calibri" pitchFamily="34" charset="-120"/>
              </a:rPr>
              <a:t>A dedicated group added this pass so Caption stays scoped to captions and fine print.</a:t>
            </a:r>
            <a:endParaRPr lang="en-US" sz="1000" dirty="0"/>
          </a:p>
        </p:txBody>
      </p:sp>
      <p:sp>
        <p:nvSpPr>
          <p:cNvPr id="21" name="Text 19"/>
          <p:cNvSpPr/>
          <p:nvPr/>
        </p:nvSpPr>
        <p:spPr>
          <a:xfrm>
            <a:off x="548640" y="4617720"/>
            <a:ext cx="10972800" cy="502920"/>
          </a:xfrm>
          <a:prstGeom prst="rect">
            <a:avLst/>
          </a:prstGeom>
          <a:noFill/>
          <a:ln/>
        </p:spPr>
        <p:txBody>
          <a:bodyPr wrap="square" rtlCol="0" anchor="ctr"/>
          <a:lstStyle/>
          <a:p>
            <a:pPr indent="0" marL="0">
              <a:lnSpc>
                <a:spcPct val="130000"/>
              </a:lnSpc>
              <a:buNone/>
            </a:pPr>
            <a:r>
              <a:rPr lang="en-US" sz="1250" i="1" dirty="0">
                <a:solidFill>
                  <a:srgbClr val="F3E9D2"/>
                </a:solidFill>
                <a:latin typeface="Calibri" pitchFamily="34" charset="0"/>
                <a:ea typeface="Calibri" pitchFamily="34" charset="-122"/>
                <a:cs typeface="Calibri" pitchFamily="34" charset="-120"/>
              </a:rPr>
              <a:t>Non-interactive text never borrows these styles. Expressive copy ("Pick your heat!") stays in Molot. And in mixed rows, Chili is reserved for the action — heat means "act," content chips stay lime.</a:t>
            </a:r>
            <a:endParaRPr lang="en-US" sz="1250" dirty="0"/>
          </a:p>
        </p:txBody>
      </p:sp>
      <p:sp>
        <p:nvSpPr>
          <p:cNvPr id="22" name="Text 20"/>
          <p:cNvSpPr/>
          <p:nvPr/>
        </p:nvSpPr>
        <p:spPr>
          <a:xfrm>
            <a:off x="548640" y="5257800"/>
            <a:ext cx="10972800" cy="54864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Accessibility note: Chili on Peppercorn measures ~3.4:1 — fine for large Molot headlines, but fails small text. Small accent text on dark surfaces uses Paprika or Lemon instead.</a:t>
            </a:r>
            <a:endParaRPr lang="en-US" sz="1150" dirty="0"/>
          </a:p>
        </p:txBody>
      </p:sp>
      <p:sp>
        <p:nvSpPr>
          <p:cNvPr id="23" name="Text 2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4" name="Text 2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23 / 39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SOLUTION · SYSTEMIZED FURTHER</a:t>
            </a:r>
            <a:endParaRPr lang="en-US" sz="1300" dirty="0"/>
          </a:p>
        </p:txBody>
      </p:sp>
      <p:sp>
        <p:nvSpPr>
          <p:cNvPr id="3" name="Text 1"/>
          <p:cNvSpPr/>
          <p:nvPr/>
        </p:nvSpPr>
        <p:spPr>
          <a:xfrm>
            <a:off x="548640" y="731520"/>
            <a:ext cx="10789920" cy="731520"/>
          </a:xfrm>
          <a:prstGeom prst="rect">
            <a:avLst/>
          </a:prstGeom>
          <a:noFill/>
          <a:ln/>
        </p:spPr>
        <p:txBody>
          <a:bodyPr wrap="square" rtlCol="0" anchor="ctr"/>
          <a:lstStyle/>
          <a:p>
            <a:pPr indent="0" marL="0">
              <a:buNone/>
            </a:pPr>
            <a:r>
              <a:rPr lang="en-US" sz="2400" b="1" dirty="0">
                <a:solidFill>
                  <a:srgbClr val="151317"/>
                </a:solidFill>
                <a:latin typeface="Arial" pitchFamily="34" charset="0"/>
                <a:ea typeface="Arial" pitchFamily="34" charset="-122"/>
                <a:cs typeface="Arial" pitchFamily="34" charset="-120"/>
              </a:rPr>
              <a:t>A GRID AND AN IMAGE SYSTEM, NOT PER-PAGE GUESSING</a:t>
            </a:r>
            <a:endParaRPr lang="en-US" sz="2400" dirty="0"/>
          </a:p>
        </p:txBody>
      </p:sp>
      <p:sp>
        <p:nvSpPr>
          <p:cNvPr id="4" name="Shape 2"/>
          <p:cNvSpPr/>
          <p:nvPr/>
        </p:nvSpPr>
        <p:spPr>
          <a:xfrm>
            <a:off x="548640" y="1737360"/>
            <a:ext cx="5349240" cy="4480560"/>
          </a:xfrm>
          <a:prstGeom prst="rect">
            <a:avLst/>
          </a:prstGeom>
          <a:solidFill>
            <a:srgbClr val="FFFFFF"/>
          </a:solidFill>
          <a:ln/>
          <a:effectLst>
            <a:outerShdw sx="100000" sy="100000" kx="0" ky="0" algn="bl" rotWithShape="0" blurRad="101600" dist="38100" dir="5400000">
              <a:srgbClr val="000000">
                <a:alpha val="7000"/>
              </a:srgbClr>
            </a:outerShdw>
          </a:effectLst>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00" kern="0" dirty="0">
                <a:solidFill>
                  <a:srgbClr val="E34314"/>
                </a:solidFill>
                <a:latin typeface="Arial" pitchFamily="34" charset="0"/>
                <a:ea typeface="Arial" pitchFamily="34" charset="-122"/>
                <a:cs typeface="Arial" pitchFamily="34" charset="-120"/>
              </a:rPr>
              <a:t>GRID</a:t>
            </a:r>
            <a:endParaRPr lang="en-US" sz="1400" dirty="0"/>
          </a:p>
        </p:txBody>
      </p:sp>
      <p:sp>
        <p:nvSpPr>
          <p:cNvPr id="6" name="Text 4"/>
          <p:cNvSpPr/>
          <p:nvPr/>
        </p:nvSpPr>
        <p:spPr>
          <a:xfrm>
            <a:off x="822960" y="2377440"/>
            <a:ext cx="4846320" cy="3657600"/>
          </a:xfrm>
          <a:prstGeom prst="rect">
            <a:avLst/>
          </a:prstGeom>
          <a:noFill/>
          <a:ln/>
        </p:spPr>
        <p:txBody>
          <a:bodyPr wrap="square" rtlCol="0" anchor="ctr"/>
          <a:lstStyle/>
          <a:p>
            <a:pPr indent="0" marL="0">
              <a:lnSpc>
                <a:spcPct val="135000"/>
              </a:lnSpc>
              <a:buNone/>
            </a:pPr>
            <a:r>
              <a:rPr lang="en-US" sz="1200" dirty="0">
                <a:solidFill>
                  <a:srgbClr val="54513F"/>
                </a:solidFill>
                <a:latin typeface="Calibri" pitchFamily="34" charset="0"/>
                <a:ea typeface="Calibri" pitchFamily="34" charset="-122"/>
                <a:cs typeface="Calibri" pitchFamily="34" charset="-120"/>
              </a:rPr>
              <a:t>1120px content width, 12 columns, 24px gutter. Body copy caps at 6 of 12 columns on desktop — even in full-bleed sections — set by column count, not word count, so it stays predictable regardless of what copy lands in it.</a:t>
            </a:r>
            <a:endParaRPr lang="en-US" sz="1200" dirty="0"/>
          </a:p>
          <a:p>
            <a:pPr indent="0" marL="0">
              <a:lnSpc>
                <a:spcPct val="135000"/>
              </a:lnSpc>
              <a:buNone/>
            </a:pPr>
            <a:endParaRPr lang="en-US" sz="1200" dirty="0"/>
          </a:p>
          <a:p>
            <a:pPr indent="0" marL="0">
              <a:lnSpc>
                <a:spcPct val="135000"/>
              </a:lnSpc>
              <a:buNone/>
            </a:pPr>
            <a:r>
              <a:rPr lang="en-US" sz="1200" dirty="0">
                <a:solidFill>
                  <a:srgbClr val="54513F"/>
                </a:solidFill>
                <a:latin typeface="Calibri" pitchFamily="34" charset="0"/>
                <a:ea typeface="Calibri" pitchFamily="34" charset="-122"/>
                <a:cs typeface="Calibri" pitchFamily="34" charset="-120"/>
              </a:rPr>
              <a:t>Leftover columns always get a job: short teasers pair with a stat or pull-quote; long-form splits into two reading columns instead of one narrow column plus dead space.</a:t>
            </a:r>
            <a:endParaRPr lang="en-US" sz="1200" dirty="0"/>
          </a:p>
        </p:txBody>
      </p:sp>
      <p:sp>
        <p:nvSpPr>
          <p:cNvPr id="7" name="Shape 5"/>
          <p:cNvSpPr/>
          <p:nvPr/>
        </p:nvSpPr>
        <p:spPr>
          <a:xfrm>
            <a:off x="6172200" y="1737360"/>
            <a:ext cx="5349240" cy="4480560"/>
          </a:xfrm>
          <a:prstGeom prst="rect">
            <a:avLst/>
          </a:prstGeom>
          <a:solidFill>
            <a:srgbClr val="FFFFFF"/>
          </a:solidFill>
          <a:ln/>
          <a:effectLst>
            <a:outerShdw sx="100000" sy="100000" kx="0" ky="0" algn="bl" rotWithShape="0" blurRad="101600" dist="38100" dir="5400000">
              <a:srgbClr val="000000">
                <a:alpha val="7000"/>
              </a:srgbClr>
            </a:outerShdw>
          </a:effectLst>
        </p:spPr>
        <p:txBody>
          <a:bodyPr/>
          <a:p/>
        </p:txBody>
      </p:sp>
      <p:sp>
        <p:nvSpPr>
          <p:cNvPr id="8" name="Text 6"/>
          <p:cNvSpPr/>
          <p:nvPr/>
        </p:nvSpPr>
        <p:spPr>
          <a:xfrm>
            <a:off x="6446520" y="1965960"/>
            <a:ext cx="4846320" cy="320040"/>
          </a:xfrm>
          <a:prstGeom prst="rect">
            <a:avLst/>
          </a:prstGeom>
          <a:noFill/>
          <a:ln/>
        </p:spPr>
        <p:txBody>
          <a:bodyPr wrap="square" rtlCol="0" anchor="ctr"/>
          <a:lstStyle/>
          <a:p>
            <a:pPr indent="0" marL="0">
              <a:buNone/>
            </a:pPr>
            <a:r>
              <a:rPr lang="en-US" sz="1400" b="1" spc="100" kern="0" dirty="0">
                <a:solidFill>
                  <a:srgbClr val="E34314"/>
                </a:solidFill>
                <a:latin typeface="Arial" pitchFamily="34" charset="0"/>
                <a:ea typeface="Arial" pitchFamily="34" charset="-122"/>
                <a:cs typeface="Arial" pitchFamily="34" charset="-120"/>
              </a:rPr>
              <a:t>IMAGE RATIOS</a:t>
            </a:r>
            <a:endParaRPr lang="en-US" sz="1400" dirty="0"/>
          </a:p>
        </p:txBody>
      </p:sp>
      <p:sp>
        <p:nvSpPr>
          <p:cNvPr id="9" name="Text 7"/>
          <p:cNvSpPr/>
          <p:nvPr/>
        </p:nvSpPr>
        <p:spPr>
          <a:xfrm>
            <a:off x="6446520" y="2377440"/>
            <a:ext cx="731520" cy="365760"/>
          </a:xfrm>
          <a:prstGeom prst="rect">
            <a:avLst/>
          </a:prstGeom>
          <a:noFill/>
          <a:ln/>
        </p:spPr>
        <p:txBody>
          <a:bodyPr wrap="square" rtlCol="0" anchor="ctr"/>
          <a:lstStyle/>
          <a:p>
            <a:pPr indent="0" marL="0">
              <a:buNone/>
            </a:pPr>
            <a:r>
              <a:rPr lang="en-US" sz="1300" b="1" dirty="0">
                <a:solidFill>
                  <a:srgbClr val="737D3A"/>
                </a:solidFill>
                <a:latin typeface="Arial" pitchFamily="34" charset="0"/>
                <a:ea typeface="Arial" pitchFamily="34" charset="-122"/>
                <a:cs typeface="Arial" pitchFamily="34" charset="-120"/>
              </a:rPr>
              <a:t>3:2</a:t>
            </a:r>
            <a:endParaRPr lang="en-US" sz="1300" dirty="0"/>
          </a:p>
        </p:txBody>
      </p:sp>
      <p:sp>
        <p:nvSpPr>
          <p:cNvPr id="10" name="Text 8"/>
          <p:cNvSpPr/>
          <p:nvPr/>
        </p:nvSpPr>
        <p:spPr>
          <a:xfrm>
            <a:off x="7178040" y="2395728"/>
            <a:ext cx="4114800" cy="50292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Default for art-directed photography — menu items, drinks, hero, events.</a:t>
            </a:r>
            <a:endParaRPr lang="en-US" sz="1050" dirty="0"/>
          </a:p>
        </p:txBody>
      </p:sp>
      <p:sp>
        <p:nvSpPr>
          <p:cNvPr id="11" name="Text 9"/>
          <p:cNvSpPr/>
          <p:nvPr/>
        </p:nvSpPr>
        <p:spPr>
          <a:xfrm>
            <a:off x="6446520" y="2944368"/>
            <a:ext cx="731520" cy="365760"/>
          </a:xfrm>
          <a:prstGeom prst="rect">
            <a:avLst/>
          </a:prstGeom>
          <a:noFill/>
          <a:ln/>
        </p:spPr>
        <p:txBody>
          <a:bodyPr wrap="square" rtlCol="0" anchor="ctr"/>
          <a:lstStyle/>
          <a:p>
            <a:pPr indent="0" marL="0">
              <a:buNone/>
            </a:pPr>
            <a:r>
              <a:rPr lang="en-US" sz="1300" b="1" dirty="0">
                <a:solidFill>
                  <a:srgbClr val="737D3A"/>
                </a:solidFill>
                <a:latin typeface="Arial" pitchFamily="34" charset="0"/>
                <a:ea typeface="Arial" pitchFamily="34" charset="-122"/>
                <a:cs typeface="Arial" pitchFamily="34" charset="-120"/>
              </a:rPr>
              <a:t>2:3</a:t>
            </a:r>
            <a:endParaRPr lang="en-US" sz="1300" dirty="0"/>
          </a:p>
        </p:txBody>
      </p:sp>
      <p:sp>
        <p:nvSpPr>
          <p:cNvPr id="12" name="Text 10"/>
          <p:cNvSpPr/>
          <p:nvPr/>
        </p:nvSpPr>
        <p:spPr>
          <a:xfrm>
            <a:off x="7178040" y="2962656"/>
            <a:ext cx="4114800" cy="50292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Portrait counterpart; fixed across breakpoints, not stretched on mobile.</a:t>
            </a:r>
            <a:endParaRPr lang="en-US" sz="1050" dirty="0"/>
          </a:p>
        </p:txBody>
      </p:sp>
      <p:sp>
        <p:nvSpPr>
          <p:cNvPr id="13" name="Text 11"/>
          <p:cNvSpPr/>
          <p:nvPr/>
        </p:nvSpPr>
        <p:spPr>
          <a:xfrm>
            <a:off x="6446520" y="3511296"/>
            <a:ext cx="731520" cy="365760"/>
          </a:xfrm>
          <a:prstGeom prst="rect">
            <a:avLst/>
          </a:prstGeom>
          <a:noFill/>
          <a:ln/>
        </p:spPr>
        <p:txBody>
          <a:bodyPr wrap="square" rtlCol="0" anchor="ctr"/>
          <a:lstStyle/>
          <a:p>
            <a:pPr indent="0" marL="0">
              <a:buNone/>
            </a:pPr>
            <a:r>
              <a:rPr lang="en-US" sz="1300" b="1" dirty="0">
                <a:solidFill>
                  <a:srgbClr val="737D3A"/>
                </a:solidFill>
                <a:latin typeface="Arial" pitchFamily="34" charset="0"/>
                <a:ea typeface="Arial" pitchFamily="34" charset="-122"/>
                <a:cs typeface="Arial" pitchFamily="34" charset="-120"/>
              </a:rPr>
              <a:t>1:1</a:t>
            </a:r>
            <a:endParaRPr lang="en-US" sz="1300" dirty="0"/>
          </a:p>
        </p:txBody>
      </p:sp>
      <p:sp>
        <p:nvSpPr>
          <p:cNvPr id="14" name="Text 12"/>
          <p:cNvSpPr/>
          <p:nvPr/>
        </p:nvSpPr>
        <p:spPr>
          <a:xfrm>
            <a:off x="7178040" y="3529584"/>
            <a:ext cx="4114800" cy="50292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Square, general use.</a:t>
            </a:r>
            <a:endParaRPr lang="en-US" sz="1050" dirty="0"/>
          </a:p>
        </p:txBody>
      </p:sp>
      <p:sp>
        <p:nvSpPr>
          <p:cNvPr id="15" name="Text 13"/>
          <p:cNvSpPr/>
          <p:nvPr/>
        </p:nvSpPr>
        <p:spPr>
          <a:xfrm>
            <a:off x="6446520" y="4078224"/>
            <a:ext cx="731520" cy="365760"/>
          </a:xfrm>
          <a:prstGeom prst="rect">
            <a:avLst/>
          </a:prstGeom>
          <a:noFill/>
          <a:ln/>
        </p:spPr>
        <p:txBody>
          <a:bodyPr wrap="square" rtlCol="0" anchor="ctr"/>
          <a:lstStyle/>
          <a:p>
            <a:pPr indent="0" marL="0">
              <a:buNone/>
            </a:pPr>
            <a:r>
              <a:rPr lang="en-US" sz="1300" b="1" dirty="0">
                <a:solidFill>
                  <a:srgbClr val="737D3A"/>
                </a:solidFill>
                <a:latin typeface="Arial" pitchFamily="34" charset="0"/>
                <a:ea typeface="Arial" pitchFamily="34" charset="-122"/>
                <a:cs typeface="Arial" pitchFamily="34" charset="-120"/>
              </a:rPr>
              <a:t>21:9</a:t>
            </a:r>
            <a:endParaRPr lang="en-US" sz="1300" dirty="0"/>
          </a:p>
        </p:txBody>
      </p:sp>
      <p:sp>
        <p:nvSpPr>
          <p:cNvPr id="16" name="Text 14"/>
          <p:cNvSpPr/>
          <p:nvPr/>
        </p:nvSpPr>
        <p:spPr>
          <a:xfrm>
            <a:off x="7178040" y="4096512"/>
            <a:ext cx="4114800" cy="50292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Cinematic full-bleed banners — wide environment shots only.</a:t>
            </a:r>
            <a:endParaRPr lang="en-US" sz="1050" dirty="0"/>
          </a:p>
        </p:txBody>
      </p:sp>
      <p:sp>
        <p:nvSpPr>
          <p:cNvPr id="17" name="Text 15"/>
          <p:cNvSpPr/>
          <p:nvPr/>
        </p:nvSpPr>
        <p:spPr>
          <a:xfrm>
            <a:off x="6446520" y="4645152"/>
            <a:ext cx="731520" cy="365760"/>
          </a:xfrm>
          <a:prstGeom prst="rect">
            <a:avLst/>
          </a:prstGeom>
          <a:noFill/>
          <a:ln/>
        </p:spPr>
        <p:txBody>
          <a:bodyPr wrap="square" rtlCol="0" anchor="ctr"/>
          <a:lstStyle/>
          <a:p>
            <a:pPr indent="0" marL="0">
              <a:buNone/>
            </a:pPr>
            <a:r>
              <a:rPr lang="en-US" sz="1300" b="1" dirty="0">
                <a:solidFill>
                  <a:srgbClr val="737D3A"/>
                </a:solidFill>
                <a:latin typeface="Arial" pitchFamily="34" charset="0"/>
                <a:ea typeface="Arial" pitchFamily="34" charset="-122"/>
                <a:cs typeface="Arial" pitchFamily="34" charset="-120"/>
              </a:rPr>
              <a:t>4:5</a:t>
            </a:r>
            <a:endParaRPr lang="en-US" sz="1300" dirty="0"/>
          </a:p>
        </p:txBody>
      </p:sp>
      <p:sp>
        <p:nvSpPr>
          <p:cNvPr id="18" name="Text 16"/>
          <p:cNvSpPr/>
          <p:nvPr/>
        </p:nvSpPr>
        <p:spPr>
          <a:xfrm>
            <a:off x="7178040" y="4663440"/>
            <a:ext cx="4114800" cy="50292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News/social cards — matches Instagram's own crop norm.</a:t>
            </a:r>
            <a:endParaRPr lang="en-US" sz="1050" dirty="0"/>
          </a:p>
        </p:txBody>
      </p:sp>
      <p:sp>
        <p:nvSpPr>
          <p:cNvPr id="19" name="Text 17"/>
          <p:cNvSpPr/>
          <p:nvPr/>
        </p:nvSpPr>
        <p:spPr>
          <a:xfrm>
            <a:off x="6446520" y="5349240"/>
            <a:ext cx="4846320" cy="777240"/>
          </a:xfrm>
          <a:prstGeom prst="rect">
            <a:avLst/>
          </a:prstGeom>
          <a:noFill/>
          <a:ln/>
        </p:spPr>
        <p:txBody>
          <a:bodyPr wrap="square" rtlCol="0" anchor="ctr"/>
          <a:lstStyle/>
          <a:p>
            <a:pPr indent="0" marL="0">
              <a:lnSpc>
                <a:spcPct val="125000"/>
              </a:lnSpc>
              <a:buNone/>
            </a:pPr>
            <a:r>
              <a:rPr lang="en-US" sz="1000" i="1" dirty="0">
                <a:solidFill>
                  <a:srgbClr val="9E9789"/>
                </a:solidFill>
                <a:latin typeface="Calibri" pitchFamily="34" charset="0"/>
                <a:ea typeface="Calibri" pitchFamily="34" charset="-122"/>
                <a:cs typeface="Calibri" pitchFamily="34" charset="-120"/>
              </a:rPr>
              <a:t>Excluded: 16:9 and 9:16. Added later by job: 4:1 divider bands for dense pages — the system grows when a content job appears, never per breakpoint.</a:t>
            </a:r>
            <a:endParaRPr lang="en-US" sz="100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24 / 39</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151317"/>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PLATFORM &amp; CONTENT OPS</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A CONSTRAINT NO MOODBOARD WOULD SHOW YOU</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WHY NOT WEBFLOW</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Webflow is a US company bound by OFAC sanctions: it can't serve Russian accounts or payments, and Webflow-hosted sites don't reliably reach visitors physically in Russia. For a Yaroslavl gastrobar, that's not a technicality — it's the site not loading for its own guests.</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THE CALL</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Self-hosted WordPress + a fully custom hand-coded theme + Advanced Custom Fields — in the build its free fork, SCF: same field API, no licence tied to a foreign card. No foreign vendor in the loop, hostable anywhere including Russia, and the fields scope day-to-day editing to the team without exposing the layout to breakage.</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CONTENT OPS: LAUNCH SMALL, PHASE UP</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The News page is deferred at launch entirely — no dead nav items, zero API dependencies, and the team learns WordPress on low-stakes content first. Phase 2 adds manual News cards: pasting posts the team already writes for VK/Instagram costs seconds.</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Phase 3, as built: the VK importer runs hourly by itself on the Russian page. The planned Instagram proxy was withdrawn on the lawyer’s advice — Instagram shows only outside Russia, as hand-picked cards on the English page. Never a live embed.</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25 / 39</a:t>
            </a:r>
            <a:endParaRPr lang="en-US" sz="10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STACK</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THE STACK IS CLOSED</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CLASSIC PHP, THIN ON PURPOSE</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A classic theme, not a block theme — the team edits content, never layout. PHP is a data layer: templates hold “a loop, an if, and holes”; everything carrying the design lives in CSS and JS. The daypart engine is client-side by necessity — a page cache would serve the wrong hour. Vite compiles tokens straight from design.md.</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FOUR PLUGINS, IN WRITING</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Custom fields (SCF), a page cache, backups — and a slot freed in writing: Polylang, displaced when one theme file took over the two-language routing. Anything proposed later must displace one. No page builder. The 2016 failure mode wasn’t one bad plugin — it was the absence of a rule about adding them.</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REJECTIONS RECORDED, NOT REOPENED</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Headless: Next outright (React plus a US host for a site of text and photographs). Astro was the credible one — but two systems to maintain, rebuild-gated content edits, and handover narrowing to the author permanently. The Astro appetite goes to the case-study site instead.</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Tilda: rejected on the design, not the politics — no token layer for day/night, no content model for tagged dishes, and the three tappable grammars stop being structurally enforceable, block by block, until they drift.</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26 / 39</a:t>
            </a:r>
            <a:endParaRPr lang="en-US" sz="10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PROCESS · SELF-AUDIT</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RECOMPUTE YOUR OWN CLAIMS</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FOUND — NOW ON THE FIX LIST</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interaction rule was false</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“Exactly three tappable styles” forbade five things already designed — tiles, stamps, the word cloud. Fix: a closed, sanctioned exception list. The value was never the number; it’s the list being closed.</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price colour fails AA</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Olive prices on Parchment measure 3.68:1 in exactly the small-text menu rows they were assigned to. A token decision — Deep Chili or a darker green step — queued before any CSS variable is written.</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“Colour-blind safe” wasn’t</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Under protanopia, Chili and Olive — day’s two accents, adjacent on every menu row — collapse from ΔE 78 to 10. The claim narrows to what’s testable: no colour carries meaning alone.</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THE DISCIPLINE</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Findings only, nothing changed</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Eleven files cross-checked; where documents disagree, both sides are named and the current one identified. The calls stay the author’s — the audit changed no doc silently.</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Numbers re-derived, not trusted</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Contrast ratios and colour-vision claims recomputed from the hex values per the project’s own standing instruction — the tables had drifted from the math.</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 work order, not a report card</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A-items would ship bugs or wrong guest-facing facts; B-items block specific build phases; C is hygiene — and one section lists what came back clean, so the rest can still be trusted.</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27 / 39</a:t>
            </a:r>
            <a:endParaRPr lang="en-US" sz="10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BUILD</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THE SPEC BECOMES CODE</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A CLASSIC THEME, RUNNING</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A classic WordPress theme runs locally with Vite compiling tokens straight from design.md. The day/night mechanic, the tile-grid hero, the side-nav menu hero and its doors, nine food sections plus the bar menu, and the rugged-edge ticket all exist as working template parts.</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DOCS AS THE INTERFACE</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The theme is built one chat per section, steered by files rather than chat history: a living project report whose first line is “read this before writing any code,” agent briefs, and subagents. Git pushes go through Claude Code — every session starts from current truth, not archaeology.</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THE AUDIT PAID OFF FIRST</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The A-list ran ahead of the first line of CSS: the interaction-rule exception list and the token decisions landed before variables.css was written, not after bugs shipped.</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The report captures each component’s states and dimensions as it’s built, so any future chat — or any freelancer in Yaroslavl — inherits a working spec, exactly the handover the stack decision was made for.</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28 / 39</a:t>
            </a:r>
            <a:endParaRPr lang="en-US" sz="10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STYLE GUIDE</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THE SYSTEM SHIPS AS A PRODUCT</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ONE FILE, TWO LANGUAGES</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Live on the bar’s domain: a single-file bilingual guide — EN and RU as layers with a language switch — an app-style mobile shell under 768px, and A4 PDFs (EN 27pp, RU 30pp) from a scripted render pipeline. An in-page edit mode commits text fixes straight to the repo from the live page.</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IF A RULE GETS MISSED, DRAW IT</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The logo clear-space rule existed in text and a teammate missed it — so it became a drawn four-card figure, constructed at load time from the artwork itself, exact even if a logo is swapped. Documentation failures are design problems, not reader problems.</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THE GUIDE OBEYS ITS OWN SYSTEM</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Every margin, padding and gap snapped to a 4px grid by a checker script — 340 values. Where the guide and design.md disagree, the guide is the one that’s wrong; open questions live in the working docs, never in the audience-facing artefact.</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One rule was amended in daylight along the way: social icons are the official full-colour marks — they’re contacts, not supporting icons. The earlier single-colour rule was a misreading of the source, corrected everywhere in one pass.</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29 / 39</a:t>
            </a:r>
            <a:endParaRPr lang="en-US" sz="10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LIVING CONTENT</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SYSTEMS THAT OUTLIVE LAUNCH DAY</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“HOW IT FEELS” — THE PIPELINE</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No live API, again</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review word-cloud runs on a periodic tally plus curated quotes — the same call as the News feed, for the same reasons. Zero platform dependencies at launch.</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 written admission rule</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quote wheel caps at 12 cards; each update admits up to three — only quotes that add a word or beat a sitting card — and every admission retires the oldest.</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An auditable ledger</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Every card carries platform, date and link; the ledger records added and retired dates, so the wheel’s history can be checked years from now.</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THE PEPPER STORY — FOUR STUDIES</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One deliberately wrong</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studies included a rule-breaking candidate on purpose — a giant live-ticking Molot numeral in a Lemon band — per the standing agent brief: offer the option that breaks a rule, argue whether it earns the exception.</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heat line won</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timeline joins the outline → fill grammar the site already speaks — heat travels the line as the story advances. A new section arrived without a new vocabulary.</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Studies, then build</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Four desktop studies on one canvas, one pick, built the same day. Divergence stays cheap when the closed system does the converging.</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30 / 39</a:t>
            </a:r>
            <a:endParaRPr lang="en-US" sz="10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CONTENT MODEL</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2700" b="1" dirty="0">
                <a:solidFill>
                  <a:srgbClr val="F3E9D2"/>
                </a:solidFill>
                <a:latin typeface="Arial" pitchFamily="34" charset="0"/>
                <a:ea typeface="Arial" pitchFamily="34" charset="-122"/>
                <a:cs typeface="Arial" pitchFamily="34" charset="-120"/>
              </a:rPr>
              <a:t>WHO EDITS WHAT</a:t>
            </a:r>
            <a:endParaRPr lang="en-US" sz="2700" dirty="0"/>
          </a:p>
        </p:txBody>
      </p:sp>
      <p:sp>
        <p:nvSpPr>
          <p:cNvPr id="4" name="Shape 2"/>
          <p:cNvSpPr/>
          <p:nvPr/>
        </p:nvSpPr>
        <p:spPr>
          <a:xfrm>
            <a:off x="548640" y="1783080"/>
            <a:ext cx="5349240" cy="4434840"/>
          </a:xfrm>
          <a:prstGeom prst="rect">
            <a:avLst/>
          </a:prstGeom>
          <a:solidFill>
            <a:srgbClr val="201E22"/>
          </a:solidFill>
          <a:ln/>
        </p:spPr>
        <p:txBody>
          <a:bodyPr/>
          <a:p/>
        </p:txBody>
      </p:sp>
      <p:sp>
        <p:nvSpPr>
          <p:cNvPr id="5" name="Text 3"/>
          <p:cNvSpPr/>
          <p:nvPr/>
        </p:nvSpPr>
        <p:spPr>
          <a:xfrm>
            <a:off x="82296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THREE TIERS, ONE ANSWER</a:t>
            </a:r>
            <a:endParaRPr lang="en-US" sz="1300" dirty="0"/>
          </a:p>
        </p:txBody>
      </p:sp>
      <p:sp>
        <p:nvSpPr>
          <p:cNvPr id="6" name="Text 4"/>
          <p:cNvSpPr/>
          <p:nvPr/>
        </p:nvSpPr>
        <p:spPr>
          <a:xfrm>
            <a:off x="822960" y="2423160"/>
            <a:ext cx="4846320" cy="155448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Rows (menu, hours, quotes) live in the WordPress admin; prose (the story, hero leads) in ACF fields with the block editor off; structure — section order, ratios, the daypart engine — is code, never editable. Sorting by content type dissolved the “do I need a Webflow-like editor?” worry.</a:t>
            </a:r>
            <a:endParaRPr lang="en-US" sz="1150" dirty="0"/>
          </a:p>
        </p:txBody>
      </p:sp>
      <p:sp>
        <p:nvSpPr>
          <p:cNvPr id="7" name="Text 5"/>
          <p:cNvSpPr/>
          <p:nvPr/>
        </p:nvSpPr>
        <p:spPr>
          <a:xfrm>
            <a:off x="822960" y="4114800"/>
            <a:ext cx="4846320" cy="320040"/>
          </a:xfrm>
          <a:prstGeom prst="rect">
            <a:avLst/>
          </a:prstGeom>
          <a:noFill/>
          <a:ln/>
        </p:spPr>
        <p:txBody>
          <a:bodyPr wrap="square" rtlCol="0" anchor="ctr"/>
          <a:lstStyle/>
          <a:p>
            <a:pPr indent="0" marL="0">
              <a:buNone/>
            </a:pPr>
            <a:r>
              <a:rPr lang="en-US" sz="1300" b="1" spc="100" kern="0" dirty="0">
                <a:solidFill>
                  <a:srgbClr val="C1DB34"/>
                </a:solidFill>
                <a:latin typeface="Arial" pitchFamily="34" charset="0"/>
                <a:ea typeface="Arial" pitchFamily="34" charset="-122"/>
                <a:cs typeface="Arial" pitchFamily="34" charset="-120"/>
              </a:rPr>
              <a:t>THE EDITOR IS A LAYER, NOT A STORE</a:t>
            </a:r>
            <a:endParaRPr lang="en-US" sz="1300" dirty="0"/>
          </a:p>
        </p:txBody>
      </p:sp>
      <p:sp>
        <p:nvSpPr>
          <p:cNvPr id="8" name="Text 6"/>
          <p:cNvSpPr/>
          <p:nvPr/>
        </p:nvSpPr>
        <p:spPr>
          <a:xfrm>
            <a:off x="822960" y="4526280"/>
            <a:ext cx="4846320" cy="155448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A bespoke keyed store was dropped: ACF is the store, and an in-place editor — a port of the style guide’s — is a later layer over the same fields, built only if the admin form annoys the team. The 239 hardcoded dish rows are already structured data; migration is a script, not a rewrite.</a:t>
            </a:r>
            <a:endParaRPr lang="en-US" sz="1150" dirty="0"/>
          </a:p>
        </p:txBody>
      </p:sp>
      <p:sp>
        <p:nvSpPr>
          <p:cNvPr id="9" name="Shape 7"/>
          <p:cNvSpPr/>
          <p:nvPr/>
        </p:nvSpPr>
        <p:spPr>
          <a:xfrm>
            <a:off x="6172200" y="1783080"/>
            <a:ext cx="5349240" cy="4434840"/>
          </a:xfrm>
          <a:prstGeom prst="rect">
            <a:avLst/>
          </a:prstGeom>
          <a:solidFill>
            <a:srgbClr val="201E22"/>
          </a:solidFill>
          <a:ln/>
        </p:spPr>
        <p:txBody>
          <a:bodyPr/>
          <a:p/>
        </p:txBody>
      </p:sp>
      <p:sp>
        <p:nvSpPr>
          <p:cNvPr id="10" name="Text 8"/>
          <p:cNvSpPr/>
          <p:nvPr/>
        </p:nvSpPr>
        <p:spPr>
          <a:xfrm>
            <a:off x="6446520" y="2011680"/>
            <a:ext cx="4846320" cy="320040"/>
          </a:xfrm>
          <a:prstGeom prst="rect">
            <a:avLst/>
          </a:prstGeom>
          <a:noFill/>
          <a:ln/>
        </p:spPr>
        <p:txBody>
          <a:bodyPr wrap="square" rtlCol="0" anchor="ctr"/>
          <a:lstStyle/>
          <a:p>
            <a:pPr indent="0" marL="0">
              <a:buNone/>
            </a:pPr>
            <a:r>
              <a:rPr lang="en-US" sz="1300" b="1" spc="100" kern="0" dirty="0">
                <a:solidFill>
                  <a:srgbClr val="E34314"/>
                </a:solidFill>
                <a:latin typeface="Arial" pitchFamily="34" charset="0"/>
                <a:ea typeface="Arial" pitchFamily="34" charset="-122"/>
                <a:cs typeface="Arial" pitchFamily="34" charset="-120"/>
              </a:rPr>
              <a:t>TEMPTATIONS, SCORED IN ADVANCE</a:t>
            </a:r>
            <a:endParaRPr lang="en-US" sz="1300" dirty="0"/>
          </a:p>
        </p:txBody>
      </p:sp>
      <p:sp>
        <p:nvSpPr>
          <p:cNvPr id="11" name="Text 9"/>
          <p:cNvSpPr/>
          <p:nvPr/>
        </p:nvSpPr>
        <p:spPr>
          <a:xfrm>
            <a:off x="6446520" y="2423160"/>
            <a:ext cx="4846320" cy="1417320"/>
          </a:xfrm>
          <a:prstGeom prst="rect">
            <a:avLst/>
          </a:prstGeom>
          <a:noFill/>
          <a:ln/>
        </p:spPr>
        <p:txBody>
          <a:bodyPr wrap="square" rtlCol="0" anchor="ctr"/>
          <a:lstStyle/>
          <a:p>
            <a:pPr indent="0" marL="0">
              <a:lnSpc>
                <a:spcPct val="130000"/>
              </a:lnSpc>
              <a:buNone/>
            </a:pPr>
            <a:r>
              <a:rPr lang="en-US" sz="1150" dirty="0">
                <a:solidFill>
                  <a:srgbClr val="9E9789"/>
                </a:solidFill>
                <a:latin typeface="Calibri" pitchFamily="34" charset="0"/>
                <a:ea typeface="Calibri" pitchFamily="34" charset="-122"/>
                <a:cs typeface="Calibri" pitchFamily="34" charset="-120"/>
              </a:rPr>
              <a:t>A page-builder rebuild of About runs as a side experiment in a separate install — judged against criteria written down before it started. Testing a temptation properly beats resisting it forever.</a:t>
            </a:r>
            <a:endParaRPr lang="en-US" sz="1150" dirty="0"/>
          </a:p>
        </p:txBody>
      </p:sp>
      <p:sp>
        <p:nvSpPr>
          <p:cNvPr id="12" name="Text 10"/>
          <p:cNvSpPr/>
          <p:nvPr/>
        </p:nvSpPr>
        <p:spPr>
          <a:xfrm>
            <a:off x="6446520" y="3977640"/>
            <a:ext cx="4846320" cy="1737360"/>
          </a:xfrm>
          <a:prstGeom prst="rect">
            <a:avLst/>
          </a:prstGeom>
          <a:noFill/>
          <a:ln/>
        </p:spPr>
        <p:txBody>
          <a:bodyPr wrap="square" rtlCol="0" anchor="ctr"/>
          <a:lstStyle/>
          <a:p>
            <a:pPr indent="0" marL="0">
              <a:lnSpc>
                <a:spcPct val="130000"/>
              </a:lnSpc>
              <a:buNone/>
            </a:pPr>
            <a:r>
              <a:rPr lang="en-US" sz="1150" dirty="0">
                <a:solidFill>
                  <a:srgbClr val="F3E9D2"/>
                </a:solidFill>
                <a:latin typeface="Calibri" pitchFamily="34" charset="0"/>
                <a:ea typeface="Calibri" pitchFamily="34" charset="-122"/>
                <a:cs typeface="Calibri" pitchFamily="34" charset="-120"/>
              </a:rPr>
              <a:t>Languages: “one document, two languages” — one page per template, PHP rendering one language per request, / in Russian and /en/ in English. Pinned to a real extraction rather than decided in the abstract — and the extraction settled it: no plugin.</a:t>
            </a:r>
            <a:endParaRPr lang="en-US" sz="1150" dirty="0"/>
          </a:p>
        </p:txBody>
      </p:sp>
      <p:sp>
        <p:nvSpPr>
          <p:cNvPr id="13" name="Text 1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14" name="Text 12"/>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31 / 39</a:t>
            </a:r>
            <a:endParaRPr lang="en-US" sz="10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RESPONSIVE</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THE BAND BETWEEN PHONE AND DESKTOP</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RULES THAT BEND, ON RECORD</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Tablets get the phone bento — by height</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In the 768–991 band the desktop row read as thumbnails. The phone bento returns, guarded by min-height 1000px — a narrowed desktop window keeps the row. In practice, the band is portrait tablets.</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gutter ramps; the grid holds</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page gutter became one fluid clamp; its off-grid values got a written carve-out from the 4px rule — nothing aligns against a page margin. A rounding variant was built and rejected: one 111px cliff traded for fourteen 8px sawteeth.</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Five recurring faults, catalogued</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pass closed by writing down the five responsive faults that kept recurring — the testing-log move again: record the pattern, stop re-finding it.</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WORDS GET THE SAME RIGOR</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Copy reviews state their evidence</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Menu and Visit copy passes open by declaring what was and wasn’t inspected — “no live Figma inspection is claimed.” The audit’s honesty rules, applied to copywriting.</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And they catch real bugs</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review found a shipped row reading “Horseraddish” with the literal word “description” as its copy — corrected in the clean files and flagged for the implementation pass, not hot-fixed.</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RU layer begins</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Russian drafts run as register twins, never translations — «Для смелых — Ярославль с огоньком» carries the wink of “For the brave — a taste of Yaroslavl’s hot side,” not its words.</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32 / 39</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WHERE IT STANDS</a:t>
            </a:r>
            <a:endParaRPr lang="en-US" sz="1300" dirty="0"/>
          </a:p>
        </p:txBody>
      </p:sp>
      <p:sp>
        <p:nvSpPr>
          <p:cNvPr id="3" name="Text 1"/>
          <p:cNvSpPr/>
          <p:nvPr/>
        </p:nvSpPr>
        <p:spPr>
          <a:xfrm>
            <a:off x="548640" y="731520"/>
            <a:ext cx="9144000" cy="731520"/>
          </a:xfrm>
          <a:prstGeom prst="rect">
            <a:avLst/>
          </a:prstGeom>
          <a:noFill/>
          <a:ln/>
        </p:spPr>
        <p:txBody>
          <a:bodyPr wrap="square" rtlCol="0" anchor="ctr"/>
          <a:lstStyle/>
          <a:p>
            <a:pPr indent="0" marL="0">
              <a:buNone/>
            </a:pPr>
            <a:r>
              <a:rPr lang="en-US" sz="2800" b="1" dirty="0">
                <a:solidFill>
                  <a:srgbClr val="151317"/>
                </a:solidFill>
                <a:latin typeface="Arial" pitchFamily="34" charset="0"/>
                <a:ea typeface="Arial" pitchFamily="34" charset="-122"/>
                <a:cs typeface="Arial" pitchFamily="34" charset="-120"/>
              </a:rPr>
              <a:t>THE SITE IS UP. CHECKS REMAIN.</a:t>
            </a:r>
            <a:endParaRPr lang="en-US" sz="2800" dirty="0"/>
          </a:p>
        </p:txBody>
      </p:sp>
      <p:sp>
        <p:nvSpPr>
          <p:cNvPr id="4" name="Text 2"/>
          <p:cNvSpPr/>
          <p:nvPr/>
        </p:nvSpPr>
        <p:spPr>
          <a:xfrm>
            <a:off x="548640" y="1691640"/>
            <a:ext cx="5349240" cy="365760"/>
          </a:xfrm>
          <a:prstGeom prst="rect">
            <a:avLst/>
          </a:prstGeom>
          <a:noFill/>
          <a:ln/>
        </p:spPr>
        <p:txBody>
          <a:bodyPr wrap="square" rtlCol="0" anchor="ctr"/>
          <a:lstStyle/>
          <a:p>
            <a:pPr indent="0" marL="0">
              <a:buNone/>
            </a:pPr>
            <a:r>
              <a:rPr lang="en-US" sz="1500" b="1" spc="150" kern="0" dirty="0">
                <a:solidFill>
                  <a:srgbClr val="737D3A"/>
                </a:solidFill>
                <a:latin typeface="Arial" pitchFamily="34" charset="0"/>
                <a:ea typeface="Arial" pitchFamily="34" charset="-122"/>
                <a:cs typeface="Arial" pitchFamily="34" charset="-120"/>
              </a:rPr>
              <a:t>DONE</a:t>
            </a:r>
            <a:endParaRPr lang="en-US" sz="1500" dirty="0"/>
          </a:p>
        </p:txBody>
      </p:sp>
      <p:sp>
        <p:nvSpPr>
          <p:cNvPr id="5" name="Shape 3"/>
          <p:cNvSpPr/>
          <p:nvPr/>
        </p:nvSpPr>
        <p:spPr>
          <a:xfrm>
            <a:off x="548640" y="2217420"/>
            <a:ext cx="128016" cy="128016"/>
          </a:xfrm>
          <a:prstGeom prst="ellipse">
            <a:avLst/>
          </a:prstGeom>
          <a:solidFill>
            <a:srgbClr val="737D3A"/>
          </a:solidFill>
          <a:ln/>
        </p:spPr>
        <p:txBody>
          <a:bodyPr/>
          <a:p/>
        </p:txBody>
      </p:sp>
      <p:sp>
        <p:nvSpPr>
          <p:cNvPr id="6" name="Text 4"/>
          <p:cNvSpPr/>
          <p:nvPr/>
        </p:nvSpPr>
        <p:spPr>
          <a:xfrm>
            <a:off x="841248" y="2029968"/>
            <a:ext cx="5074920" cy="50292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Design system validated; palette pruned (Dark Olive out)</a:t>
            </a:r>
            <a:endParaRPr lang="en-US" sz="1150" dirty="0"/>
          </a:p>
        </p:txBody>
      </p:sp>
      <p:sp>
        <p:nvSpPr>
          <p:cNvPr id="7" name="Shape 5"/>
          <p:cNvSpPr/>
          <p:nvPr/>
        </p:nvSpPr>
        <p:spPr>
          <a:xfrm>
            <a:off x="548640" y="2884932"/>
            <a:ext cx="128016" cy="128016"/>
          </a:xfrm>
          <a:prstGeom prst="ellipse">
            <a:avLst/>
          </a:prstGeom>
          <a:solidFill>
            <a:srgbClr val="737D3A"/>
          </a:solidFill>
          <a:ln/>
        </p:spPr>
        <p:txBody>
          <a:bodyPr/>
          <a:p/>
        </p:txBody>
      </p:sp>
      <p:sp>
        <p:nvSpPr>
          <p:cNvPr id="8" name="Text 6"/>
          <p:cNvSpPr/>
          <p:nvPr/>
        </p:nvSpPr>
        <p:spPr>
          <a:xfrm>
            <a:off x="841248" y="2697480"/>
            <a:ext cx="5074920" cy="50292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Style guide live: bilingual HTML, mobile shell, PDFs, edit mode</a:t>
            </a:r>
            <a:endParaRPr lang="en-US" sz="1150" dirty="0"/>
          </a:p>
        </p:txBody>
      </p:sp>
      <p:sp>
        <p:nvSpPr>
          <p:cNvPr id="9" name="Shape 7"/>
          <p:cNvSpPr/>
          <p:nvPr/>
        </p:nvSpPr>
        <p:spPr>
          <a:xfrm>
            <a:off x="548640" y="3552444"/>
            <a:ext cx="128016" cy="128016"/>
          </a:xfrm>
          <a:prstGeom prst="ellipse">
            <a:avLst/>
          </a:prstGeom>
          <a:solidFill>
            <a:srgbClr val="737D3A"/>
          </a:solidFill>
          <a:ln/>
        </p:spPr>
        <p:txBody>
          <a:bodyPr/>
          <a:p/>
        </p:txBody>
      </p:sp>
      <p:sp>
        <p:nvSpPr>
          <p:cNvPr id="10" name="Text 8"/>
          <p:cNvSpPr/>
          <p:nvPr/>
        </p:nvSpPr>
        <p:spPr>
          <a:xfrm>
            <a:off x="841248" y="3364992"/>
            <a:ext cx="5074920" cy="50292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All pages, both states, RU + EN: phone, tablet band, desktop</a:t>
            </a:r>
            <a:endParaRPr lang="en-US" sz="1150" dirty="0"/>
          </a:p>
        </p:txBody>
      </p:sp>
      <p:sp>
        <p:nvSpPr>
          <p:cNvPr id="11" name="Shape 9"/>
          <p:cNvSpPr/>
          <p:nvPr/>
        </p:nvSpPr>
        <p:spPr>
          <a:xfrm>
            <a:off x="548640" y="4219956"/>
            <a:ext cx="128016" cy="128016"/>
          </a:xfrm>
          <a:prstGeom prst="ellipse">
            <a:avLst/>
          </a:prstGeom>
          <a:solidFill>
            <a:srgbClr val="737D3A"/>
          </a:solidFill>
          <a:ln/>
        </p:spPr>
        <p:txBody>
          <a:bodyPr/>
          <a:p/>
        </p:txBody>
      </p:sp>
      <p:sp>
        <p:nvSpPr>
          <p:cNvPr id="12" name="Text 10"/>
          <p:cNvSpPr/>
          <p:nvPr/>
        </p:nvSpPr>
        <p:spPr>
          <a:xfrm>
            <a:off x="841248" y="4032504"/>
            <a:ext cx="5074920" cy="50292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Heroes, menu storage &amp; the admin all usability-tested</a:t>
            </a:r>
            <a:endParaRPr lang="en-US" sz="1150" dirty="0"/>
          </a:p>
        </p:txBody>
      </p:sp>
      <p:sp>
        <p:nvSpPr>
          <p:cNvPr id="13" name="Shape 11"/>
          <p:cNvSpPr/>
          <p:nvPr/>
        </p:nvSpPr>
        <p:spPr>
          <a:xfrm>
            <a:off x="548640" y="4887468"/>
            <a:ext cx="128016" cy="128016"/>
          </a:xfrm>
          <a:prstGeom prst="ellipse">
            <a:avLst/>
          </a:prstGeom>
          <a:solidFill>
            <a:srgbClr val="737D3A"/>
          </a:solidFill>
          <a:ln/>
        </p:spPr>
        <p:txBody>
          <a:bodyPr/>
          <a:p/>
        </p:txBody>
      </p:sp>
      <p:sp>
        <p:nvSpPr>
          <p:cNvPr id="14" name="Text 12"/>
          <p:cNvSpPr/>
          <p:nvPr/>
        </p:nvSpPr>
        <p:spPr>
          <a:xfrm>
            <a:off x="841248" y="4700016"/>
            <a:ext cx="5074920" cy="50292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Content model in use: fall menu, vacancies, the team’s own lines</a:t>
            </a:r>
            <a:endParaRPr lang="en-US" sz="1150" dirty="0"/>
          </a:p>
        </p:txBody>
      </p:sp>
      <p:sp>
        <p:nvSpPr>
          <p:cNvPr id="15" name="Shape 13"/>
          <p:cNvSpPr/>
          <p:nvPr/>
        </p:nvSpPr>
        <p:spPr>
          <a:xfrm>
            <a:off x="548640" y="5554980"/>
            <a:ext cx="128016" cy="128016"/>
          </a:xfrm>
          <a:prstGeom prst="ellipse">
            <a:avLst/>
          </a:prstGeom>
          <a:solidFill>
            <a:srgbClr val="737D3A"/>
          </a:solidFill>
          <a:ln/>
        </p:spPr>
        <p:txBody>
          <a:bodyPr/>
          <a:p/>
        </p:txBody>
      </p:sp>
      <p:sp>
        <p:nvSpPr>
          <p:cNvPr id="16" name="Text 14"/>
          <p:cNvSpPr/>
          <p:nvPr/>
        </p:nvSpPr>
        <p:spPr>
          <a:xfrm>
            <a:off x="841248" y="5367528"/>
            <a:ext cx="5074920" cy="50292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Site on the bar’s domain; VK feed updating itself hourly</a:t>
            </a:r>
            <a:endParaRPr lang="en-US" sz="1150" dirty="0"/>
          </a:p>
        </p:txBody>
      </p:sp>
      <p:sp>
        <p:nvSpPr>
          <p:cNvPr id="17" name="Text 15"/>
          <p:cNvSpPr/>
          <p:nvPr/>
        </p:nvSpPr>
        <p:spPr>
          <a:xfrm>
            <a:off x="6309360" y="1691640"/>
            <a:ext cx="5349240" cy="365760"/>
          </a:xfrm>
          <a:prstGeom prst="rect">
            <a:avLst/>
          </a:prstGeom>
          <a:noFill/>
          <a:ln/>
        </p:spPr>
        <p:txBody>
          <a:bodyPr wrap="square" rtlCol="0" anchor="ctr"/>
          <a:lstStyle/>
          <a:p>
            <a:pPr indent="0" marL="0">
              <a:buNone/>
            </a:pPr>
            <a:r>
              <a:rPr lang="en-US" sz="1500" b="1" spc="150" kern="0" dirty="0">
                <a:solidFill>
                  <a:srgbClr val="E34314"/>
                </a:solidFill>
                <a:latin typeface="Arial" pitchFamily="34" charset="0"/>
                <a:ea typeface="Arial" pitchFamily="34" charset="-122"/>
                <a:cs typeface="Arial" pitchFamily="34" charset="-120"/>
              </a:rPr>
              <a:t>NEXT</a:t>
            </a:r>
            <a:endParaRPr lang="en-US" sz="1500" dirty="0"/>
          </a:p>
        </p:txBody>
      </p:sp>
      <p:sp>
        <p:nvSpPr>
          <p:cNvPr id="18" name="Shape 16"/>
          <p:cNvSpPr/>
          <p:nvPr/>
        </p:nvSpPr>
        <p:spPr>
          <a:xfrm>
            <a:off x="6309360" y="2240280"/>
            <a:ext cx="128016" cy="128016"/>
          </a:xfrm>
          <a:prstGeom prst="ellipse">
            <a:avLst/>
          </a:prstGeom>
          <a:solidFill>
            <a:srgbClr val="E34314"/>
          </a:solidFill>
          <a:ln/>
        </p:spPr>
        <p:txBody>
          <a:bodyPr/>
          <a:p/>
        </p:txBody>
      </p:sp>
      <p:sp>
        <p:nvSpPr>
          <p:cNvPr id="19" name="Text 17"/>
          <p:cNvSpPr/>
          <p:nvPr/>
        </p:nvSpPr>
        <p:spPr>
          <a:xfrm>
            <a:off x="6601968" y="2029968"/>
            <a:ext cx="4937760" cy="54864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Device verdicts: phone menu bar, 404, loader, lightbox</a:t>
            </a:r>
            <a:endParaRPr lang="en-US" sz="1150" dirty="0"/>
          </a:p>
        </p:txBody>
      </p:sp>
      <p:sp>
        <p:nvSpPr>
          <p:cNvPr id="20" name="Shape 18"/>
          <p:cNvSpPr/>
          <p:nvPr/>
        </p:nvSpPr>
        <p:spPr>
          <a:xfrm>
            <a:off x="6309360" y="3017520"/>
            <a:ext cx="128016" cy="128016"/>
          </a:xfrm>
          <a:prstGeom prst="ellipse">
            <a:avLst/>
          </a:prstGeom>
          <a:solidFill>
            <a:srgbClr val="E34314"/>
          </a:solidFill>
          <a:ln/>
        </p:spPr>
        <p:txBody>
          <a:bodyPr/>
          <a:p/>
        </p:txBody>
      </p:sp>
      <p:sp>
        <p:nvSpPr>
          <p:cNvPr id="21" name="Text 19"/>
          <p:cNvSpPr/>
          <p:nvPr/>
        </p:nvSpPr>
        <p:spPr>
          <a:xfrm>
            <a:off x="6601968" y="2807208"/>
            <a:ext cx="4937760" cy="54864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Page cache, then search engines; analytics once consent is recorded</a:t>
            </a:r>
            <a:endParaRPr lang="en-US" sz="1150" dirty="0"/>
          </a:p>
        </p:txBody>
      </p:sp>
      <p:sp>
        <p:nvSpPr>
          <p:cNvPr id="22" name="Shape 20"/>
          <p:cNvSpPr/>
          <p:nvPr/>
        </p:nvSpPr>
        <p:spPr>
          <a:xfrm>
            <a:off x="6309360" y="3794760"/>
            <a:ext cx="128016" cy="128016"/>
          </a:xfrm>
          <a:prstGeom prst="ellipse">
            <a:avLst/>
          </a:prstGeom>
          <a:solidFill>
            <a:srgbClr val="E34314"/>
          </a:solidFill>
          <a:ln/>
        </p:spPr>
        <p:txBody>
          <a:bodyPr/>
          <a:p/>
        </p:txBody>
      </p:sp>
      <p:sp>
        <p:nvSpPr>
          <p:cNvPr id="23" name="Text 21"/>
          <p:cNvSpPr/>
          <p:nvPr/>
        </p:nvSpPr>
        <p:spPr>
          <a:xfrm>
            <a:off x="6601968" y="3584448"/>
            <a:ext cx="4937760" cy="54864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Hero photos; the remaining team photos; founder quote</a:t>
            </a:r>
            <a:endParaRPr lang="en-US" sz="1150" dirty="0"/>
          </a:p>
        </p:txBody>
      </p:sp>
      <p:sp>
        <p:nvSpPr>
          <p:cNvPr id="24" name="Shape 22"/>
          <p:cNvSpPr/>
          <p:nvPr/>
        </p:nvSpPr>
        <p:spPr>
          <a:xfrm>
            <a:off x="6309360" y="4572000"/>
            <a:ext cx="128016" cy="128016"/>
          </a:xfrm>
          <a:prstGeom prst="ellipse">
            <a:avLst/>
          </a:prstGeom>
          <a:solidFill>
            <a:srgbClr val="E34314"/>
          </a:solidFill>
          <a:ln/>
        </p:spPr>
        <p:txBody>
          <a:bodyPr/>
          <a:p/>
        </p:txBody>
      </p:sp>
      <p:sp>
        <p:nvSpPr>
          <p:cNvPr id="25" name="Text 23"/>
          <p:cNvSpPr/>
          <p:nvPr/>
        </p:nvSpPr>
        <p:spPr>
          <a:xfrm>
            <a:off x="6601968" y="4361688"/>
            <a:ext cx="4937760" cy="548640"/>
          </a:xfrm>
          <a:prstGeom prst="rect">
            <a:avLst/>
          </a:prstGeom>
          <a:noFill/>
          <a:ln/>
        </p:spPr>
        <p:txBody>
          <a:bodyPr wrap="square" rtlCol="0" anchor="ctr"/>
          <a:lstStyle/>
          <a:p>
            <a:pPr indent="0" marL="0">
              <a:lnSpc>
                <a:spcPct val="120000"/>
              </a:lnSpc>
              <a:buNone/>
            </a:pPr>
            <a:r>
              <a:rPr lang="en-US" sz="1150" dirty="0">
                <a:solidFill>
                  <a:srgbClr val="151317"/>
                </a:solidFill>
                <a:latin typeface="Calibri" pitchFamily="34" charset="0"/>
                <a:ea typeface="Calibri" pitchFamily="34" charset="-122"/>
                <a:cs typeface="Calibri" pitchFamily="34" charset="-120"/>
              </a:rPr>
              <a:t>Figma catch-up; queued tests; the study’s own restructure</a:t>
            </a:r>
            <a:endParaRPr lang="en-US" sz="1150" dirty="0"/>
          </a:p>
        </p:txBody>
      </p:sp>
      <p:sp>
        <p:nvSpPr>
          <p:cNvPr id="26" name="Text 24"/>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27" name="Text 25"/>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37 / 39</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1">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REFLECTION</a:t>
            </a:r>
            <a:endParaRPr lang="en-US" sz="1300" dirty="0"/>
          </a:p>
        </p:txBody>
      </p:sp>
      <p:sp>
        <p:nvSpPr>
          <p:cNvPr id="3" name="Text 1"/>
          <p:cNvSpPr/>
          <p:nvPr/>
        </p:nvSpPr>
        <p:spPr>
          <a:xfrm>
            <a:off x="548640" y="731520"/>
            <a:ext cx="9144000" cy="731520"/>
          </a:xfrm>
          <a:prstGeom prst="rect">
            <a:avLst/>
          </a:prstGeom>
          <a:noFill/>
          <a:ln/>
        </p:spPr>
        <p:txBody>
          <a:bodyPr wrap="square" rtlCol="0" anchor="ctr"/>
          <a:lstStyle/>
          <a:p>
            <a:pPr indent="0" marL="0">
              <a:buNone/>
            </a:pPr>
            <a:r>
              <a:rPr lang="en-US" sz="3000" b="1" dirty="0">
                <a:solidFill>
                  <a:srgbClr val="151317"/>
                </a:solidFill>
                <a:latin typeface="Arial" pitchFamily="34" charset="0"/>
                <a:ea typeface="Arial" pitchFamily="34" charset="-122"/>
                <a:cs typeface="Arial" pitchFamily="34" charset="-120"/>
              </a:rPr>
              <a:t>WHAT THIS PROJECT TAUGHT ME</a:t>
            </a:r>
            <a:endParaRPr lang="en-US" sz="3000" dirty="0"/>
          </a:p>
        </p:txBody>
      </p:sp>
      <p:sp>
        <p:nvSpPr>
          <p:cNvPr id="4" name="Shape 2"/>
          <p:cNvSpPr/>
          <p:nvPr/>
        </p:nvSpPr>
        <p:spPr>
          <a:xfrm>
            <a:off x="548640" y="1691640"/>
            <a:ext cx="5349240" cy="1417320"/>
          </a:xfrm>
          <a:prstGeom prst="rect">
            <a:avLst/>
          </a:prstGeom>
          <a:solidFill>
            <a:srgbClr val="F3E9D2"/>
          </a:solidFill>
          <a:ln/>
          <a:effectLst>
            <a:outerShdw sx="100000" sy="100000" kx="0" ky="0" algn="bl" rotWithShape="0" blurRad="101600" dist="38100" dir="5400000">
              <a:srgbClr val="000000">
                <a:alpha val="7000"/>
              </a:srgbClr>
            </a:outerShdw>
          </a:effectLst>
        </p:spPr>
        <p:txBody>
          <a:bodyPr/>
          <a:p/>
        </p:txBody>
      </p:sp>
      <p:sp>
        <p:nvSpPr>
          <p:cNvPr id="5" name="Text 3"/>
          <p:cNvSpPr/>
          <p:nvPr/>
        </p:nvSpPr>
        <p:spPr>
          <a:xfrm>
            <a:off x="804672" y="1837944"/>
            <a:ext cx="4837176" cy="365760"/>
          </a:xfrm>
          <a:prstGeom prst="rect">
            <a:avLst/>
          </a:prstGeom>
          <a:noFill/>
          <a:ln/>
        </p:spPr>
        <p:txBody>
          <a:bodyPr wrap="square" rtlCol="0" anchor="ctr"/>
          <a:lstStyle/>
          <a:p>
            <a:pPr indent="0" marL="0">
              <a:buNone/>
            </a:pPr>
            <a:r>
              <a:rPr lang="en-US" sz="1250" b="1" spc="30" kern="0" dirty="0">
                <a:solidFill>
                  <a:srgbClr val="E34314"/>
                </a:solidFill>
                <a:latin typeface="Arial" pitchFamily="34" charset="0"/>
                <a:ea typeface="Arial" pitchFamily="34" charset="-122"/>
                <a:cs typeface="Arial" pitchFamily="34" charset="-120"/>
              </a:rPr>
              <a:t>SYSTEMIZING BEATS REDESIGNING</a:t>
            </a:r>
            <a:endParaRPr lang="en-US" sz="1250" dirty="0"/>
          </a:p>
        </p:txBody>
      </p:sp>
      <p:sp>
        <p:nvSpPr>
          <p:cNvPr id="6" name="Text 4"/>
          <p:cNvSpPr/>
          <p:nvPr/>
        </p:nvSpPr>
        <p:spPr>
          <a:xfrm>
            <a:off x="804672" y="2203704"/>
            <a:ext cx="4837176" cy="868680"/>
          </a:xfrm>
          <a:prstGeom prst="rect">
            <a:avLst/>
          </a:prstGeom>
          <a:noFill/>
          <a:ln/>
        </p:spPr>
        <p:txBody>
          <a:bodyPr wrap="square" rtlCol="0" anchor="ctr"/>
          <a:lstStyle/>
          <a:p>
            <a:pPr indent="0" marL="0">
              <a:lnSpc>
                <a:spcPct val="125000"/>
              </a:lnSpc>
              <a:buNone/>
            </a:pPr>
            <a:r>
              <a:rPr lang="en-US" sz="1080" dirty="0">
                <a:solidFill>
                  <a:srgbClr val="151317"/>
                </a:solidFill>
                <a:latin typeface="Calibri" pitchFamily="34" charset="0"/>
                <a:ea typeface="Calibri" pitchFamily="34" charset="-122"/>
                <a:cs typeface="Calibri" pitchFamily="34" charset="-120"/>
              </a:rPr>
              <a:t>The strongest move was often restraint — keeping a logo guests already loved and building rules around it, instead of replacing it to prove originality.</a:t>
            </a:r>
            <a:endParaRPr lang="en-US" sz="1080" dirty="0"/>
          </a:p>
        </p:txBody>
      </p:sp>
      <p:sp>
        <p:nvSpPr>
          <p:cNvPr id="7" name="Shape 5"/>
          <p:cNvSpPr/>
          <p:nvPr/>
        </p:nvSpPr>
        <p:spPr>
          <a:xfrm>
            <a:off x="6263640" y="1691640"/>
            <a:ext cx="5349240" cy="1417320"/>
          </a:xfrm>
          <a:prstGeom prst="rect">
            <a:avLst/>
          </a:prstGeom>
          <a:solidFill>
            <a:srgbClr val="F3E9D2"/>
          </a:solidFill>
          <a:ln/>
          <a:effectLst>
            <a:outerShdw sx="100000" sy="100000" kx="0" ky="0" algn="bl" rotWithShape="0" blurRad="101600" dist="38100" dir="5400000">
              <a:srgbClr val="000000">
                <a:alpha val="7000"/>
              </a:srgbClr>
            </a:outerShdw>
          </a:effectLst>
        </p:spPr>
        <p:txBody>
          <a:bodyPr/>
          <a:p/>
        </p:txBody>
      </p:sp>
      <p:sp>
        <p:nvSpPr>
          <p:cNvPr id="8" name="Text 6"/>
          <p:cNvSpPr/>
          <p:nvPr/>
        </p:nvSpPr>
        <p:spPr>
          <a:xfrm>
            <a:off x="6519672" y="1837944"/>
            <a:ext cx="4837176" cy="365760"/>
          </a:xfrm>
          <a:prstGeom prst="rect">
            <a:avLst/>
          </a:prstGeom>
          <a:noFill/>
          <a:ln/>
        </p:spPr>
        <p:txBody>
          <a:bodyPr wrap="square" rtlCol="0" anchor="ctr"/>
          <a:lstStyle/>
          <a:p>
            <a:pPr indent="0" marL="0">
              <a:buNone/>
            </a:pPr>
            <a:r>
              <a:rPr lang="en-US" sz="1250" b="1" spc="30" kern="0" dirty="0">
                <a:solidFill>
                  <a:srgbClr val="E34314"/>
                </a:solidFill>
                <a:latin typeface="Arial" pitchFamily="34" charset="0"/>
                <a:ea typeface="Arial" pitchFamily="34" charset="-122"/>
                <a:cs typeface="Arial" pitchFamily="34" charset="-120"/>
              </a:rPr>
              <a:t>CONSTRAINTS FOUND THE IDEA</a:t>
            </a:r>
            <a:endParaRPr lang="en-US" sz="1250" dirty="0"/>
          </a:p>
        </p:txBody>
      </p:sp>
      <p:sp>
        <p:nvSpPr>
          <p:cNvPr id="9" name="Text 7"/>
          <p:cNvSpPr/>
          <p:nvPr/>
        </p:nvSpPr>
        <p:spPr>
          <a:xfrm>
            <a:off x="6519672" y="2203704"/>
            <a:ext cx="4837176" cy="868680"/>
          </a:xfrm>
          <a:prstGeom prst="rect">
            <a:avLst/>
          </a:prstGeom>
          <a:noFill/>
          <a:ln/>
        </p:spPr>
        <p:txBody>
          <a:bodyPr wrap="square" rtlCol="0" anchor="ctr"/>
          <a:lstStyle/>
          <a:p>
            <a:pPr indent="0" marL="0">
              <a:lnSpc>
                <a:spcPct val="125000"/>
              </a:lnSpc>
              <a:buNone/>
            </a:pPr>
            <a:r>
              <a:rPr lang="en-US" sz="1080" dirty="0">
                <a:solidFill>
                  <a:srgbClr val="151317"/>
                </a:solidFill>
                <a:latin typeface="Calibri" pitchFamily="34" charset="0"/>
                <a:ea typeface="Calibri" pitchFamily="34" charset="-122"/>
                <a:cs typeface="Calibri" pitchFamily="34" charset="-120"/>
              </a:rPr>
              <a:t>The "no-clock" hospitality principle looked like a limitation. It's actually what forced the spice-slider metaphor instead of a literal schedule widget.</a:t>
            </a:r>
            <a:endParaRPr lang="en-US" sz="1080" dirty="0"/>
          </a:p>
        </p:txBody>
      </p:sp>
      <p:sp>
        <p:nvSpPr>
          <p:cNvPr id="10" name="Shape 8"/>
          <p:cNvSpPr/>
          <p:nvPr/>
        </p:nvSpPr>
        <p:spPr>
          <a:xfrm>
            <a:off x="548640" y="3246120"/>
            <a:ext cx="5349240" cy="1417320"/>
          </a:xfrm>
          <a:prstGeom prst="rect">
            <a:avLst/>
          </a:prstGeom>
          <a:solidFill>
            <a:srgbClr val="F3E9D2"/>
          </a:solidFill>
          <a:ln/>
          <a:effectLst>
            <a:outerShdw sx="100000" sy="100000" kx="0" ky="0" algn="bl" rotWithShape="0" blurRad="101600" dist="38100" dir="5400000">
              <a:srgbClr val="000000">
                <a:alpha val="7000"/>
              </a:srgbClr>
            </a:outerShdw>
          </a:effectLst>
        </p:spPr>
        <p:txBody>
          <a:bodyPr/>
          <a:p/>
        </p:txBody>
      </p:sp>
      <p:sp>
        <p:nvSpPr>
          <p:cNvPr id="11" name="Text 9"/>
          <p:cNvSpPr/>
          <p:nvPr/>
        </p:nvSpPr>
        <p:spPr>
          <a:xfrm>
            <a:off x="804672" y="3392424"/>
            <a:ext cx="4837176" cy="365760"/>
          </a:xfrm>
          <a:prstGeom prst="rect">
            <a:avLst/>
          </a:prstGeom>
          <a:noFill/>
          <a:ln/>
        </p:spPr>
        <p:txBody>
          <a:bodyPr wrap="square" rtlCol="0" anchor="ctr"/>
          <a:lstStyle/>
          <a:p>
            <a:pPr indent="0" marL="0">
              <a:buNone/>
            </a:pPr>
            <a:r>
              <a:rPr lang="en-US" sz="1250" b="1" spc="30" kern="0" dirty="0">
                <a:solidFill>
                  <a:srgbClr val="E34314"/>
                </a:solidFill>
                <a:latin typeface="Arial" pitchFamily="34" charset="0"/>
                <a:ea typeface="Arial" pitchFamily="34" charset="-122"/>
                <a:cs typeface="Arial" pitchFamily="34" charset="-120"/>
              </a:rPr>
              <a:t>THE BEST CALL ISN'T ALWAYS A DESIGN CALL</a:t>
            </a:r>
            <a:endParaRPr lang="en-US" sz="1250" dirty="0"/>
          </a:p>
        </p:txBody>
      </p:sp>
      <p:sp>
        <p:nvSpPr>
          <p:cNvPr id="12" name="Text 10"/>
          <p:cNvSpPr/>
          <p:nvPr/>
        </p:nvSpPr>
        <p:spPr>
          <a:xfrm>
            <a:off x="804672" y="3758184"/>
            <a:ext cx="4837176" cy="868680"/>
          </a:xfrm>
          <a:prstGeom prst="rect">
            <a:avLst/>
          </a:prstGeom>
          <a:noFill/>
          <a:ln/>
        </p:spPr>
        <p:txBody>
          <a:bodyPr wrap="square" rtlCol="0" anchor="ctr"/>
          <a:lstStyle/>
          <a:p>
            <a:pPr indent="0" marL="0">
              <a:lnSpc>
                <a:spcPct val="125000"/>
              </a:lnSpc>
              <a:buNone/>
            </a:pPr>
            <a:r>
              <a:rPr lang="en-US" sz="1080" dirty="0">
                <a:solidFill>
                  <a:srgbClr val="151317"/>
                </a:solidFill>
                <a:latin typeface="Calibri" pitchFamily="34" charset="0"/>
                <a:ea typeface="Calibri" pitchFamily="34" charset="-122"/>
                <a:cs typeface="Calibri" pitchFamily="34" charset="-120"/>
              </a:rPr>
              <a:t>Ruling out Webflow had nothing to do with aesthetics — OFAC sanctions would have made the site invisible to its own market. Good UX sometimes means researching infrastructure, not layouts.</a:t>
            </a:r>
            <a:endParaRPr lang="en-US" sz="1080" dirty="0"/>
          </a:p>
        </p:txBody>
      </p:sp>
      <p:sp>
        <p:nvSpPr>
          <p:cNvPr id="13" name="Shape 11"/>
          <p:cNvSpPr/>
          <p:nvPr/>
        </p:nvSpPr>
        <p:spPr>
          <a:xfrm>
            <a:off x="6263640" y="3246120"/>
            <a:ext cx="5349240" cy="1417320"/>
          </a:xfrm>
          <a:prstGeom prst="rect">
            <a:avLst/>
          </a:prstGeom>
          <a:solidFill>
            <a:srgbClr val="F3E9D2"/>
          </a:solidFill>
          <a:ln/>
          <a:effectLst>
            <a:outerShdw sx="100000" sy="100000" kx="0" ky="0" algn="bl" rotWithShape="0" blurRad="101600" dist="38100" dir="5400000">
              <a:srgbClr val="000000">
                <a:alpha val="7000"/>
              </a:srgbClr>
            </a:outerShdw>
          </a:effectLst>
        </p:spPr>
        <p:txBody>
          <a:bodyPr/>
          <a:p/>
        </p:txBody>
      </p:sp>
      <p:sp>
        <p:nvSpPr>
          <p:cNvPr id="14" name="Text 12"/>
          <p:cNvSpPr/>
          <p:nvPr/>
        </p:nvSpPr>
        <p:spPr>
          <a:xfrm>
            <a:off x="6519672" y="3392424"/>
            <a:ext cx="4837176" cy="365760"/>
          </a:xfrm>
          <a:prstGeom prst="rect">
            <a:avLst/>
          </a:prstGeom>
          <a:noFill/>
          <a:ln/>
        </p:spPr>
        <p:txBody>
          <a:bodyPr wrap="square" rtlCol="0" anchor="ctr"/>
          <a:lstStyle/>
          <a:p>
            <a:pPr indent="0" marL="0">
              <a:buNone/>
            </a:pPr>
            <a:r>
              <a:rPr lang="en-US" sz="1250" b="1" spc="30" kern="0" dirty="0">
                <a:solidFill>
                  <a:srgbClr val="E34314"/>
                </a:solidFill>
                <a:latin typeface="Arial" pitchFamily="34" charset="0"/>
                <a:ea typeface="Arial" pitchFamily="34" charset="-122"/>
                <a:cs typeface="Arial" pitchFamily="34" charset="-120"/>
              </a:rPr>
              <a:t>LOUD COLOR NEEDS MORE RULES, NOT FEWER</a:t>
            </a:r>
            <a:endParaRPr lang="en-US" sz="1250" dirty="0"/>
          </a:p>
        </p:txBody>
      </p:sp>
      <p:sp>
        <p:nvSpPr>
          <p:cNvPr id="15" name="Text 13"/>
          <p:cNvSpPr/>
          <p:nvPr/>
        </p:nvSpPr>
        <p:spPr>
          <a:xfrm>
            <a:off x="6519672" y="3758184"/>
            <a:ext cx="4837176" cy="868680"/>
          </a:xfrm>
          <a:prstGeom prst="rect">
            <a:avLst/>
          </a:prstGeom>
          <a:noFill/>
          <a:ln/>
        </p:spPr>
        <p:txBody>
          <a:bodyPr wrap="square" rtlCol="0" anchor="ctr"/>
          <a:lstStyle/>
          <a:p>
            <a:pPr indent="0" marL="0">
              <a:lnSpc>
                <a:spcPct val="125000"/>
              </a:lnSpc>
              <a:buNone/>
            </a:pPr>
            <a:r>
              <a:rPr lang="en-US" sz="1080" dirty="0">
                <a:solidFill>
                  <a:srgbClr val="151317"/>
                </a:solidFill>
                <a:latin typeface="Calibri" pitchFamily="34" charset="0"/>
                <a:ea typeface="Calibri" pitchFamily="34" charset="-122"/>
                <a:cs typeface="Calibri" pitchFamily="34" charset="-120"/>
              </a:rPr>
              <a:t>A playful, saturated brand doesn't get to skip accessibility — it needs a stricter generative rule (three hue lines) to stay usable at all.</a:t>
            </a:r>
            <a:endParaRPr lang="en-US" sz="1080" dirty="0"/>
          </a:p>
        </p:txBody>
      </p:sp>
      <p:sp>
        <p:nvSpPr>
          <p:cNvPr id="16" name="Shape 14"/>
          <p:cNvSpPr/>
          <p:nvPr/>
        </p:nvSpPr>
        <p:spPr>
          <a:xfrm>
            <a:off x="548640" y="4800600"/>
            <a:ext cx="5346700" cy="1422400"/>
          </a:xfrm>
          <a:prstGeom prst="rect">
            <a:avLst/>
          </a:prstGeom>
          <a:solidFill>
            <a:srgbClr val="201E22"/>
          </a:solidFill>
          <a:ln/>
        </p:spPr>
        <p:txBody>
          <a:bodyPr/>
          <a:p/>
        </p:txBody>
      </p:sp>
      <p:sp>
        <p:nvSpPr>
          <p:cNvPr id="17" name="Text 15"/>
          <p:cNvSpPr/>
          <p:nvPr/>
        </p:nvSpPr>
        <p:spPr>
          <a:xfrm>
            <a:off x="802640" y="4946904"/>
            <a:ext cx="4838700" cy="365760"/>
          </a:xfrm>
          <a:prstGeom prst="rect">
            <a:avLst/>
          </a:prstGeom>
          <a:noFill/>
          <a:ln/>
        </p:spPr>
        <p:txBody>
          <a:bodyPr wrap="square" rtlCol="0" anchor="ctr"/>
          <a:lstStyle/>
          <a:p>
            <a:pPr indent="0" marL="0">
              <a:buNone/>
            </a:pPr>
            <a:r>
              <a:rPr lang="en-US" sz="1250" b="1" spc="30" kern="0" dirty="0">
                <a:solidFill>
                  <a:srgbClr val="C1DB34"/>
                </a:solidFill>
                <a:latin typeface="Arial" pitchFamily="34" charset="0"/>
                <a:ea typeface="Arial" pitchFamily="34" charset="-122"/>
                <a:cs typeface="Arial" pitchFamily="34" charset="-120"/>
              </a:rPr>
              <a:t>AI ACCELERATES, JUDGMENT CURATES</a:t>
            </a:r>
            <a:endParaRPr lang="en-US" sz="1250" dirty="0"/>
          </a:p>
        </p:txBody>
      </p:sp>
      <p:sp>
        <p:nvSpPr>
          <p:cNvPr id="18" name="Text 16"/>
          <p:cNvSpPr/>
          <p:nvPr/>
        </p:nvSpPr>
        <p:spPr>
          <a:xfrm>
            <a:off x="802640" y="5312664"/>
            <a:ext cx="4838700" cy="863600"/>
          </a:xfrm>
          <a:prstGeom prst="rect">
            <a:avLst/>
          </a:prstGeom>
          <a:noFill/>
          <a:ln/>
        </p:spPr>
        <p:txBody>
          <a:bodyPr wrap="square" rtlCol="0" anchor="ctr"/>
          <a:lstStyle/>
          <a:p>
            <a:pPr indent="0" marL="0">
              <a:lnSpc>
                <a:spcPct val="125000"/>
              </a:lnSpc>
              <a:buNone/>
            </a:pPr>
            <a:r>
              <a:rPr lang="en-US" sz="1100" dirty="0">
                <a:solidFill>
                  <a:srgbClr val="F3E9D2"/>
                </a:solidFill>
                <a:latin typeface="Calibri" pitchFamily="34" charset="0"/>
                <a:ea typeface="Calibri" pitchFamily="34" charset="-122"/>
                <a:cs typeface="Calibri" pitchFamily="34" charset="-120"/>
              </a:rPr>
              <a:t>Six working slider prototypes in one afternoon — but half quietly broke a rule the project had earned. The skill wasn't prompting; it was knowing which three to discard.</a:t>
            </a:r>
            <a:endParaRPr lang="en-US" sz="1100" dirty="0"/>
          </a:p>
        </p:txBody>
      </p:sp>
      <p:sp>
        <p:nvSpPr>
          <p:cNvPr id="19" name="Text 17"/>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20" name="Text 18"/>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38 / 39</a:t>
            </a:r>
            <a:endParaRPr lang="en-US" sz="1000" dirty="0"/>
          </a:p>
        </p:txBody>
      </p:sp>
      <p:sp>
        <p:nvSpPr>
          <p:cNvPr id="16" name="Shape 14"/>
          <p:cNvSpPr/>
          <p:nvPr/>
        </p:nvSpPr>
        <p:spPr>
          <a:xfrm>
            <a:off x="6263640" y="4800600"/>
            <a:ext cx="5346700" cy="1422400"/>
          </a:xfrm>
          <a:prstGeom prst="rect">
            <a:avLst/>
          </a:prstGeom>
          <a:solidFill>
            <a:srgbClr val="201E22"/>
          </a:solidFill>
          <a:ln/>
        </p:spPr>
        <p:txBody>
          <a:bodyPr/>
          <a:p/>
        </p:txBody>
      </p:sp>
      <p:sp>
        <p:nvSpPr>
          <p:cNvPr id="17" name="Text 15"/>
          <p:cNvSpPr/>
          <p:nvPr/>
        </p:nvSpPr>
        <p:spPr>
          <a:xfrm>
            <a:off x="6517640" y="4946904"/>
            <a:ext cx="4838700" cy="365760"/>
          </a:xfrm>
          <a:prstGeom prst="rect">
            <a:avLst/>
          </a:prstGeom>
          <a:noFill/>
          <a:ln/>
        </p:spPr>
        <p:txBody>
          <a:bodyPr wrap="square" rtlCol="0" anchor="ctr"/>
          <a:lstStyle/>
          <a:p>
            <a:pPr indent="0" marL="0">
              <a:buNone/>
            </a:pPr>
            <a:r>
              <a:rPr lang="en-US" sz="1250" b="1" spc="30" kern="0" dirty="0">
                <a:solidFill>
                  <a:srgbClr val="C1DB34"/>
                </a:solidFill>
                <a:latin typeface="Arial" pitchFamily="34" charset="0"/>
                <a:ea typeface="Arial" pitchFamily="34" charset="-122"/>
                <a:cs typeface="Arial" pitchFamily="34" charset="-120"/>
              </a:rPr>
              <a:t>DEVELOPMENT IS A DESIGN REVIEW</a:t>
            </a:r>
            <a:endParaRPr lang="en-US" sz="1250" dirty="0"/>
          </a:p>
        </p:txBody>
      </p:sp>
      <p:sp>
        <p:nvSpPr>
          <p:cNvPr id="18" name="Text 16"/>
          <p:cNvSpPr/>
          <p:nvPr/>
        </p:nvSpPr>
        <p:spPr>
          <a:xfrm>
            <a:off x="6517640" y="5312664"/>
            <a:ext cx="4838700" cy="863600"/>
          </a:xfrm>
          <a:prstGeom prst="rect">
            <a:avLst/>
          </a:prstGeom>
          <a:noFill/>
          <a:ln/>
        </p:spPr>
        <p:txBody>
          <a:bodyPr wrap="square" rtlCol="0" anchor="ctr"/>
          <a:lstStyle/>
          <a:p>
            <a:pPr indent="0" marL="0">
              <a:lnSpc>
                <a:spcPct val="125000"/>
              </a:lnSpc>
              <a:buNone/>
            </a:pPr>
            <a:r>
              <a:rPr lang="en-US" sz="1100" dirty="0">
                <a:solidFill>
                  <a:srgbClr val="F3E9D2"/>
                </a:solidFill>
                <a:latin typeface="Calibri" pitchFamily="34" charset="0"/>
                <a:ea typeface="Calibri" pitchFamily="34" charset="-122"/>
                <a:cs typeface="Calibri" pitchFamily="34" charset="-120"/>
              </a:rPr>
              <a:t>Building it myself surfaced limitations no mockup shows — caching, touch input, real pixel sizes — and decisions I was attached to had to be reconsidered. What survived the constraints is stronger for it.</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2">
    <p:bg>
      <p:bgPr>
        <a:solidFill>
          <a:srgbClr val="151317"/>
        </a:solidFill>
      </p:bgPr>
    </p:bg>
    <p:spTree>
      <p:nvGrpSpPr>
        <p:cNvPr id="1" name=""/>
        <p:cNvGrpSpPr/>
        <p:nvPr/>
      </p:nvGrpSpPr>
      <p:grpSpPr>
        <a:xfrm>
          <a:off x="0" y="0"/>
          <a:ext cx="0" cy="0"/>
          <a:chOff x="0" y="0"/>
          <a:chExt cx="0" cy="0"/>
        </a:xfrm>
      </p:grpSpPr>
      <p:pic>
        <p:nvPicPr>
          <p:cNvPr id="2" name="Image 0" descr="/sessions/bold-gracious-fermi/mnt/outputs/sweet-case-study/assets/logo-symbol.png">    </p:cNvPr>
          <p:cNvPicPr>
            <a:picLocks noChangeAspect="1"/>
          </p:cNvPicPr>
          <p:nvPr/>
        </p:nvPicPr>
        <p:blipFill>
          <a:blip r:embed="rId1"/>
          <a:srcRect l="0" r="0" t="0" b="0"/>
          <a:stretch/>
        </p:blipFill>
        <p:spPr>
          <a:xfrm>
            <a:off x="5669280" y="1371600"/>
            <a:ext cx="822960" cy="1097280"/>
          </a:xfrm>
          <a:prstGeom prst="rect">
            <a:avLst/>
          </a:prstGeom>
        </p:spPr>
      </p:pic>
      <p:sp>
        <p:nvSpPr>
          <p:cNvPr id="3" name="Text 0"/>
          <p:cNvSpPr/>
          <p:nvPr/>
        </p:nvSpPr>
        <p:spPr>
          <a:xfrm>
            <a:off x="0" y="2743200"/>
            <a:ext cx="12188952" cy="914400"/>
          </a:xfrm>
          <a:prstGeom prst="rect">
            <a:avLst/>
          </a:prstGeom>
          <a:noFill/>
          <a:ln/>
        </p:spPr>
        <p:txBody>
          <a:bodyPr wrap="square" rtlCol="0" anchor="ctr"/>
          <a:lstStyle/>
          <a:p>
            <a:pPr algn="ctr" indent="0" marL="0">
              <a:buNone/>
            </a:pPr>
            <a:r>
              <a:rPr lang="en-US" sz="4400" b="1" dirty="0">
                <a:solidFill>
                  <a:srgbClr val="E34314"/>
                </a:solidFill>
                <a:latin typeface="Arial" pitchFamily="34" charset="0"/>
                <a:ea typeface="Arial" pitchFamily="34" charset="-122"/>
                <a:cs typeface="Arial" pitchFamily="34" charset="-120"/>
              </a:rPr>
              <a:t>THANK YOU</a:t>
            </a:r>
            <a:endParaRPr lang="en-US" sz="4400" dirty="0"/>
          </a:p>
        </p:txBody>
      </p:sp>
      <p:sp>
        <p:nvSpPr>
          <p:cNvPr id="4" name="Text 1"/>
          <p:cNvSpPr/>
          <p:nvPr/>
        </p:nvSpPr>
        <p:spPr>
          <a:xfrm>
            <a:off x="0" y="3657600"/>
            <a:ext cx="12188952" cy="457200"/>
          </a:xfrm>
          <a:prstGeom prst="rect">
            <a:avLst/>
          </a:prstGeom>
          <a:noFill/>
          <a:ln/>
        </p:spPr>
        <p:txBody>
          <a:bodyPr wrap="square" rtlCol="0" anchor="ctr"/>
          <a:lstStyle/>
          <a:p>
            <a:pPr algn="ctr" indent="0" marL="0">
              <a:buNone/>
            </a:pPr>
            <a:r>
              <a:rPr lang="en-US" sz="1500" dirty="0">
                <a:solidFill>
                  <a:srgbClr val="F3E9D2"/>
                </a:solidFill>
                <a:latin typeface="Calibri" pitchFamily="34" charset="0"/>
                <a:ea typeface="Calibri" pitchFamily="34" charset="-122"/>
                <a:cs typeface="Calibri" pitchFamily="34" charset="-120"/>
              </a:rPr>
              <a:t>Sweet Pepper — Brand &amp; UX Case Study · Etual</a:t>
            </a:r>
            <a:endParaRPr lang="en-US" sz="1500" dirty="0"/>
          </a:p>
        </p:txBody>
      </p:sp>
      <p:sp>
        <p:nvSpPr>
          <p:cNvPr id="5" name="Text 2"/>
          <p:cNvSpPr/>
          <p:nvPr/>
        </p:nvSpPr>
        <p:spPr>
          <a:xfrm>
            <a:off x="0" y="4114800"/>
            <a:ext cx="12188952" cy="365760"/>
          </a:xfrm>
          <a:prstGeom prst="rect">
            <a:avLst/>
          </a:prstGeom>
          <a:noFill/>
          <a:ln/>
        </p:spPr>
        <p:txBody>
          <a:bodyPr wrap="square" rtlCol="0" anchor="ctr"/>
          <a:lstStyle/>
          <a:p>
            <a:pPr algn="ctr" indent="0" marL="0">
              <a:buNone/>
            </a:pPr>
            <a:r>
              <a:rPr lang="en-US" sz="1300" dirty="0">
                <a:solidFill>
                  <a:srgbClr val="9E9789"/>
                </a:solidFill>
                <a:latin typeface="Calibri" pitchFamily="34" charset="0"/>
                <a:ea typeface="Calibri" pitchFamily="34" charset="-122"/>
                <a:cs typeface="Calibri" pitchFamily="34" charset="-120"/>
              </a:rPr>
              <a:t>etualechka@gmail.com</a:t>
            </a:r>
            <a:endParaRPr lang="en-US" sz="13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RU LAYER &amp; CONTENT OPS</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SHIPPING IN TWO LANGUAGES</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A VOICE, NOT A TRANSLATION</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Russian layer is a system</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A voice-and-vocabulary doc distils the bar’s own social-media voice into checkable rules, with a per-line test for new copy. RU and EN stay register twins — the wink carries over, never the words.</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 contradiction, held openly</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guest-perspective rule and the venue’s natural «мы» collide harder in Russian than in English. The voice doc records the tension where future drafts can see it, instead of resolving it by fiat.</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Even the display layer is bilingual</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giant outlined Molot connectors exist as separately drawn RU SVGs for every section — built for the language, not string-swapped.</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CONTENT OPS, TESTED FOR REAL</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admin got usability-tested too</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Menu storage — repeater vs dish posts — tested with two team members on the real WordPress admin. Dish posts won; the prediction on record lost, and the log admits it. The loser is archived, not deleted.</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VK importer, evidence first</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Built with an evidence table before any live run: re-imports idempotent, hand edits surviving source edits, images self-hosted at 4:5. It now runs hourly by itself. EN stays manual — the languages never share a pipeline dependency.</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Keys treated like keys</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An exposed credential was revoked and replaced the day it happened; failures are logged without secrets in a status line the team can actually read.</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33 / 39</a:t>
            </a:r>
            <a:endParaRPr lang="en-US" sz="10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SOLUTION · LAUNCH READINESS</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THE LAW IS A DESIGN CONSTRAINT</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A LAWYER AND A STATUTE</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Instagram only outside Russia</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On the lawyer’s advice the Russian page never shows it and the English page hides it from Russian IPs — chips, drawers, contact rows, even the structured data. The planned proxy was withdrawn, not built.</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Maps wait for a choice</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server renders the address instead of an iframe; a yes lasts 180 days and can be revoked from the footer. A US/Canada exception on the English page was built with the advice against it, then retired with the owner’s policy.</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owner’s words, a hub, a sheet</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Three legal pages in the owner’s reviewed words, a Documents hub, a notice with a confirmation step, a settings sheet on phones. Analytics waits until consent can be recorded provably.</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ONE ADDRESS PER LANGUAGE</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routing is one file, not a plugin</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Russian at /, English at /en/; one record with a RU/EN twin per text, one language per request, hreflang for the twin. Polylang’s slot was freed, in writing.</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browser proposes, a tap is remembered</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choice runs in the guest’s browser, so a cached page stays the same for everyone. The switch is one fill travelling between two codes — outline → fill by a single moving block.</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No nonce, on purpose</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One REST route, no plugin. A nonce baked into a cached page goes stale within a day and would turn away real guests — a honeypot, a fill-time floor and a rate limit do the job.</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34 / 39</a:t>
            </a:r>
            <a:endParaRPr lang="en-US" sz="10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51317"/>
        </a:solidFill>
      </p:bgPr>
    </p:bg>
    <p:spTree>
      <p:nvGrpSpPr>
        <p:cNvPr id="1" name=""/>
        <p:cNvGrpSpPr/>
        <p:nvPr/>
      </p:nvGrpSpPr>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C1DB34"/>
                </a:solidFill>
                <a:latin typeface="Arial" pitchFamily="34" charset="0"/>
                <a:ea typeface="Arial" pitchFamily="34" charset="-122"/>
                <a:cs typeface="Arial" pitchFamily="34" charset="-120"/>
              </a:rPr>
              <a:t>PROCESS · THE LAST PHASE</a:t>
            </a:r>
            <a:endParaRPr lang="en-US" sz="1300" dirty="0"/>
          </a:p>
        </p:txBody>
      </p:sp>
      <p:sp>
        <p:nvSpPr>
          <p:cNvPr id="3" name="Text 1"/>
          <p:cNvSpPr/>
          <p:nvPr/>
        </p:nvSpPr>
        <p:spPr>
          <a:xfrm>
            <a:off x="548640" y="731520"/>
            <a:ext cx="10789920" cy="822960"/>
          </a:xfrm>
          <a:prstGeom prst="rect">
            <a:avLst/>
          </a:prstGeom>
          <a:noFill/>
          <a:ln/>
        </p:spPr>
        <p:txBody>
          <a:bodyPr wrap="square" rtlCol="0" anchor="ctr"/>
          <a:lstStyle/>
          <a:p>
            <a:pPr indent="0" marL="0">
              <a:buNone/>
            </a:pPr>
            <a:r>
              <a:rPr lang="en-US" sz="2500" b="1" dirty="0">
                <a:solidFill>
                  <a:srgbClr val="F3E9D2"/>
                </a:solidFill>
                <a:latin typeface="Arial" pitchFamily="34" charset="0"/>
                <a:ea typeface="Arial" pitchFamily="34" charset="-122"/>
                <a:cs typeface="Arial" pitchFamily="34" charset="-120"/>
              </a:rPr>
              <a:t>THE SLIDER COMES BACK — AS THE WAIT</a:t>
            </a:r>
            <a:endParaRPr lang="en-US" sz="2500" dirty="0"/>
          </a:p>
        </p:txBody>
      </p:sp>
      <p:sp>
        <p:nvSpPr>
          <p:cNvPr id="4" name="Shape 2"/>
          <p:cNvSpPr/>
          <p:nvPr/>
        </p:nvSpPr>
        <p:spPr>
          <a:xfrm>
            <a:off x="548640" y="1737360"/>
            <a:ext cx="5349240" cy="4572000"/>
          </a:xfrm>
          <a:prstGeom prst="rect">
            <a:avLst/>
          </a:prstGeom>
          <a:solidFill>
            <a:srgbClr val="201E22"/>
          </a:solidFill>
          <a:ln/>
        </p:spPr>
        <p:txBody>
          <a:bodyPr/>
          <a:p/>
        </p:txBody>
      </p:sp>
      <p:sp>
        <p:nvSpPr>
          <p:cNvPr id="5" name="Text 3"/>
          <p:cNvSpPr/>
          <p:nvPr/>
        </p:nvSpPr>
        <p:spPr>
          <a:xfrm>
            <a:off x="822960" y="1965960"/>
            <a:ext cx="4846320" cy="320040"/>
          </a:xfrm>
          <a:prstGeom prst="rect">
            <a:avLst/>
          </a:prstGeom>
          <a:noFill/>
          <a:ln/>
        </p:spPr>
        <p:txBody>
          <a:bodyPr wrap="square" rtlCol="0" anchor="ctr"/>
          <a:lstStyle/>
          <a:p>
            <a:pPr indent="0" marL="0">
              <a:buNone/>
            </a:pPr>
            <a:r>
              <a:rPr lang="en-US" sz="1400" b="1" spc="150" kern="0" dirty="0">
                <a:solidFill>
                  <a:srgbClr val="C1DB34"/>
                </a:solidFill>
                <a:latin typeface="Arial" pitchFamily="34" charset="0"/>
                <a:ea typeface="Arial" pitchFamily="34" charset="-122"/>
                <a:cs typeface="Arial" pitchFamily="34" charset="-120"/>
              </a:rPr>
              <a:t>THE RETIRED SLIDER RETURNS</a:t>
            </a:r>
            <a:endParaRPr lang="en-US" sz="1400" dirty="0"/>
          </a:p>
        </p:txBody>
      </p:sp>
      <p:sp>
        <p:nvSpPr>
          <p:cNvPr id="6" name="Text 4"/>
          <p:cNvSpPr/>
          <p:nvPr/>
        </p:nvSpPr>
        <p:spPr>
          <a:xfrm>
            <a:off x="82296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Heat rising is the whole task</a:t>
            </a:r>
            <a:endParaRPr lang="en-US" sz="1200" dirty="0"/>
          </a:p>
        </p:txBody>
      </p:sp>
      <p:sp>
        <p:nvSpPr>
          <p:cNvPr id="7" name="Text 5"/>
          <p:cNvSpPr/>
          <p:nvPr/>
        </p:nvSpPr>
        <p:spPr>
          <a:xfrm>
            <a:off x="82296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page loader: the knob moves through breakfast, lunch, dinner and party, the wordmark heats to Chili, the page arrives with «Подано!» — “Served!”. Shown only if a navigation is still pending after 700 ms.</a:t>
            </a:r>
            <a:endParaRPr lang="en-US" sz="1050" dirty="0"/>
          </a:p>
        </p:txBody>
      </p:sp>
      <p:sp>
        <p:nvSpPr>
          <p:cNvPr id="8" name="Text 6"/>
          <p:cNvSpPr/>
          <p:nvPr/>
        </p:nvSpPr>
        <p:spPr>
          <a:xfrm>
            <a:off x="82296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An honest creep</a:t>
            </a:r>
            <a:endParaRPr lang="en-US" sz="1200" dirty="0"/>
          </a:p>
        </p:txBody>
      </p:sp>
      <p:sp>
        <p:nvSpPr>
          <p:cNvPr id="9" name="Text 7"/>
          <p:cNvSpPr/>
          <p:nvPr/>
        </p:nvSpPr>
        <p:spPr>
          <a:xfrm>
            <a:off x="82296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No real progress exists to report, so the knob runs on a curve built to never arrive. The lines under it are the team’s own — “Waking the hungover bartender” — editable in admin.</a:t>
            </a:r>
            <a:endParaRPr lang="en-US" sz="1050" dirty="0"/>
          </a:p>
        </p:txBody>
      </p:sp>
      <p:sp>
        <p:nvSpPr>
          <p:cNvPr id="10" name="Text 8"/>
          <p:cNvSpPr/>
          <p:nvPr/>
        </p:nvSpPr>
        <p:spPr>
          <a:xfrm>
            <a:off x="82296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A replay knows its end</a:t>
            </a:r>
            <a:endParaRPr lang="en-US" sz="1200" dirty="0"/>
          </a:p>
        </p:txBody>
      </p:sp>
      <p:sp>
        <p:nvSpPr>
          <p:cNvPr id="11" name="Text 9"/>
          <p:cNvSpPr/>
          <p:nvPr/>
        </p:nvSpPr>
        <p:spPr>
          <a:xfrm>
            <a:off x="82296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A tester tried to drag the knob, so the footer replay became a toy. Measured, it had borrowed the real wait’s curve: 7 s to “Served!”. Now its own curve — 3.3 s, the close button there from the start.</a:t>
            </a:r>
            <a:endParaRPr lang="en-US" sz="1050" dirty="0"/>
          </a:p>
        </p:txBody>
      </p:sp>
      <p:sp>
        <p:nvSpPr>
          <p:cNvPr id="12" name="Shape 10"/>
          <p:cNvSpPr/>
          <p:nvPr/>
        </p:nvSpPr>
        <p:spPr>
          <a:xfrm>
            <a:off x="6172200" y="1737360"/>
            <a:ext cx="5349240" cy="4572000"/>
          </a:xfrm>
          <a:prstGeom prst="rect">
            <a:avLst/>
          </a:prstGeom>
          <a:solidFill>
            <a:srgbClr val="201E22"/>
          </a:solidFill>
          <a:ln/>
        </p:spPr>
        <p:txBody>
          <a:bodyPr/>
          <a:p/>
        </p:txBody>
      </p:sp>
      <p:sp>
        <p:nvSpPr>
          <p:cNvPr id="13" name="Text 11"/>
          <p:cNvSpPr/>
          <p:nvPr/>
        </p:nvSpPr>
        <p:spPr>
          <a:xfrm>
            <a:off x="6446520" y="1965960"/>
            <a:ext cx="4846320" cy="320040"/>
          </a:xfrm>
          <a:prstGeom prst="rect">
            <a:avLst/>
          </a:prstGeom>
          <a:noFill/>
          <a:ln/>
        </p:spPr>
        <p:txBody>
          <a:bodyPr wrap="square" rtlCol="0" anchor="ctr"/>
          <a:lstStyle/>
          <a:p>
            <a:pPr indent="0" marL="0">
              <a:buNone/>
            </a:pPr>
            <a:r>
              <a:rPr lang="en-US" sz="1400" b="1" spc="150" kern="0" dirty="0">
                <a:solidFill>
                  <a:srgbClr val="E34314"/>
                </a:solidFill>
                <a:latin typeface="Arial" pitchFamily="34" charset="0"/>
                <a:ea typeface="Arial" pitchFamily="34" charset="-122"/>
                <a:cs typeface="Arial" pitchFamily="34" charset="-120"/>
              </a:rPr>
              <a:t>THE BROWSER AS DRAWING BOARD</a:t>
            </a:r>
            <a:endParaRPr lang="en-US" sz="1400" dirty="0"/>
          </a:p>
        </p:txBody>
      </p:sp>
      <p:sp>
        <p:nvSpPr>
          <p:cNvPr id="14" name="Text 12"/>
          <p:cNvSpPr/>
          <p:nvPr/>
        </p:nvSpPr>
        <p:spPr>
          <a:xfrm>
            <a:off x="6446520" y="237744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Contact sheet → flag → default</a:t>
            </a:r>
            <a:endParaRPr lang="en-US" sz="1200" dirty="0"/>
          </a:p>
        </p:txBody>
      </p:sp>
      <p:sp>
        <p:nvSpPr>
          <p:cNvPr id="15" name="Text 13"/>
          <p:cNvSpPr/>
          <p:nvPr/>
        </p:nvSpPr>
        <p:spPr>
          <a:xfrm>
            <a:off x="6446520" y="267919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Options are mocked on the live page as one contact sheet — always one that breaks a rule. Survivors become code behind a URL flag; the loser stays behind its flag until a real device has voted.</a:t>
            </a:r>
            <a:endParaRPr lang="en-US" sz="1050" dirty="0"/>
          </a:p>
        </p:txBody>
      </p:sp>
      <p:sp>
        <p:nvSpPr>
          <p:cNvPr id="16" name="Text 14"/>
          <p:cNvSpPr/>
          <p:nvPr/>
        </p:nvSpPr>
        <p:spPr>
          <a:xfrm>
            <a:off x="6446520" y="342900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Motion converged on one curve</a:t>
            </a:r>
            <a:endParaRPr lang="en-US" sz="1200" dirty="0"/>
          </a:p>
        </p:txBody>
      </p:sp>
      <p:sp>
        <p:nvSpPr>
          <p:cNvPr id="17" name="Text 15"/>
          <p:cNvSpPr/>
          <p:nvPr/>
        </p:nvSpPr>
        <p:spPr>
          <a:xfrm>
            <a:off x="6446520" y="373075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The build had kept the Figma spring’s 800 ms and lost its attack — hovers ran at half the prototype’s speed. The Gentle spring is now the one curve for movement and colour.</a:t>
            </a:r>
            <a:endParaRPr lang="en-US" sz="1050" dirty="0"/>
          </a:p>
        </p:txBody>
      </p:sp>
      <p:sp>
        <p:nvSpPr>
          <p:cNvPr id="18" name="Text 16"/>
          <p:cNvSpPr/>
          <p:nvPr/>
        </p:nvSpPr>
        <p:spPr>
          <a:xfrm>
            <a:off x="6446520" y="4480560"/>
            <a:ext cx="4846320" cy="292608"/>
          </a:xfrm>
          <a:prstGeom prst="rect">
            <a:avLst/>
          </a:prstGeom>
          <a:noFill/>
          <a:ln/>
        </p:spPr>
        <p:txBody>
          <a:bodyPr wrap="square" rtlCol="0" anchor="ctr"/>
          <a:lstStyle/>
          <a:p>
            <a:pPr indent="0" marL="0">
              <a:buNone/>
            </a:pPr>
            <a:r>
              <a:rPr lang="en-US" sz="1200" b="1" dirty="0">
                <a:solidFill>
                  <a:srgbClr val="F3E9D2"/>
                </a:solidFill>
                <a:latin typeface="Calibri" pitchFamily="34" charset="0"/>
                <a:ea typeface="Calibri" pitchFamily="34" charset="-122"/>
                <a:cs typeface="Calibri" pitchFamily="34" charset="-120"/>
              </a:rPr>
              <a:t>The audit ran again, on the rendered site</a:t>
            </a:r>
            <a:endParaRPr lang="en-US" sz="1200" dirty="0"/>
          </a:p>
        </p:txBody>
      </p:sp>
      <p:sp>
        <p:nvSpPr>
          <p:cNvPr id="19" name="Text 17"/>
          <p:cNvSpPr/>
          <p:nvPr/>
        </p:nvSpPr>
        <p:spPr>
          <a:xfrm>
            <a:off x="6446520" y="4782312"/>
            <a:ext cx="4846320" cy="685800"/>
          </a:xfrm>
          <a:prstGeom prst="rect">
            <a:avLst/>
          </a:prstGeom>
          <a:noFill/>
          <a:ln/>
        </p:spPr>
        <p:txBody>
          <a:bodyPr wrap="square" rtlCol="0" anchor="ctr"/>
          <a:lstStyle/>
          <a:p>
            <a:pPr indent="0" marL="0">
              <a:lnSpc>
                <a:spcPct val="125000"/>
              </a:lnSpc>
              <a:buNone/>
            </a:pPr>
            <a:r>
              <a:rPr lang="en-US" sz="1050" dirty="0">
                <a:solidFill>
                  <a:srgbClr val="9E9789"/>
                </a:solidFill>
                <a:latin typeface="Calibri" pitchFamily="34" charset="0"/>
                <a:ea typeface="Calibri" pitchFamily="34" charset="-122"/>
                <a:cs typeface="Calibri" pitchFamily="34" charset="-120"/>
              </a:rPr>
              <a:t>Ten pages, 63 media items: no alt text in the library, 60–90 icons per page exposed to screen readers, connector words read twice. Fixed at the source, in both languages.</a:t>
            </a:r>
            <a:endParaRPr lang="en-US" sz="105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9E9789"/>
                </a:solidFill>
                <a:latin typeface="Calibri" pitchFamily="34" charset="0"/>
                <a:ea typeface="Calibri" pitchFamily="34" charset="-122"/>
                <a:cs typeface="Calibri" pitchFamily="34" charset="-120"/>
              </a:rPr>
              <a:t>Sweet Pepper — Brand &amp; UX Case Study</a:t>
            </a:r>
            <a:endParaRPr lang="en-US" sz="1000" dirty="0"/>
          </a:p>
        </p:txBody>
      </p:sp>
      <p:sp>
        <p:nvSpPr>
          <p:cNvPr id="21" name="Text 19"/>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9E9789"/>
                </a:solidFill>
                <a:latin typeface="Calibri" pitchFamily="34" charset="0"/>
                <a:ea typeface="Calibri" pitchFamily="34" charset="-122"/>
                <a:cs typeface="Calibri" pitchFamily="34" charset="-120"/>
              </a:rPr>
              <a:t>35 / 39</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
    <p:bg>
      <p:bgPr>
        <a:solidFill>
          <a:srgbClr val="FCF7E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algn="l" indent="0" marL="0">
              <a:buNone/>
            </a:pPr>
            <a:r>
              <a:rPr lang="en-US" sz="1300" b="1" spc="300" kern="0" dirty="0">
                <a:solidFill>
                  <a:srgbClr val="E34314"/>
                </a:solidFill>
                <a:latin typeface="Arial" pitchFamily="34" charset="0"/>
                <a:ea typeface="Arial" pitchFamily="34" charset="-122"/>
                <a:cs typeface="Arial" pitchFamily="34" charset="-120"/>
              </a:rPr>
              <a:t>PROCESS · THE LAST PHASE, ON SCREEN</a:t>
            </a:r>
            <a:endParaRPr lang="en-US" sz="1300" dirty="0"/>
          </a:p>
        </p:txBody>
      </p:sp>
      <p:sp>
        <p:nvSpPr>
          <p:cNvPr id="3" name="Text 1"/>
          <p:cNvSpPr/>
          <p:nvPr/>
        </p:nvSpPr>
        <p:spPr>
          <a:xfrm>
            <a:off x="548640" y="731520"/>
            <a:ext cx="9144000" cy="731520"/>
          </a:xfrm>
          <a:prstGeom prst="rect">
            <a:avLst/>
          </a:prstGeom>
          <a:noFill/>
          <a:ln/>
        </p:spPr>
        <p:txBody>
          <a:bodyPr wrap="square" rtlCol="0" anchor="ctr"/>
          <a:lstStyle/>
          <a:p>
            <a:pPr indent="0" marL="0">
              <a:buNone/>
            </a:pPr>
            <a:r>
              <a:rPr lang="en-US" sz="3000" b="1" dirty="0">
                <a:solidFill>
                  <a:srgbClr val="151317"/>
                </a:solidFill>
                <a:latin typeface="Arial" pitchFamily="34" charset="0"/>
                <a:ea typeface="Arial" pitchFamily="34" charset="-122"/>
                <a:cs typeface="Arial" pitchFamily="34" charset="-120"/>
              </a:rPr>
              <a:t>SHOWN AS BUILT, NOT AS DRAWN</a:t>
            </a:r>
            <a:endParaRPr lang="en-US" sz="3000" dirty="0"/>
          </a:p>
        </p:txBody>
      </p:sp>
      <p:sp>
        <p:nvSpPr>
          <p:cNvPr id="4" name="Text 2"/>
          <p:cNvSpPr/>
          <p:nvPr/>
        </p:nvSpPr>
        <p:spPr>
          <a:xfrm>
            <a:off x="548640" y="1371600"/>
            <a:ext cx="10515600" cy="502920"/>
          </a:xfrm>
          <a:prstGeom prst="rect">
            <a:avLst/>
          </a:prstGeom>
          <a:noFill/>
          <a:ln/>
        </p:spPr>
        <p:txBody>
          <a:bodyPr wrap="square" rtlCol="0" anchor="ctr"/>
          <a:lstStyle/>
          <a:p>
            <a:pPr indent="0" marL="0">
              <a:buNone/>
            </a:pPr>
            <a:r>
              <a:rPr lang="en-US" sz="1250" dirty="0">
                <a:solidFill>
                  <a:srgbClr val="54513F"/>
                </a:solidFill>
                <a:latin typeface="Calibri" pitchFamily="34" charset="0"/>
                <a:ea typeface="Calibri" pitchFamily="34" charset="-122"/>
                <a:cs typeface="Calibri" pitchFamily="34" charset="-120"/>
              </a:rPr>
              <a:t>Three screens from the running site, October 2026. Each was worked out in the browser — options on the live page, a URL flag, then a default; the real-device verdicts are still open.</a:t>
            </a:r>
            <a:endParaRPr lang="en-US" sz="1250" dirty="0"/>
          </a:p>
        </p:txBody>
      </p:sp>
      <p:sp>
        <p:nvSpPr>
          <p:cNvPr id="5" name="Shape 3"/>
          <p:cNvSpPr/>
          <p:nvPr/>
        </p:nvSpPr>
        <p:spPr>
          <a:xfrm>
            <a:off x="548640" y="2057400"/>
            <a:ext cx="3520440" cy="2788920"/>
          </a:xfrm>
          <a:prstGeom prst="rect">
            <a:avLst/>
          </a:prstGeom>
          <a:solidFill>
            <a:srgbClr val="151317"/>
          </a:solidFill>
          <a:ln/>
          <a:effectLst>
            <a:outerShdw sx="100000" sy="100000" kx="0" ky="0" algn="bl" rotWithShape="0" blurRad="101600" dist="38100" dir="5400000">
              <a:srgbClr val="000000">
                <a:alpha val="12000"/>
              </a:srgbClr>
            </a:outerShdw>
          </a:effectLst>
        </p:spPr>
        <p:txBody>
          <a:bodyPr/>
          <a:p/>
        </p:txBody>
      </p:sp>
      <p:pic>
        <p:nvPicPr>
          <p:cNvPr id="6" name="Image 0" descr="/sessions/bold-gracious-fermi/mnt/outputs/sweet-case-study/assets/opt2-crop.png">    </p:cNvPr>
          <p:cNvPicPr>
            <a:picLocks noChangeAspect="1"/>
          </p:cNvPicPr>
          <p:nvPr/>
        </p:nvPicPr>
        <p:blipFill>
          <a:blip r:embed="rId1"/>
          <a:srcRect/>
          <a:stretch/>
        </p:blipFill>
        <p:spPr>
          <a:xfrm>
            <a:off x="621792" y="2130552"/>
            <a:ext cx="3374136" cy="2642616"/>
          </a:xfrm>
          <a:prstGeom prst="rect">
            <a:avLst/>
          </a:prstGeom>
        </p:spPr>
      </p:pic>
      <p:sp>
        <p:nvSpPr>
          <p:cNvPr id="7" name="Text 4"/>
          <p:cNvSpPr/>
          <p:nvPr/>
        </p:nvSpPr>
        <p:spPr>
          <a:xfrm>
            <a:off x="548640" y="4937760"/>
            <a:ext cx="3520440" cy="320040"/>
          </a:xfrm>
          <a:prstGeom prst="rect">
            <a:avLst/>
          </a:prstGeom>
          <a:noFill/>
          <a:ln/>
        </p:spPr>
        <p:txBody>
          <a:bodyPr wrap="square" rtlCol="0" anchor="ctr"/>
          <a:lstStyle/>
          <a:p>
            <a:pPr indent="0" marL="0">
              <a:buNone/>
            </a:pPr>
            <a:r>
              <a:rPr lang="en-US" sz="1250" b="1" dirty="0">
                <a:solidFill>
                  <a:srgbClr val="E34314"/>
                </a:solidFill>
                <a:latin typeface="Arial" pitchFamily="34" charset="0"/>
                <a:ea typeface="Arial" pitchFamily="34" charset="-122"/>
                <a:cs typeface="Arial" pitchFamily="34" charset="-120"/>
              </a:rPr>
              <a:t>PAGE LOADER — HEAT AS THE WAIT</a:t>
            </a:r>
            <a:endParaRPr lang="en-US" sz="1250" dirty="0"/>
          </a:p>
        </p:txBody>
      </p:sp>
      <p:sp>
        <p:nvSpPr>
          <p:cNvPr id="8" name="Text 5"/>
          <p:cNvSpPr/>
          <p:nvPr/>
        </p:nvSpPr>
        <p:spPr>
          <a:xfrm>
            <a:off x="548640" y="5257800"/>
            <a:ext cx="3520440" cy="77724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The retired heat slider as the screen between pages: the knob creeps, the wordmark heats, the team’s own lines run above it.</a:t>
            </a:r>
            <a:endParaRPr lang="en-US" sz="1050" dirty="0"/>
          </a:p>
        </p:txBody>
      </p:sp>
      <p:sp>
        <p:nvSpPr>
          <p:cNvPr id="9" name="Shape 6"/>
          <p:cNvSpPr/>
          <p:nvPr/>
        </p:nvSpPr>
        <p:spPr>
          <a:xfrm>
            <a:off x="4343400" y="2057400"/>
            <a:ext cx="3520440" cy="2788920"/>
          </a:xfrm>
          <a:prstGeom prst="rect">
            <a:avLst/>
          </a:prstGeom>
          <a:solidFill>
            <a:srgbClr val="151317"/>
          </a:solidFill>
          <a:ln/>
          <a:effectLst>
            <a:outerShdw sx="100000" sy="100000" kx="0" ky="0" algn="bl" rotWithShape="0" blurRad="101600" dist="38100" dir="5400000">
              <a:srgbClr val="000000">
                <a:alpha val="12000"/>
              </a:srgbClr>
            </a:outerShdw>
          </a:effectLst>
        </p:spPr>
        <p:txBody>
          <a:bodyPr/>
          <a:p/>
        </p:txBody>
      </p:sp>
      <p:pic>
        <p:nvPicPr>
          <p:cNvPr id="10" name="Image 1" descr="/sessions/bold-gracious-fermi/mnt/outputs/sweet-case-study/assets/opt5-crop.png">    </p:cNvPr>
          <p:cNvPicPr>
            <a:picLocks noChangeAspect="1"/>
          </p:cNvPicPr>
          <p:nvPr/>
        </p:nvPicPr>
        <p:blipFill>
          <a:blip r:embed="rId2"/>
          <a:srcRect/>
          <a:stretch/>
        </p:blipFill>
        <p:spPr>
          <a:xfrm>
            <a:off x="4416552" y="2130552"/>
            <a:ext cx="3374136" cy="2642616"/>
          </a:xfrm>
          <a:prstGeom prst="rect">
            <a:avLst/>
          </a:prstGeom>
        </p:spPr>
      </p:pic>
      <p:sp>
        <p:nvSpPr>
          <p:cNvPr id="11" name="Text 7"/>
          <p:cNvSpPr/>
          <p:nvPr/>
        </p:nvSpPr>
        <p:spPr>
          <a:xfrm>
            <a:off x="4343400" y="4937760"/>
            <a:ext cx="3520440" cy="320040"/>
          </a:xfrm>
          <a:prstGeom prst="rect">
            <a:avLst/>
          </a:prstGeom>
          <a:noFill/>
          <a:ln/>
        </p:spPr>
        <p:txBody>
          <a:bodyPr wrap="square" rtlCol="0" anchor="ctr"/>
          <a:lstStyle/>
          <a:p>
            <a:pPr indent="0" marL="0">
              <a:buNone/>
            </a:pPr>
            <a:r>
              <a:rPr lang="en-US" sz="1250" b="1" dirty="0">
                <a:solidFill>
                  <a:srgbClr val="E34314"/>
                </a:solidFill>
                <a:latin typeface="Arial" pitchFamily="34" charset="0"/>
                <a:ea typeface="Arial" pitchFamily="34" charset="-122"/>
                <a:cs typeface="Arial" pitchFamily="34" charset="-120"/>
              </a:rPr>
              <a:t>404 — LOST IN THE SAUCE</a:t>
            </a:r>
            <a:endParaRPr lang="en-US" sz="1250" dirty="0"/>
          </a:p>
        </p:txBody>
      </p:sp>
      <p:sp>
        <p:nvSpPr>
          <p:cNvPr id="12" name="Text 8"/>
          <p:cNvSpPr/>
          <p:nvPr/>
        </p:nvSpPr>
        <p:spPr>
          <a:xfrm>
            <a:off x="4343400" y="5257800"/>
            <a:ext cx="3520440" cy="77724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My Figma draft plus five other directions on one contact sheet; three were built behind a flag, and the choice between two is still open.</a:t>
            </a:r>
            <a:endParaRPr lang="en-US" sz="1050" dirty="0"/>
          </a:p>
        </p:txBody>
      </p:sp>
      <p:sp>
        <p:nvSpPr>
          <p:cNvPr id="13" name="Shape 9"/>
          <p:cNvSpPr/>
          <p:nvPr/>
        </p:nvSpPr>
        <p:spPr>
          <a:xfrm>
            <a:off x="8138160" y="2057400"/>
            <a:ext cx="3520440" cy="2788920"/>
          </a:xfrm>
          <a:prstGeom prst="rect">
            <a:avLst/>
          </a:prstGeom>
          <a:solidFill>
            <a:srgbClr val="151317"/>
          </a:solidFill>
          <a:ln/>
          <a:effectLst>
            <a:outerShdw sx="100000" sy="100000" kx="0" ky="0" algn="bl" rotWithShape="0" blurRad="101600" dist="38100" dir="5400000">
              <a:srgbClr val="000000">
                <a:alpha val="12000"/>
              </a:srgbClr>
            </a:outerShdw>
          </a:effectLst>
        </p:spPr>
        <p:txBody>
          <a:bodyPr/>
          <a:p/>
        </p:txBody>
      </p:sp>
      <p:pic>
        <p:nvPicPr>
          <p:cNvPr id="14" name="Image 2" descr="/sessions/bold-gracious-fermi/mnt/outputs/sweet-case-study/assets/opt7-crop.png">    </p:cNvPr>
          <p:cNvPicPr>
            <a:picLocks noChangeAspect="1"/>
          </p:cNvPicPr>
          <p:nvPr/>
        </p:nvPicPr>
        <p:blipFill>
          <a:blip r:embed="rId3"/>
          <a:srcRect/>
          <a:stretch/>
        </p:blipFill>
        <p:spPr>
          <a:xfrm>
            <a:off x="8211312" y="2130552"/>
            <a:ext cx="3374136" cy="2642616"/>
          </a:xfrm>
          <a:prstGeom prst="rect">
            <a:avLst/>
          </a:prstGeom>
        </p:spPr>
      </p:pic>
      <p:sp>
        <p:nvSpPr>
          <p:cNvPr id="15" name="Text 10"/>
          <p:cNvSpPr/>
          <p:nvPr/>
        </p:nvSpPr>
        <p:spPr>
          <a:xfrm>
            <a:off x="8138160" y="4937760"/>
            <a:ext cx="3520440" cy="320040"/>
          </a:xfrm>
          <a:prstGeom prst="rect">
            <a:avLst/>
          </a:prstGeom>
          <a:noFill/>
          <a:ln/>
        </p:spPr>
        <p:txBody>
          <a:bodyPr wrap="square" rtlCol="0" anchor="ctr"/>
          <a:lstStyle/>
          <a:p>
            <a:pPr indent="0" marL="0">
              <a:buNone/>
            </a:pPr>
            <a:r>
              <a:rPr lang="en-US" sz="1250" b="1" dirty="0">
                <a:solidFill>
                  <a:srgbClr val="E34314"/>
                </a:solidFill>
                <a:latin typeface="Arial" pitchFamily="34" charset="0"/>
                <a:ea typeface="Arial" pitchFamily="34" charset="-122"/>
                <a:cs typeface="Arial" pitchFamily="34" charset="-120"/>
              </a:rPr>
              <a:t>PHONE MENU — A BAR AT THE FOOT</a:t>
            </a:r>
            <a:endParaRPr lang="en-US" sz="1250" dirty="0"/>
          </a:p>
        </p:txBody>
      </p:sp>
      <p:sp>
        <p:nvSpPr>
          <p:cNvPr id="16" name="Text 11"/>
          <p:cNvSpPr/>
          <p:nvPr/>
        </p:nvSpPr>
        <p:spPr>
          <a:xfrm>
            <a:off x="8138160" y="5257800"/>
            <a:ext cx="3520440" cy="777240"/>
          </a:xfrm>
          <a:prstGeom prst="rect">
            <a:avLst/>
          </a:prstGeom>
          <a:noFill/>
          <a:ln/>
        </p:spPr>
        <p:txBody>
          <a:bodyPr wrap="square" rtlCol="0" anchor="ctr"/>
          <a:lstStyle/>
          <a:p>
            <a:pPr indent="0" marL="0">
              <a:lnSpc>
                <a:spcPct val="120000"/>
              </a:lnSpc>
              <a:buNone/>
            </a:pPr>
            <a:r>
              <a:rPr lang="en-US" sz="1050" dirty="0">
                <a:solidFill>
                  <a:srgbClr val="54513F"/>
                </a:solidFill>
                <a:latin typeface="Calibri" pitchFamily="34" charset="0"/>
                <a:ea typeface="Calibri" pitchFamily="34" charset="-122"/>
                <a:cs typeface="Calibri" pitchFamily="34" charset="-120"/>
              </a:rPr>
              <a:t>Ten options on one sheet. The bar opens the section list and names where you are; the sticky rail it replaced waits behind a flag.</a:t>
            </a:r>
            <a:endParaRPr lang="en-US" sz="1050" dirty="0"/>
          </a:p>
        </p:txBody>
      </p:sp>
      <p:sp>
        <p:nvSpPr>
          <p:cNvPr id="17"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4513F"/>
                </a:solidFill>
                <a:latin typeface="Calibri" pitchFamily="34" charset="0"/>
                <a:ea typeface="Calibri" pitchFamily="34" charset="-122"/>
                <a:cs typeface="Calibri" pitchFamily="34" charset="-120"/>
              </a:rPr>
              <a:t>Sweet Pepper — Brand &amp; UX Case Study</a:t>
            </a:r>
            <a:endParaRPr lang="en-US" sz="1000" dirty="0"/>
          </a:p>
        </p:txBody>
      </p:sp>
      <p:sp>
        <p:nvSpPr>
          <p:cNvPr id="18" name="Text 13"/>
          <p:cNvSpPr/>
          <p:nvPr/>
        </p:nvSpPr>
        <p:spPr>
          <a:xfrm>
            <a:off x="11000232" y="6355080"/>
            <a:ext cx="822960" cy="274320"/>
          </a:xfrm>
          <a:prstGeom prst="rect">
            <a:avLst/>
          </a:prstGeom>
          <a:noFill/>
          <a:ln/>
        </p:spPr>
        <p:txBody>
          <a:bodyPr wrap="square" rtlCol="0" anchor="ctr"/>
          <a:lstStyle/>
          <a:p>
            <a:pPr algn="r" indent="0" marL="0">
              <a:buNone/>
            </a:pPr>
            <a:r>
              <a:rPr lang="en-US" sz="1000" dirty="0">
                <a:solidFill>
                  <a:srgbClr val="54513F"/>
                </a:solidFill>
                <a:latin typeface="Calibri" pitchFamily="34" charset="0"/>
                <a:ea typeface="Calibri" pitchFamily="34" charset="-122"/>
                <a:cs typeface="Calibri" pitchFamily="34" charset="-120"/>
              </a:rPr>
              <a:t>36 / 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Sweet Pepper — UX &amp; Brand Case Study</dc:title>
  <dc:subject>PptxGenJS Presentation</dc:subject>
  <dc:creator>Etual</dc:creator>
  <cp:lastModifiedBy>Etual</cp:lastModifiedBy>
  <cp:revision>1</cp:revision>
  <dcterms:created xsi:type="dcterms:W3CDTF">2026-07-05T03:10:46Z</dcterms:created>
  <dcterms:modified xsi:type="dcterms:W3CDTF">2026-07-05T03:10:46Z</dcterms:modified>
</cp:coreProperties>
</file>