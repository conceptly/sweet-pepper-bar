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11-1.jpg" ContentType="image/jpg"/>
  <Override PartName="/ppt/media/image-15-1.jpg" ContentType="image/jpg"/>
  <Override PartName="/ppt/media/image-15-2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3" r:id="rId34"/>
    <p:sldId id="269" r:id="rId15"/>
    <p:sldId id="270" r:id="rId16"/>
    <p:sldId id="278" r:id="rId29"/>
    <p:sldId id="279" r:id="rId30"/>
    <p:sldId id="280" r:id="rId31"/>
    <p:sldId id="281" r:id="rId32"/>
    <p:sldId id="282" r:id="rId33"/>
    <p:sldId id="271" r:id="rId17"/>
    <p:sldId id="272" r:id="rId18"/>
    <p:sldId id="273" r:id="rId19"/>
    <p:sldId id="274" r:id="rId20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22.xml"/><Relationship Id="rId18" Type="http://schemas.openxmlformats.org/officeDocument/2006/relationships/slide" Target="slides/slide23.xml"/><Relationship Id="rId19" Type="http://schemas.openxmlformats.org/officeDocument/2006/relationships/slide" Target="slides/slide24.xml"/><Relationship Id="rId20" Type="http://schemas.openxmlformats.org/officeDocument/2006/relationships/slide" Target="slides/slide25.xml"/><Relationship Id="rId21" Type="http://schemas.openxmlformats.org/officeDocument/2006/relationships/slide" Target="slides/slide33.xml"/><Relationship Id="rId22" Type="http://schemas.openxmlformats.org/officeDocument/2006/relationships/slide" Target="slides/slide34.xml"/><Relationship Id="rId23" Type="http://schemas.openxmlformats.org/officeDocument/2006/relationships/slide" Target="slides/slide35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14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old-gracious-fermi/mnt/outputs/sweet-case-study/assets/cocktail-1.jpg">    </p:cNvPr>
          <p:cNvPicPr>
            <a:picLocks noChangeAspect="1"/>
          </p:cNvPicPr>
          <p:nvPr/>
        </p:nvPicPr>
        <p:blipFill>
          <a:blip r:embed="rId1"/>
          <a:srcRect l="25926" r="25926"/>
          <a:stretch/>
        </p:blipFill>
        <p:spPr>
          <a:xfrm>
            <a:off x="7223760" y="0"/>
            <a:ext cx="49651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223760" y="0"/>
            <a:ext cx="4965192" cy="6858000"/>
          </a:xfrm>
          <a:prstGeom prst="rect">
            <a:avLst/>
          </a:prstGeom>
          <a:solidFill>
            <a:srgbClr val="151317">
              <a:alpha val="65000"/>
            </a:srgbClr>
          </a:solidFill>
          <a:ln/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640080" y="13716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GASTROBAR · KIROVA 10 · YAROSLAVL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9436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64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SWEET PEPPER</a:t>
            </a:r>
            <a:endParaRPr lang="en-US" sz="6400" dirty="0"/>
          </a:p>
        </p:txBody>
      </p:sp>
      <p:sp>
        <p:nvSpPr>
          <p:cNvPr id="6" name="Text 3"/>
          <p:cNvSpPr/>
          <p:nvPr/>
        </p:nvSpPr>
        <p:spPr>
          <a:xfrm>
            <a:off x="640080" y="306324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&amp; UX Case Study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126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Systemizing a beloved but chaotic gastrobar identity, then designing and building a full website that changes with the time of day.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4617720"/>
            <a:ext cx="3337560" cy="384048"/>
          </a:xfrm>
          <a:prstGeom prst="roundRect">
            <a:avLst>
              <a:gd name="adj" fmla="val 19048"/>
            </a:avLst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4617720"/>
            <a:ext cx="3337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D4E6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BUILD · STYLE GUIDE LIVE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612648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Brand &amp; Web Designer   ·   Timeline: Jun–Sep 2026   ·   Updated Sep 18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PROJECT WAS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4023360"/>
          </a:xfrm>
          <a:prstGeom prst="rect">
            <a:avLst/>
          </a:prstGeom>
          <a:solidFill>
            <a:srgbClr val="F3E9D2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21031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2148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Pepper, a hybrid gastrobar in Yaroslavl, Russia — a serious all-day kitchen fused with a craft cocktail bar. Open 8:30am to late, every day.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606040" cy="4023360"/>
          </a:xfrm>
          <a:prstGeom prst="rect">
            <a:avLst/>
          </a:prstGeom>
          <a:solidFill>
            <a:srgbClr val="F3E9D2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11880" y="21031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11880" y="2606040"/>
            <a:ext cx="2148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brand had 12 years of visual equity but no system — logos, colors, and posters existed in isolation. The new website needed a coherent identity and a real content plan to launch from.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2606040" cy="4023360"/>
          </a:xfrm>
          <a:prstGeom prst="rect">
            <a:avLst/>
          </a:prstGeom>
          <a:solidFill>
            <a:srgbClr val="F3E9D2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46520" y="21031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ROLE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46520" y="2606040"/>
            <a:ext cx="2148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designer: brand system, logo consolidation, IA, homepage / menu / About / Visit UX in both day and night states, full site copy (EN/RU as register twins), the platform/CMS call, and AI-assisted prototyping. Handoff to a custom WordPress build.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560" y="1828800"/>
            <a:ext cx="2606040" cy="4023360"/>
          </a:xfrm>
          <a:prstGeom prst="rect">
            <a:avLst/>
          </a:prstGeom>
          <a:solidFill>
            <a:srgbClr val="F3E9D2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281160" y="21031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281160" y="2606040"/>
            <a:ext cx="2148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design system (color, type, grid, ratios, motion), a consolidated logo set, four page templates in both states validated by testing, a live bilingual style guide with PDFs, and a custom WordPress theme in build.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35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HYBRID THAT DIDN'T FIT A TEMPLATE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isn't a café that also serves drinks, or a bar that does brunch on weekends. It was built from day one to run breakfast, business lunch, after-work drinks, and late-night cocktails with equal intentionality — a 50/50 kitchen-to-bar revenue split, maintained deliberately for years.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291840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i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structural duality — one venue, four distinct daily identities — became the central design problem: how does a single homepage represent a breakfast spot, a lunch destination, an evening bar, and a late-night hang without picking one and alienating the rest?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4.6/5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56692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rating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1,300+ reviews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651760" y="50292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50/50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651760" y="56692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Kitchen-to-bar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split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0" y="50292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8:30–late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754880" y="56692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operating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050" dirty="0"/>
          </a:p>
        </p:txBody>
      </p:sp>
      <p:pic>
        <p:nvPicPr>
          <p:cNvPr id="12" name="Image 0" descr="/sessions/bold-gracious-fermi/mnt/outputs/sweet-case-study/assets/cocktail-2.jpg">    </p:cNvPr>
          <p:cNvPicPr>
            <a:picLocks noChangeAspect="1"/>
          </p:cNvPicPr>
          <p:nvPr/>
        </p:nvPicPr>
        <p:blipFill>
          <a:blip r:embed="rId1"/>
          <a:srcRect l="26369" r="26369"/>
          <a:stretch/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315200" y="0"/>
            <a:ext cx="4873752" cy="6858000"/>
          </a:xfrm>
          <a:prstGeom prst="rect">
            <a:avLst/>
          </a:prstGeom>
          <a:solidFill>
            <a:srgbClr val="151317">
              <a:alpha val="45000"/>
            </a:srgbClr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35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ACTUALLY SHOWS UP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public review-mining (Google, TripAdvisor, Yandex, 2GIS) with founder interviews to segment the audience before designing anything.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60604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148840"/>
            <a:ext cx="2606040" cy="82296"/>
          </a:xfrm>
          <a:prstGeom prst="rect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9808" y="2404872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COMMUNITY REGULAR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3017520"/>
            <a:ext cx="22037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20–35, treats the bar as their neighbourhood spot. High loyalty, emotionally bonded, follows on social.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55848" y="2148840"/>
            <a:ext cx="260604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55848" y="2148840"/>
            <a:ext cx="2606040" cy="82296"/>
          </a:xfrm>
          <a:prstGeom prst="rect">
            <a:avLst/>
          </a:prstGeom>
          <a:solidFill>
            <a:srgbClr val="737D3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57016" y="2404872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LUNCH &amp; BREAKFAST CROWD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57016" y="3017520"/>
            <a:ext cx="22037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workers &amp; students on Kirova St. Value-driven, transactional, price/speed sensitive.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63056" y="2148840"/>
            <a:ext cx="260604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163056" y="2148840"/>
            <a:ext cx="2606040" cy="82296"/>
          </a:xfrm>
          <a:prstGeom prst="rect">
            <a:avLst/>
          </a:prstGeom>
          <a:solidFill>
            <a:srgbClr val="EF6D4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364224" y="2404872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EVENT &amp; OCCASION VISITOR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64224" y="3017520"/>
            <a:ext cx="22037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Birthdays, after-work groups, company parties. Needs capacity and festive programming.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970264" y="2148840"/>
            <a:ext cx="260604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70264" y="2148840"/>
            <a:ext cx="2606040" cy="82296"/>
          </a:xfrm>
          <a:prstGeom prst="rect">
            <a:avLst/>
          </a:prstGeom>
          <a:solidFill>
            <a:srgbClr val="869438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171432" y="2404872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COLLABORATOR / ECOSYSTEM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171432" y="3017520"/>
            <a:ext cx="22037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Fellow venue owners, musicians, book-club organisers — treat it as a platform, not just a customer stop.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754880"/>
            <a:ext cx="11064240" cy="150876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22960" y="48920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4E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 of my favourite places on Kirova. Unique design, good food, decent coffee. Genuinely cosy." — guest review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544068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the dominant word across every platform was "уютный" — cosy. The team's public perception wasn't manufactured by marketing; it grew from how the place actually runs. The website had to earn that word, not just claim it.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35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PROBLEMS, ONE HOMEPAGE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463040" y="1801368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SYSTEM, JUST ARTIFACTS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4434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years of logos, posters, and menus existed — but no shared color logic, no type hierarchy, no rules for reuse.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63640" y="17830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178040" y="1801368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PALETTE THAT FIGHTS ITSELF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78040" y="2286000"/>
            <a:ext cx="4434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Chili red, lime, and lemon are loud individually. Left unsystematized, saturated color-on-color fails contrast and fatigues the eye.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9319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463040" y="3950208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VENUE, FOUR IDENTITIES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4434840"/>
            <a:ext cx="4434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Breakfast, lunch, evening bar, and late-night party each need different tone, imagery, and CTA — inside a single hero.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263640" y="39319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178040" y="3950208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TEMPLATE GRAVITY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78040" y="4434840"/>
            <a:ext cx="4434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drafts kept defaulting to stock restaurant-site patterns: hero photo + headline + card grid — nothing that felt like this specific bar.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35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BRAND SYSTEM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RAMPS, NOT SIX FIGHTING COLORS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generative rule: every brand color is a tint or shade of exactly three hues — red, green, yellow — plus neutrals. Need a new shade? Move along an existing hue line; never introduce a new one. That single rule turned a chaotic set of "loud" colors into something provably harmonious.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575304"/>
            <a:ext cx="128016" cy="128016"/>
          </a:xfrm>
          <a:prstGeom prst="ellipse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3447288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Colour-vision claim audited &amp; narrowed later: no colour carries meaning alone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4142232"/>
            <a:ext cx="128016" cy="128016"/>
          </a:xfrm>
          <a:prstGeom prst="ellipse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014216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(Parchment) / Night (Peppercorn) modes mapped from the same palette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4709160"/>
            <a:ext cx="128016" cy="128016"/>
          </a:xfrm>
          <a:prstGeom prst="ellipse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4581144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Molot (display, heavy, all-caps) leads; Golos Text carries everything meant for reading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5276088"/>
            <a:ext cx="128016" cy="128016"/>
          </a:xfrm>
          <a:prstGeom prst="ellipse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5148072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Chili token added specifically so red text passes AA at small sizes</a:t>
            </a:r>
            <a:endParaRPr lang="en-US" sz="1150" dirty="0"/>
          </a:p>
        </p:txBody>
      </p:sp>
      <p:pic>
        <p:nvPicPr>
          <p:cNvPr id="13" name="Image 0" descr="/sessions/bold-gracious-fermi/mnt/outputs/sweet-case-study/assets/colors.jpeg">    </p:cNvPr>
          <p:cNvPicPr>
            <a:picLocks noChangeAspect="1"/>
          </p:cNvPicPr>
          <p:nvPr/>
        </p:nvPicPr>
        <p:blipFill>
          <a:blip r:embed="rId1"/>
          <a:srcRect/>
          <a:stretch/>
        </p:blipFill>
        <p:spPr>
          <a:xfrm>
            <a:off x="7056120" y="685800"/>
            <a:ext cx="3901440" cy="58521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35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IDENTITY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MARK, BUILD THE SYSTEM AROUND IT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chili-and-shaker mark and the bottle-cap seal already had years of recognition and guest affection — the research showed no reason to replace them. The job was consolidation: one clear hierarchy of lockups, one clear-space rule, minimum sizes, and defined backgrounds, so the mark could scale from a favicon to a storefront sign without improvisation.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3108960" cy="3108960"/>
          </a:xfrm>
          <a:prstGeom prst="rect">
            <a:avLst/>
          </a:prstGeom>
          <a:solidFill>
            <a:srgbClr val="1F1B21"/>
          </a:solidFill>
          <a:ln/>
        </p:spPr>
        <p:txBody>
          <a:bodyPr/>
          <a:p/>
        </p:txBody>
      </p:sp>
      <p:pic>
        <p:nvPicPr>
          <p:cNvPr id="6" name="Image 0" descr="/sessions/bold-gracious-fermi/mnt/outputs/sweet-case-study/assets/old-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246120"/>
            <a:ext cx="2468880" cy="2468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10819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E97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886200" y="384048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SYSTEMIZED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A FULL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LOCKUP SET →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43600" y="2926080"/>
            <a:ext cx="5669280" cy="3108960"/>
          </a:xfrm>
          <a:prstGeom prst="rect">
            <a:avLst/>
          </a:prstGeom>
          <a:solidFill>
            <a:srgbClr val="F3E9D2"/>
          </a:solidFill>
          <a:ln/>
        </p:spPr>
        <p:txBody>
          <a:bodyPr/>
          <a:p/>
        </p:txBody>
      </p:sp>
      <p:pic>
        <p:nvPicPr>
          <p:cNvPr id="10" name="Image 1" descr="/sessions/bold-gracious-fermi/mnt/outputs/sweet-case-study/assets/logo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977640"/>
            <a:ext cx="4572000" cy="9966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943600" y="6108192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73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— ONE OF SIX DEFINED LOCKUPS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35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THE HERO, DRAFT BY DRAFT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home-page explorations. The first drafts proved the brand assets worked together — but the layout logic was still generic restaurant-template thinking.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520440" cy="2788920"/>
          </a:xfrm>
          <a:prstGeom prst="rect">
            <a:avLst/>
          </a:prstGeom>
          <a:solidFill>
            <a:srgbClr val="151317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/sessions/bold-gracious-fermi/mnt/outputs/sweet-case-study/assets/opt2-crop.png">    </p:cNvPr>
          <p:cNvPicPr>
            <a:picLocks noChangeAspect="1"/>
          </p:cNvPicPr>
          <p:nvPr/>
        </p:nvPicPr>
        <p:blipFill>
          <a:blip r:embed="rId1"/>
          <a:srcRect l="10099" r="10099"/>
          <a:stretch/>
        </p:blipFill>
        <p:spPr>
          <a:xfrm>
            <a:off x="621792" y="2130552"/>
            <a:ext cx="3374136" cy="26426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493776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2 — STATIC TEMPLATE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257800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Centered hero, generic card grid below. Safe, but interchangeable with any bar site.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43400" y="2057400"/>
            <a:ext cx="3520440" cy="2788920"/>
          </a:xfrm>
          <a:prstGeom prst="rect">
            <a:avLst/>
          </a:prstGeom>
          <a:solidFill>
            <a:srgbClr val="151317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10" name="Image 1" descr="/sessions/bold-gracious-fermi/mnt/outputs/sweet-case-study/assets/opt5-crop.png">    </p:cNvPr>
          <p:cNvPicPr>
            <a:picLocks noChangeAspect="1"/>
          </p:cNvPicPr>
          <p:nvPr/>
        </p:nvPicPr>
        <p:blipFill>
          <a:blip r:embed="rId2"/>
          <a:srcRect l="5112" r="5112"/>
          <a:stretch/>
        </p:blipFill>
        <p:spPr>
          <a:xfrm>
            <a:off x="4416552" y="2130552"/>
            <a:ext cx="3374136" cy="264261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43400" y="493776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5 — SIDEBAR + MOTIF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4343400" y="5257800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Introduced the seal logo and outlined wordmark. Sidebar nav added clutter without solving anything.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138160" y="2057400"/>
            <a:ext cx="3520440" cy="2788920"/>
          </a:xfrm>
          <a:prstGeom prst="rect">
            <a:avLst/>
          </a:prstGeom>
          <a:solidFill>
            <a:srgbClr val="151317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14" name="Image 2" descr="/sessions/bold-gracious-fermi/mnt/outputs/sweet-case-study/assets/opt7-crop.png">    </p:cNvPr>
          <p:cNvPicPr>
            <a:picLocks noChangeAspect="1"/>
          </p:cNvPicPr>
          <p:nvPr/>
        </p:nvPicPr>
        <p:blipFill>
          <a:blip r:embed="rId3"/>
          <a:srcRect l="24065" r="24065"/>
          <a:stretch/>
        </p:blipFill>
        <p:spPr>
          <a:xfrm>
            <a:off x="8211312" y="2130552"/>
            <a:ext cx="3374136" cy="264261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138160" y="493776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7 — CLEANER TWO-COLUMN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8138160" y="5257800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sidebar, tightened type hierarchy. Still one static headline for an all-day venue.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35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PICKING ONE MOMENT. USE THE CLOCK.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60350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static draft forced a choice: show the cocktail bar and lose the breakfast crowd, or show breakfast and bury the thing everyone actually remembers the place for. The reframe: the venue already changes its whole identity four times a day — breakfast, lunch, dinner, party. So let the website do the same thing, automatically, tied to the guest's real local time.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931920"/>
            <a:ext cx="60350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i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constraint shaped the mechanic more than any other: hospitality's "no-clock rule" — good service makes guests lose track of time, so the hero could never show a literal clock or countdown. The heat slider solves this by implying time through a metaphor (mild → on fire) instead of stating it.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040880" y="2377440"/>
            <a:ext cx="1005840" cy="1005840"/>
          </a:xfrm>
          <a:prstGeom prst="ellipse">
            <a:avLst/>
          </a:prstGeom>
          <a:solidFill>
            <a:srgbClr val="D4E671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20840" y="3520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BREAKFAST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20840" y="382219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366760" y="2377440"/>
            <a:ext cx="1005840" cy="1005840"/>
          </a:xfrm>
          <a:prstGeom prst="ellipse">
            <a:avLst/>
          </a:prstGeom>
          <a:solidFill>
            <a:srgbClr val="C1DB3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046720" y="3520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LUNCH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0" y="382219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692640" y="2377440"/>
            <a:ext cx="1005840" cy="1005840"/>
          </a:xfrm>
          <a:prstGeom prst="ellipse">
            <a:avLst/>
          </a:prstGeom>
          <a:solidFill>
            <a:srgbClr val="EF6D4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372600" y="3520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DINNER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72600" y="382219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018520" y="2377440"/>
            <a:ext cx="1005840" cy="1005840"/>
          </a:xfrm>
          <a:prstGeom prst="ellipse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698480" y="3520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698480" y="382219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543800" y="2880360"/>
            <a:ext cx="3977640" cy="0"/>
          </a:xfrm>
          <a:prstGeom prst="line">
            <a:avLst/>
          </a:prstGeom>
          <a:noFill/>
          <a:ln w="19050">
            <a:solidFill>
              <a:srgbClr val="9E9789"/>
            </a:solidFill>
            <a:prstDash val="dash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35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THE HERO, FINAL FORM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HERO, TWO STATES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edit: the heat slider became a visual slider — four photo tiles, one per daypart, at every width. The call was made on evidence: a mobile-first audience (the rail favoured desktop), usability, and A/B results — then refined in the browser, where the cards grew until the selected tile carried the composition.</a:t>
            </a:r>
            <a:endParaRPr lang="en-US" sz="1250" dirty="0"/>
          </a:p>
        </p:txBody>
      </p:sp>
      <p:pic>
        <p:nvPicPr>
          <p:cNvPr id="5" name="Image 0" descr="/sessions/bold-gracious-fermi/mnt/outputs/sweet-case-study/assets/day-hero-crop.png">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48640" y="2057400"/>
            <a:ext cx="5440680" cy="3536442"/>
          </a:xfrm>
          <a:prstGeom prst="rect">
            <a:avLst/>
          </a:prstGeom>
        </p:spPr>
      </p:pic>
      <p:pic>
        <p:nvPicPr>
          <p:cNvPr id="6" name="Image 1" descr="/sessions/bold-gracious-fermi/mnt/outputs/sweet-case-study/assets/night-hero-crop.png">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2200" y="2057400"/>
            <a:ext cx="5440680" cy="353644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635508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3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— "YUMMY MORNING!"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172200" y="635508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 — "READY FOR TONIGHT?"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35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HEAT CONTROL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6583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 THAT TELLS THE TRUTH WITHOUT A CLOCK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PHOTO PER DAYPART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176272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tile is an art-directed photograph — eggs say "morning here" faster than the word BREAKFAST, in both languages at once. The selected tile is the large one: size carries state, so the grid is the scale.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303580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"NOW" IS NEVER LOST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pill marks the real current daypart even while a guest previews another tile — selection and now are two axes, and the peek never overwrites the truth.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242816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STATUS LINE, FOUR MEANINGS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590288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kitchen's on — no rush" persists across every state — informative without ever becoming a countdown.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60920" y="1417320"/>
            <a:ext cx="4297680" cy="4937760"/>
          </a:xfrm>
          <a:prstGeom prst="rect">
            <a:avLst/>
          </a:prstGeom>
          <a:solidFill>
            <a:srgbClr val="0B0A0C"/>
          </a:solidFill>
          <a:ln/>
          <a:effectLst>
            <a:outerShdw sx="100000" sy="100000" kx="0" ky="0" algn="bl" rotWithShape="0" blurRad="127000" dist="50800" dir="54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pic>
        <p:nvPicPr>
          <p:cNvPr id="11" name="Image 0" descr="/sessions/bold-gracious-fermi/mnt/outputs/sweet-case-study/assets/heat-control.jpg">    </p:cNvPr>
          <p:cNvPicPr>
            <a:picLocks noChangeAspect="1"/>
          </p:cNvPicPr>
          <p:nvPr/>
        </p:nvPicPr>
        <p:blipFill>
          <a:blip r:embed="rId4"/>
          <a:srcRect t="0" b="0"/>
          <a:stretch/>
        </p:blipFill>
        <p:spPr>
          <a:xfrm>
            <a:off x="7614920" y="2654554"/>
            <a:ext cx="3789680" cy="246329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35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· AI-ASSISTED PROTOTYPING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WAYS TO FEEL THE HEAT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locking the shipped interaction, I used Claude to rapid-prototype six divergent, fully-interactive variants of the heat slider in one afternoon — each pressure-testing a different way to express "heat = time" against the existing brand and hospitality rules.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6118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2295144"/>
            <a:ext cx="3209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1A · EMBER GRADIENT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49808" y="2715768"/>
            <a:ext cx="1091245" cy="201168"/>
          </a:xfrm>
          <a:prstGeom prst="rect">
            <a:avLst/>
          </a:prstGeom>
          <a:solidFill>
            <a:srgbClr val="737D3A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841053" y="2715768"/>
            <a:ext cx="1059150" cy="201168"/>
          </a:xfrm>
          <a:prstGeom prst="rect">
            <a:avLst/>
          </a:prstGeom>
          <a:solidFill>
            <a:srgbClr val="EF6D44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900202" y="2715768"/>
            <a:ext cx="1059150" cy="201168"/>
          </a:xfrm>
          <a:prstGeom prst="rect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3017520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heats up left→right (olive → paprika → chili) — heat read purely through color temperature.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4361688" y="2148840"/>
            <a:ext cx="36118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62856" y="2295144"/>
            <a:ext cx="3209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1B · PROPORTIONAL SEGMENTS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62856" y="2715768"/>
            <a:ext cx="844110" cy="201168"/>
          </a:xfrm>
          <a:prstGeom prst="rect">
            <a:avLst/>
          </a:prstGeom>
          <a:solidFill>
            <a:srgbClr val="D4E671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06966" y="2715768"/>
            <a:ext cx="677214" cy="201168"/>
          </a:xfrm>
          <a:prstGeom prst="rect">
            <a:avLst/>
          </a:prstGeom>
          <a:solidFill>
            <a:srgbClr val="C1DB34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084180" y="2715768"/>
            <a:ext cx="1014216" cy="201168"/>
          </a:xfrm>
          <a:prstGeom prst="rect">
            <a:avLst/>
          </a:prstGeom>
          <a:solidFill>
            <a:srgbClr val="EF6D44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098396" y="2715768"/>
            <a:ext cx="674004" cy="201168"/>
          </a:xfrm>
          <a:prstGeom prst="rect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62856" y="3017520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bars sized to real opening-hour spans, not equal quarters — an honest hours-of-operation gauge.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8174736" y="2148840"/>
            <a:ext cx="36118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375904" y="2295144"/>
            <a:ext cx="3209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1C · HOUR RULER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375904" y="2715768"/>
            <a:ext cx="3209544" cy="201168"/>
          </a:xfrm>
          <a:prstGeom prst="rect">
            <a:avLst/>
          </a:prstGeom>
          <a:solidFill>
            <a:srgbClr val="9E9789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375904" y="2916936"/>
            <a:ext cx="0" cy="128016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696858" y="2916936"/>
            <a:ext cx="0" cy="64008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017813" y="2916936"/>
            <a:ext cx="0" cy="64008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338767" y="2916936"/>
            <a:ext cx="0" cy="64008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659722" y="2916936"/>
            <a:ext cx="0" cy="64008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980676" y="2916936"/>
            <a:ext cx="0" cy="128016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301630" y="2916936"/>
            <a:ext cx="0" cy="64008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622585" y="2916936"/>
            <a:ext cx="0" cy="64008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0943539" y="2916936"/>
            <a:ext cx="0" cy="64008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11264494" y="2916936"/>
            <a:ext cx="0" cy="64008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1585448" y="2916936"/>
            <a:ext cx="0" cy="128016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375904" y="3017520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 tick marks, 07→02, with a live "HH:MM · daypart" readout above the thumb.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548640" y="3840480"/>
            <a:ext cx="36118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49808" y="3986784"/>
            <a:ext cx="3209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 · TYPE SCRUBBER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49808" y="4279392"/>
            <a:ext cx="105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E97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LUNCH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808958" y="4279392"/>
            <a:ext cx="109124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DINNER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900202" y="4279392"/>
            <a:ext cx="105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8D2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49808" y="4709160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daypart words ARE the UI: past = solid, active = chili, future = faint outline-only.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4361688" y="3840480"/>
            <a:ext cx="36118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562856" y="3986784"/>
            <a:ext cx="3209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1E · MATCHSTICK BURN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562856" y="4407408"/>
            <a:ext cx="802386" cy="201168"/>
          </a:xfrm>
          <a:prstGeom prst="rect">
            <a:avLst/>
          </a:prstGeom>
          <a:solidFill>
            <a:srgbClr val="151317"/>
          </a:solidFill>
          <a:ln/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5365242" y="4407408"/>
            <a:ext cx="802386" cy="201168"/>
          </a:xfrm>
          <a:prstGeom prst="rect">
            <a:avLst/>
          </a:prstGeom>
          <a:solidFill>
            <a:srgbClr val="9B2705"/>
          </a:solidFill>
          <a:ln/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6167628" y="4407408"/>
            <a:ext cx="802386" cy="201168"/>
          </a:xfrm>
          <a:prstGeom prst="rect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970014" y="4407408"/>
            <a:ext cx="802386" cy="201168"/>
          </a:xfrm>
          <a:prstGeom prst="rect">
            <a:avLst/>
          </a:prstGeom>
          <a:solidFill>
            <a:srgbClr val="FFED00"/>
          </a:solidFill>
          <a:ln/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4562856" y="4709160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Five-stop ember gradient (near-black → rust → chili → yellow tip) with a glowing flame thumb.</a:t>
            </a:r>
            <a:endParaRPr lang="en-US" sz="980" dirty="0"/>
          </a:p>
        </p:txBody>
      </p:sp>
      <p:sp>
        <p:nvSpPr>
          <p:cNvPr id="46" name="Shape 44"/>
          <p:cNvSpPr/>
          <p:nvPr/>
        </p:nvSpPr>
        <p:spPr>
          <a:xfrm>
            <a:off x="8174736" y="3840480"/>
            <a:ext cx="36118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375904" y="3986784"/>
            <a:ext cx="3209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 · STATUS CARD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375904" y="4361688"/>
            <a:ext cx="1861536" cy="219456"/>
          </a:xfrm>
          <a:prstGeom prst="roundRect">
            <a:avLst>
              <a:gd name="adj" fmla="val 50000"/>
            </a:avLst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8375904" y="4361688"/>
            <a:ext cx="18615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Dinner &amp; Bar →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375904" y="4626864"/>
            <a:ext cx="3209544" cy="201168"/>
          </a:xfrm>
          <a:prstGeom prst="rect">
            <a:avLst/>
          </a:prstGeom>
          <a:solidFill>
            <a:srgbClr val="9E9789"/>
          </a:solidFill>
          <a:ln/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8375904" y="4709160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 shrinks to a thin scrubber beneath a dashboard readout: "Right now · time", big daypart word, CTA pill.</a:t>
            </a:r>
            <a:endParaRPr lang="en-US" sz="980" dirty="0"/>
          </a:p>
        </p:txBody>
      </p:sp>
      <p:sp>
        <p:nvSpPr>
          <p:cNvPr id="52" name="Text 5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· JUDGMENT CALL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PROTOTYPING FAST DOESN'T MEAN ACCEPTING FAST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1d's label transition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shipped spec exactly (solid → chili → outline) — good validation that the documented rule already reads correctly to an outside model.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separate "now" marker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as the right call; toggling it on/off made it obvious how much the "peek, don't switch" idea depends on that marker never disappearing.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1b's real-hours segments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more honest metaphor than four equal quarters — strong candidate to fold into the next iteration of the shipped slider.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4652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OR REJECT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1c's hour ruler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great, but it reintroduces the literal clock the no-clock rule exists to prevent. Rejected on principle, not on execution.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4652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1e's matchstick gradient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Beautiful, but its rust/near-black stops sit outside the three-hue-ramp rule — would need rebuilding from existing chili-ramp tokens to stay compliant.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4652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1f's status-card layout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pattern, but de-emphasizing the slider undercuts the "one control, three jobs" mechanic. Parked for a possible inner page, not the hero.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· HERO, ROUND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MECHANIC OUTLIVED THE WIDGET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PARTICIPANT SAID "TOO COMPLICATED"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Fairly: the slider rail carried four labels, a knob, a now-marker, a status line and an instruction — six pieces of chrome for one fact. Tested against alternatives, a four-tile photo grid won: a photograph of eggs says “morning here” faster than the word BREAKFAST, in both languages at once.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= TIME SURVIVED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model, the status-line matrix and the day/night flip all carry over — tapping a dinner tile darkens the site. Size carries selection (the grid is the scale); the NOW pip stays independent of selection — the slider’s two axes intact. No auto-revert: time proposes, memory disposes.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RECORDED HONESTLY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art-directed photos instead of four, maintained by the team; the all-day story less visible at a glance (mitigations noted, not built). Layering stays desktop-only — at mobile sizes a 4px sheet offset reads as print misregistration, not depth.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9776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settled at every width: the visual slider is the hero, chosen on responsiveness, usability and A/B results — and finished in the browser rather than Figma, where the cards grew until the selected tile carried the composition.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35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INFORMATION 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HERO WAS NEVER THE WHOLE PAGE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hero mechanic proven, the homepage grew to its full shape: seven sections carrying the brand's actual content priorities, mapped before layout began.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244144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the spice slider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289864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Hits — permanent-by-guest-demand menu items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3337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335584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Made Infusions — the bar's signature craft proof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381304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Kitchen Menu — the food's quiet-retention story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251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427024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Pepper Story — About-page teaser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60120" y="472744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News, Parties, Promos — manual social feed mirror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5166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518464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Us — map, reservation form, hours, footer</a:t>
            </a:r>
            <a:endParaRPr lang="en-US" sz="1250" dirty="0"/>
          </a:p>
        </p:txBody>
      </p:sp>
      <p:pic>
        <p:nvPicPr>
          <p:cNvPr id="19" name="Image 0" descr="/sessions/bold-gracious-fermi/mnt/outputs/sweet-case-study/assets/home-ia.png">    </p:cNvPr>
          <p:cNvPicPr>
            <a:picLocks noChangeAspect="1"/>
          </p:cNvPicPr>
          <p:nvPr/>
        </p:nvPicPr>
        <p:blipFill>
          <a:blip r:embed="rId1"/>
          <a:srcRect/>
          <a:stretch/>
        </p:blipFill>
        <p:spPr>
          <a:xfrm>
            <a:off x="7442627" y="1371600"/>
            <a:ext cx="3859946" cy="512064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35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LAYOUT RHYTHM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SECTIONS, TWO RHYTHMS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035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alternates cleanly — light/dark down the page, one Lemon band as the single colour-block moment. Saturated hues stay banners, never full-page surfaces.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6035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 doesn’t checkerboard — it commits to darkness, accents glowing out of shared dark. Long dark runs break with a new Soft Peppercorn token (texture without contrast); one bright section stays as the mid-page point of light. Contact sits dark in both — the wind-down zone at any hour.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949440" y="502920"/>
            <a:ext cx="2468880" cy="5989320"/>
          </a:xfrm>
          <a:prstGeom prst="rect">
            <a:avLst/>
          </a:prstGeom>
          <a:solidFill>
            <a:srgbClr val="0B0A0C"/>
          </a:solidFill>
          <a:ln/>
        </p:spPr>
        <p:txBody>
          <a:bodyPr/>
          <a:p/>
        </p:txBody>
      </p:sp>
      <p:pic>
        <p:nvPicPr>
          <p:cNvPr id="7" name="Image 0" descr="/sessions/bold-gracious-fermi/mnt/outputs/sweet-case-study/assets/strip-full-day.jpg">    </p:cNvPr>
          <p:cNvPicPr>
            <a:picLocks noChangeAspect="1"/>
          </p:cNvPicPr>
          <p:nvPr/>
        </p:nvPicPr>
        <p:blipFill>
          <a:blip r:embed="rId1"/>
          <a:srcRect/>
          <a:stretch/>
        </p:blipFill>
        <p:spPr>
          <a:xfrm>
            <a:off x="7675435" y="594360"/>
            <a:ext cx="1016889" cy="58064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949440" y="6492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3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601200" y="502920"/>
            <a:ext cx="2468880" cy="5989320"/>
          </a:xfrm>
          <a:prstGeom prst="rect">
            <a:avLst/>
          </a:prstGeom>
          <a:solidFill>
            <a:srgbClr val="0B0A0C"/>
          </a:solidFill>
          <a:ln/>
        </p:spPr>
        <p:txBody>
          <a:bodyPr/>
          <a:p/>
        </p:txBody>
      </p:sp>
      <p:pic>
        <p:nvPicPr>
          <p:cNvPr id="10" name="Image 1" descr="/sessions/bold-gracious-fermi/mnt/outputs/sweet-case-study/assets/strip-full-night.jpg">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328261" y="594360"/>
            <a:ext cx="1014757" cy="58064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0" y="6492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MENU PAGE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TESTED, NOT GUESSED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 — SIDE-NAV POSTER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sections visible at once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stakeholder A/B + usability testing on the page’s stated KPI — time-to-dish. A Parchment nav panel merges into the content it navigates; photos stack on tilted Lemon + Chili sheets.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axes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state (food/drinks) × theme (day/night) never lock — kitchen content at 9pm is kitchen content in night clothes. Time proposes, memory disposes.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Soups: a separate section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showed guests could find soups under Hot dishes but agreed they don’t belong there — an accepted, documented web↔print divergence.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4652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RETIRED — BUT PAYING RENT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carousel / ticker hero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loop re-reads the list one word at a time; the side-nav shows it all at once. Survives only as a display motif — scrolling text never means two things on one page.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4652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split-screen hero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as a layout, but its seam sweep is the candidate transition when guests cross between menus through the door.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4652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as a section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separate seasonal print pieces underperformed integrated dishes — seasonal became a tag with a Lime badge feeding a query-driven rail.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35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SIGNATURE COMPONENTS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INTERFACE ANSWERS LIKE THE BAR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BARTENDER'S TICKET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slip the interface “prints” to answer the guest — the kitchen–bar handshake made tangible. Always Paper, day or night (a receipt is paper regardless of the hour), so on dark grounds it’s the brightest object in view: max one per viewport. The reply is always a person speaking, never a template.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MOTION LANGUAGE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→ fill is the one state change everywhere — slider labels, nav words, the word cloud. One idle clock per section: untouched sections demo themselves; any interaction seizes the clock. Spring easing, transforms only; reduced-motion keeps state changes and drops the theatre.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DOORS — THE THIRD TAPPABLE STYLE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Molot word standing on a small tilted block with an always-visible arrow — used only to cross between the food and drinks menus. Nothing else may be door-shaped; the closed vocabulary grew by exactly one, under the same discipline.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9776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DRINKS exits with →, FOOD returns with ← — direction encodes the room metaphor site-wide. Once the hero scrolls away, an edge tab slides the same nav panel back in: the hero’s column returning, not a new mechanic to learn.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35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VISIT PAGE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ANXIETIES, IN ORDER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NOW → FIND YOU → GET A SEAT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answers the three anxieties in that order; everything else is a chip. It’s the one page where the clock works for the guest — the documented service-page exemption to the no-clock rule. The hero is a bartender’s ticket printing today’s status.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 / STAY — ONE SOURCE, TWO PAGES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facts live in one ACF repeater: if a fact affects the journey to the door it renders on Visit; if it affects the stay, on About. Two registers, one source — never a copied section.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TWO-SPEED CONTACT &amp; THE MAP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lane (phone, DM) for tables; slow lane (form + email) for feedback — the founder’s reasoning: a guest with a channel to complain is a guest whose issue can be resolved. The form is styled to never look like the booking path.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9776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Yandex Maps over Google: the free Google embed is single-pin and its Yaroslavl data is weak; Yandex fits the audience and the no-foreign-vendor logic. Four pins max — the job is “you’ll recognise it,” not a tourist map of Kirova.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35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CONTENT SYSTEM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LINES: COPY AS A SYSTEM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MATRIX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stops × five states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Beginning, full swing, last call, off-hours — plus closed on the edge stops only. Every line follows one format: [fact] — [reassurance/wink]. "lunch till 4 — no rush."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"Closed" is never a fifth stop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scale enumerates offers, and closed isn’t one. Overnight the knob parks on the next open door — the site points forward, never at a dark room.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Weekends rewrite the second stop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LUNCH becomes BRUNCH from the same ACF hours source. No brunch menu exists — the copy frames it as generosity: "the brunch menu is the whole menu — that’s the deal."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4652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DISCIPLINE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Clockless numerals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"till 12", "till 4", "1:30" — never AM/PM. Exact times only where anxiety is real. The no-clock rule survives contact with an actual schedule.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4652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variants, not 80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stop × mode × marker are Figma variants; every status line is a text prop. The copy matrix never explodes the component set.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4652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testing log with predictions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testing.md records every open question with a prediction before the test runs — and labels what was user-tested versus decided on other evidence.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35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MOBILE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RULES, ONE HAND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DRAWER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nav items collapse into a full-screen drawer that themes by time like every surface — Molot items with guest-voice descriptions, outline → fill marking “you are here” (readable in greyscale; colour never carries state alone), and a booking block where phone leads: Russian guests book by call.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SPLITS PREVIEW FROM COMMIT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menu hero’s no-CTA rule turned out to be scoped to pointer input: hover and click are two channels, touch has one — a word can’t be both preview and commit. On touch, tapping a word previews and a boxed action commits; the active word drops its arrow, because on touch it isn’t the action.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 ON RECORD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Reserve’s right-edge tab doesn’t survive a 390px screen. Three placements tried and rejected — edge tab, floating button, persistent nav button — each failure written down so the ground is never re-covered. Leaning: no persistent Reserve on mobile at all.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9776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get amended in daylight, not violated quietly: the “never a pill” caption ban was narrowed to what it actually meant, and scrolling text was restated as never-navigation, one job per page, when the Visit status rail gave it a second legitimate use.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35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CONTENT STRATEGY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THE STORY, NOT INVENTING IT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Drafted, then restructured, the full About page. Final arc: Hero → Story → Concept → Mission → People → Recognition → Location → Careers → Visit — all sourced from research and founder interviews; nothing invented beyond phrasing.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TABASCO TO SWEET PEPPER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30815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story — the name as a deliberate softening, kept edge plus added food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630168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FIFTY-FIFTY, ON PURPOSE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922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kitchen/bar split, with pumpkin soup and berry cheesecake as guest-elected proof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4471416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PEOPLE — THE CENTERPIECE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7640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and Our Guests as equal halves — a structural rhyme with the 50/50 concept; guests tease a photo-library page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312664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 GOT A FACE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56052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Iurii Primyshev credited with photo + quote; “How it feels” — a word cloud of guests’ own review words — replaced the stats banner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49440" y="1600200"/>
            <a:ext cx="470916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269480" y="18745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STORY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269480" y="219456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SHAKE &amp; COOK SINCE 2014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269480" y="2834640"/>
            <a:ext cx="4114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grew out of Tabasco Bar next door — same edge, more warmth, and a kitchen finally worth showing up for. Regulars don't come for one or the other — they come because the team knows their name and their order.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269480" y="4389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37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4.6★ · 1,300+ reviews  —  Est. 2014  —  Kirova St. 10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269480" y="4892040"/>
            <a:ext cx="3840480" cy="868680"/>
          </a:xfrm>
          <a:prstGeom prst="rect">
            <a:avLst/>
          </a:prstGeom>
          <a:solidFill>
            <a:srgbClr val="FFF689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452360" y="498348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"Every time I fall into a slump after studying, I come here and remember why life is worth living." — Google review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35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INTERACTION RULES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CLOSED VOCABULARY FOR "TAP ME"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loud, playful brand risks every piece of text looking clickable. The fix: a strict, closed vocabulary — two styles at first; the menu door was admitted later as the third, under the same discipline.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20440" cy="219456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37744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3774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273552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Golos SemiBold 16, primary actions only.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51960" y="2103120"/>
            <a:ext cx="3520440" cy="219456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26280" y="242316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201E22"/>
          </a:solidFill>
          <a:ln w="15875">
            <a:solidFill>
              <a:srgbClr val="C1DB3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26280" y="242316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1D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menu →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26280" y="297180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6280" y="3273552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Golos Medium 13, icon/arrow, secondary actions.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955280" y="2103120"/>
            <a:ext cx="3520440" cy="219456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0" y="23317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0" y="2606040"/>
            <a:ext cx="2971800" cy="365760"/>
          </a:xfrm>
          <a:prstGeom prst="rect">
            <a:avLst/>
          </a:prstGeom>
          <a:solidFill>
            <a:srgbClr val="0B0A0C"/>
          </a:solidFill>
          <a:ln w="9525">
            <a:solidFill>
              <a:srgbClr val="9E9789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0" y="30632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29600" y="340156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LABEL / HINT — NEW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0" y="365760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group added this pass so Caption stays scoped to captions and fine print.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46177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Non-interactive text never borrows these styles. Expressive copy ("Pick your heat!") stays in Molot. And in mixed rows, Chili is reserved for the action — heat means "act," content chips stay lime.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5257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note: Chili on Peppercorn measures ~3.4:1 — fine for large Molot headlines, but fails small text. Small accent text on dark surfaces uses Paprika or Lemon instead.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35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SYSTEMIZED FURTHER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GRID AND AN IMAGE SYSTEM, NOT PER-PAGE GUESSING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480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1120px content width, 12 columns, 24px gutter. Body copy caps at 6 of 12 columns on desktop — even in full-bleed sections — set by column count, not word count, so it stays predictable regardless of what copy lands in it.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Leftover columns always get a job: short teasers pair with a stat or pull-quote; long-form splits into two reading columns instead of one narrow column plus dead space.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737360"/>
            <a:ext cx="5349240" cy="4480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4652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RATIOS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46520" y="23774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3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3:2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78040" y="2395728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for art-directed photography — menu items, drinks, hero, events.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46520" y="294436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3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78040" y="2962656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Portrait counterpart; fixed across breakpoints, not stretched on mobile.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46520" y="3511296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3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78040" y="3529584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Square, general use.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46520" y="4078224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3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21:9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78040" y="409651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Cinematic full-bleed banners — wide environment shots only.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46520" y="464515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3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4:5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78040" y="46634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News/social cards — matches Instagram's own crop norm.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46520" y="534924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i="1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Excluded: 16:9 and 9:16. Added later by job: 4:1 divider bands for dense pages — the system grows when a content job appears, never per breakpoint.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35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PLATFORM &amp; CONTENT OPS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CONSTRAINT NO MOODBOARD WOULD SHOW YOU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WEBFLOW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Webflow is a US company bound by OFAC sanctions: it can't serve Russian accounts or payments, and Webflow-hosted sites don't reliably reach visitors physically in Russia. For a Yaroslavl gastrobar, that's not a technicality — it's the site not loading for its own guests.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WordPress + a fully custom hand-coded theme + Advanced Custom Fields. No foreign vendor in the loop, hostable anywhere including Russia, and ACF scopes day-to-day editing (hours, menu items, news posts) to the team without exposing the layout to breakage.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OPS: LAUNCH SMALL, PHASE UP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News page is deferred at launch entirely — no dead nav items, zero API dependencies, and the team learns WordPress on low-stakes content first. Phase 2 adds manual News cards: pasting posts the team already writes for VK/Instagram costs seconds.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9776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adds importers as drafts a human approves: VK’s non-sanctioned API pulled directly, Instagram via a small proxy outside Russia that self-hosts images — so IG content reaches Russian guests too. Never a live Instagram embed.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35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 IS CLOSED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 PHP, THIN ON PURPOSE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classic theme, not a block theme — the team edits content, never layout. PHP is a data layer: templates hold “a loop, an if, and holes”; everything carrying the design lives in CSS and JS. The daypart engine is client-side by necessity — a page cache would serve the wrong hour. Vite compiles tokens straight from design.md.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PLUGINS, IN WRITING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ACF, Polylang, a page cache, backups. Anything proposed later must displace one, in writing. No page builder, nothing that emits front-end markup or CSS. The 2016 failure mode wasn’t one bad plugin — it was the absence of a rule about adding them.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REJECTIONS RECORDED, NOT REOPENED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Headless: Next outright (React plus a US host for a site of text and photographs). Astro was the credible one — but two systems to maintain, rebuild-gated content edits, and handover narrowing to the author permanently. The Astro appetite goes to the case-study site instead.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9776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Tilda: rejected on the design, not the politics — no token layer for day/night, no content model for tagged dishes, and the three tappable grammars stop being structurally enforceable, block by block, until they drift.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35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· SELF-AUDIT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RECOMPUTE YOUR OWN CLAIMS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— NOW ON THE FIX LIST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interaction rule was false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“Exactly three tappable styles” forbade five things already designed — tiles, stamps, the word cloud. Fix: a closed, sanctioned exception list. The value was never the number; it’s the list being closed.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 colour fails AA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Olive prices on Parchment measure 3.68:1 in exactly the small-text menu rows they were assigned to. A token decision — Deep Chili or a darker green step — queued before any CSS variable is written.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“Colour-blind safe” wasn’t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protanopia, Chili and Olive — day’s two accents, adjacent on every menu row — collapse from ΔE 78 to 10. The claim narrows to what’s testable: no colour carries meaning alone.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4652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DISCIPLINE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only, nothing changed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files cross-checked; where documents disagree, both sides are named and the current one identified. The calls stay the author’s — the audit changed no doc silently.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4652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re-derived, not trusted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ratios and colour-vision claims recomputed from the hex values per the project’s own standing instruction — the tables had drifted from the math.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4652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 order, not a report card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A-items would ship bugs or wrong guest-facing facts; B-items block specific build phases; C is hygiene — and one section lists what came back clean, so the rest can still be trusted.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35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BUILD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 BECOMES CODE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CLASSIC THEME, RUNNING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classic WordPress theme runs locally with Vite compiling tokens straight from design.md. The day/night mechanic, the tile-grid hero, the side-nav menu hero and its doors, nine food sections plus the bar menu, and the rugged-edge ticket all exist as working template parts.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 AS THE INTERFACE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theme is built one chat per section, steered by files rather than chat history: a living project report whose first line is “read this before writing any code,” agent briefs, and subagents. Git pushes go through Claude Code — every session starts from current truth, not archaeology.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AUDIT PAID OFF FIRST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A-list ran ahead of the first line of CSS: the interaction-rule exception list and the token decisions landed before variables.css was written, not after bugs shipped.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9776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captures each component’s states and dimensions as it’s built, so any future chat — or any freelancer in Yaroslavl — inherits a working spec, exactly the handover the stack decision was made for.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35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STYLE GUIDE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SHIPS AS A PRODUCT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FILE, TWO LANGUAGES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the bar’s domain: a single-file bilingual guide — EN and RU as layers with a language switch — an app-style mobile shell under 768px, and A4 PDFs (EN 28pp, RU 31pp) from a scripted render pipeline. An in-page edit mode commits text fixes straight to the repo from the live page.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RULE GETS MISSED, DRAW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logo clear-space rule existed in text and a teammate missed it — so it became a drawn four-card figure, constructed at load time from the artwork itself, exact even if a logo is swapped. Documentation failures are design problems, not reader problems.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GUIDE OBEYS ITS OWN SYSTEM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margin, padding and gap snapped to a 4px grid by a checker script — 340 values. Where the guide and design.md disagree, the guide is the one that’s wrong; open questions live in the working docs, never in the audience-facing artefact.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9776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 was amended in daylight along the way: social icons are the official full-colour marks — they’re contacts, not supporting icons. The earlier single-colour rule was a misreading of the source, corrected everywhere in one pass.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35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LIVING CONTENT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THAT OUTLIVE LAUNCH DAY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“HOW IT FEELS” — THE PIPELINE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API, again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word-cloud runs on a periodic tally plus curated quotes — the same call as the News feed, for the same reasons. Zero platform dependencies at launch.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admission rule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quote wheel caps at 12 cards; each update admits up to three — only quotes that add a word or beat a sitting card — and every admission retires the oldest.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auditable ledger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card carries platform, date and link; the ledger records added and retired dates, so the wheel’s history can be checked years from now.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4652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PEPPER STORY — FOUR STUDIES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deliberately wrong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studies included a rule-breaking candidate on purpose — a giant live-ticking Molot numeral in a Lemon band — per the standing agent brief: offer the option that breaks a rule, argue whether it earns the exception.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4652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heat line won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timeline joins the outline → fill grammar the site already speaks — heat travels the line as the story advances. A new section arrived without a new vocabulary.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4652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Studies, then build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desktop studies on one canvas, one pick, built the same day. Divergence stays cheap when the closed system does the converging.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35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CONTENT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EDITS WHAT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TIERS, ONE 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(menu, hours, quotes) live in the WordPress admin; prose (the story, hero leads) in ACF fields with the block editor off; structure — section order, ratios, the daypart engine — is code, never editable. Sorting by content type dissolved the “do I need a Webflow-like editor?” worry.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EDITOR IS A LAYER, NOT A STORE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bespoke keyed store was dropped: ACF is the store, and an in-place editor — a port of the style guide’s — is a later layer over the same fields, built only if the admin form annoys the team. The 239 hardcoded dish rows are already structured data; migration is a script, not a rewrite.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TEMPTATIONS, SCORED IN ADVANCE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page-builder rebuild of About runs as a side experiment in a separate install — judged against criteria written down before it started. Testing a temptation properly beats resisting it forever.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9776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lean “one document, two languages” — one page per template, PHP rendering one language per request; Polylang may shrink to routing. The decision is pinned to a real extraction, not made in the abstract.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35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RESPONSIVE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BAND BETWEEN PHONE AND DESKTOP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THAT BEND, ON RECORD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Tablets get the phone bento — by height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768–991 band the desktop row read as thumbnails. The phone bento returns, guarded by min-height 1000px — a narrowed desktop window keeps the row. In practice, the band is portrait tablets.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gutter ramps; the grid holds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gutter became one fluid clamp; its off-grid values got a written carve-out from the 4px rule — nothing aligns against a page margin. A rounding variant was built and rejected: one 111px cliff traded for fourteen 8px sawteeth.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recurring faults, catalogued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pass closed by writing down the five responsive faults that kept recurring — the testing-log move again: record the pattern, stop re-finding it.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4652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WORDS GET THE SAME RIGOR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reviews state their evidence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Menu and Visit copy passes open by declaring what was and wasn’t inspected — “no live Figma inspection is claimed.” The audit’s honesty rules, applied to copywriting.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4652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they catch real bugs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found a shipped row reading “Horseraddish” with the literal word “description” as its copy — corrected in the clean files and flagged for the implementation pass, not hot-fixed.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4652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 layer begins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Russian drafts run as register twins, never translations — «Для смелых — Ярославль с огоньком» carries the wink of “For the brave — a taste of Yaroslavl’s hot side,” not its words.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35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STANDS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BUILD. THE SYSTEM IS SHIPPING.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73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17420"/>
            <a:ext cx="128016" cy="128016"/>
          </a:xfrm>
          <a:prstGeom prst="ellipse">
            <a:avLst/>
          </a:prstGeom>
          <a:solidFill>
            <a:srgbClr val="737D3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202996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 validated; palette pruned (Dark Olive out)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884932"/>
            <a:ext cx="128016" cy="128016"/>
          </a:xfrm>
          <a:prstGeom prst="ellipse">
            <a:avLst/>
          </a:prstGeom>
          <a:solidFill>
            <a:srgbClr val="737D3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269748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 guide live: bilingual HTML, mobile shell, PDFs, edit mode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552444"/>
            <a:ext cx="128016" cy="128016"/>
          </a:xfrm>
          <a:prstGeom prst="ellipse">
            <a:avLst/>
          </a:prstGeom>
          <a:solidFill>
            <a:srgbClr val="737D3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41248" y="33649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pages in both states: phone, tablet band, desktop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4219956"/>
            <a:ext cx="128016" cy="128016"/>
          </a:xfrm>
          <a:prstGeom prst="ellipse">
            <a:avLst/>
          </a:prstGeom>
          <a:solidFill>
            <a:srgbClr val="737D3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41248" y="403250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+ home heroes both validated by usability testing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887468"/>
            <a:ext cx="128016" cy="128016"/>
          </a:xfrm>
          <a:prstGeom prst="ellipse">
            <a:avLst/>
          </a:prstGeom>
          <a:solidFill>
            <a:srgbClr val="737D3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470001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model settled: three tiers, ACF as the store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5554980"/>
            <a:ext cx="128016" cy="128016"/>
          </a:xfrm>
          <a:prstGeom prst="ellipse">
            <a:avLst/>
          </a:prstGeom>
          <a:solidFill>
            <a:srgbClr val="737D3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41248" y="536752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built through About &amp; Visit; responsive pass done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09360" y="1691640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309360" y="2240280"/>
            <a:ext cx="128016" cy="128016"/>
          </a:xfrm>
          <a:prstGeom prst="ellipse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601968" y="202996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ACF extraction; menu migration script; the RU layer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309360" y="3017520"/>
            <a:ext cx="128016" cy="128016"/>
          </a:xfrm>
          <a:prstGeom prst="ellipse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601968" y="280720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Day/Night variables + component handoff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09360" y="3794760"/>
            <a:ext cx="128016" cy="128016"/>
          </a:xfrm>
          <a:prstGeom prst="ellipse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601968" y="358444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Photo-library template; team shoot; founder quote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4572000"/>
            <a:ext cx="128016" cy="128016"/>
          </a:xfrm>
          <a:prstGeom prst="ellipse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601968" y="436168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Figma guide pages; queued tests; launch phase one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35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PROJECT TAUGHT 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417320"/>
          </a:xfrm>
          <a:prstGeom prst="rect">
            <a:avLst/>
          </a:prstGeom>
          <a:solidFill>
            <a:srgbClr val="F3E9D2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837944"/>
            <a:ext cx="4837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SYSTEMIZING BEATS REDESIGNING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04672" y="2203704"/>
            <a:ext cx="483717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move was often restraint — keeping a logo guests already loved and building rules around it, instead of replacing it to prove originality.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6263640" y="1691640"/>
            <a:ext cx="5349240" cy="1417320"/>
          </a:xfrm>
          <a:prstGeom prst="rect">
            <a:avLst/>
          </a:prstGeom>
          <a:solidFill>
            <a:srgbClr val="F3E9D2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9672" y="1837944"/>
            <a:ext cx="4837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FOUND THE IDEA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519672" y="2203704"/>
            <a:ext cx="483717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"no-clock" hospitality principle looked like a limitation. It's actually what forced the spice-slider metaphor instead of a literal schedule widget.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548640" y="3246120"/>
            <a:ext cx="5349240" cy="1417320"/>
          </a:xfrm>
          <a:prstGeom prst="rect">
            <a:avLst/>
          </a:prstGeom>
          <a:solidFill>
            <a:srgbClr val="F3E9D2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04672" y="3392424"/>
            <a:ext cx="4837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BEST CALL ISN'T ALWAYS A DESIGN CALL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4672" y="3758184"/>
            <a:ext cx="483717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Ruling out Webflow had nothing to do with aesthetics — OFAC sanctions would have made the site invisible to its own market. Good UX sometimes means researching infrastructure, not layouts.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263640" y="3246120"/>
            <a:ext cx="5349240" cy="1417320"/>
          </a:xfrm>
          <a:prstGeom prst="rect">
            <a:avLst/>
          </a:prstGeom>
          <a:solidFill>
            <a:srgbClr val="F3E9D2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519672" y="3392424"/>
            <a:ext cx="4837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LOUD COLOR NEEDS MORE RULES, NOT FEWER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19672" y="3758184"/>
            <a:ext cx="483717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playful, saturated brand doesn't get to skip accessibility — it needs a stricter generative rule (three hue lines) to stay usable at all.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5346700" cy="14224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02640" y="4946904"/>
            <a:ext cx="48387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ACCELERATES, JUDGMENT CURATES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02640" y="5312664"/>
            <a:ext cx="4838700" cy="863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working slider prototypes in one afternoon — but half quietly broke a rule the project had earned. The skill wasn't prompting; it was knowing which three to discard.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35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63640" y="4800600"/>
            <a:ext cx="5346700" cy="14224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17640" y="4946904"/>
            <a:ext cx="48387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IS A DESIGN REVIEW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17640" y="5312664"/>
            <a:ext cx="4838700" cy="863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it myself surfaced limitations no mockup shows — caching, touch input, real pixel sizes — and decisions I was attached to had to be reconsidered. What survived the constraints is stronger for it.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old-gracious-fermi/mnt/outputs/sweet-case-study/assets/logo-symbo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371600"/>
            <a:ext cx="82296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74320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0" y="36576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 · Etual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0" y="4114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etualechka@gmail.com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Sweet Pepper — UX &amp; Brand Case Study</dc:title>
  <dc:subject>PptxGenJS Presentation</dc:subject>
  <dc:creator>Etual</dc:creator>
  <cp:lastModifiedBy>Etual</cp:lastModifiedBy>
  <cp:revision>1</cp:revision>
  <dcterms:created xsi:type="dcterms:W3CDTF">2026-07-05T03:10:46Z</dcterms:created>
  <dcterms:modified xsi:type="dcterms:W3CDTF">2026-07-05T03:10:46Z</dcterms:modified>
</cp:coreProperties>
</file>